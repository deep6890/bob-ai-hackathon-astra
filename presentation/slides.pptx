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7ec1a5876fed49bb" /><Relationship Type="http://schemas.openxmlformats.org/package/2006/relationships/metadata/core-properties" Target="/docProps/core.xml" Id="Rf1050e39956a4660" /><Relationship Type="http://schemas.openxmlformats.org/officeDocument/2006/relationships/extended-properties" Target="/docProps/app.xml" Id="Ra3a3cd0746ef4301" /><Relationship Type="http://schemas.openxmlformats.org/officeDocument/2006/relationships/custom-properties" Target="/docProps/custom.xml" Id="Rf8b69e65e8fd4814"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87abac177be24b12"/>
  </p:notesMasterIdLst>
  <p:sldIdLst>
    <p:sldId id="256" r:id="R059568828aa7431e"/>
    <p:sldId id="257" r:id="R3c86fe2b57374cae"/>
    <p:sldId id="258" r:id="R22116044efd441b8"/>
    <p:sldId id="259" r:id="R0b9db135e2d044a5"/>
    <p:sldId id="260" r:id="Re448debc5166486a"/>
    <p:sldId id="261" r:id="R04fd6c7bcc274045"/>
    <p:sldId id="262" r:id="Rfbff91b3b0674baf"/>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059568828aa7431e" /><Relationship Type="http://schemas.openxmlformats.org/officeDocument/2006/relationships/notesMaster" Target="/ppt/notesMasters/notesMaster1.xml" Id="R87abac177be24b12" /><Relationship Type="http://schemas.openxmlformats.org/officeDocument/2006/relationships/slide" Target="/ppt/slides/slide2.xml" Id="R3c86fe2b57374cae" /><Relationship Type="http://schemas.openxmlformats.org/officeDocument/2006/relationships/slide" Target="/ppt/slides/slide3.xml" Id="R22116044efd441b8" /><Relationship Type="http://schemas.openxmlformats.org/officeDocument/2006/relationships/slide" Target="/ppt/slides/slide4.xml" Id="R0b9db135e2d044a5" /><Relationship Type="http://schemas.openxmlformats.org/officeDocument/2006/relationships/slide" Target="/ppt/slides/slide5.xml" Id="Re448debc5166486a" /><Relationship Type="http://schemas.openxmlformats.org/officeDocument/2006/relationships/slide" Target="/ppt/slides/slide6.xml" Id="R04fd6c7bcc274045" /><Relationship Type="http://schemas.openxmlformats.org/officeDocument/2006/relationships/slide" Target="/ppt/slides/slide7.xml" Id="Rfbff91b3b0674b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ac732c0e22d946d1"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f9398d744a7a4995" /><Relationship Type="http://schemas.openxmlformats.org/officeDocument/2006/relationships/slide" Target="/ppt/slides/slide1.xml" Id="R36e7981ab1114547"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d0f44b128d51420f" /><Relationship Type="http://schemas.openxmlformats.org/officeDocument/2006/relationships/slide" Target="/ppt/slides/slide2.xml" Id="R0631da21395f4b26"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0e29b7d61d75407e" /><Relationship Type="http://schemas.openxmlformats.org/officeDocument/2006/relationships/slide" Target="/ppt/slides/slide3.xml" Id="R5c55a2a4f5f64764"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5b3e8e35caeb453a" /><Relationship Type="http://schemas.openxmlformats.org/officeDocument/2006/relationships/slide" Target="/ppt/slides/slide4.xml" Id="Rdf4973c8654742a2"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bcc996678b6542e7" /><Relationship Type="http://schemas.openxmlformats.org/officeDocument/2006/relationships/slide" Target="/ppt/slides/slide5.xml" Id="Rfd29b8cc20ec4090"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44fda3f96fbf420a" /><Relationship Type="http://schemas.openxmlformats.org/officeDocument/2006/relationships/slide" Target="/ppt/slides/slide6.xml" Id="R20b4e5b3c04b43c8"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41bfa405862a46a1" /><Relationship Type="http://schemas.openxmlformats.org/officeDocument/2006/relationships/slide" Target="/ppt/slides/slide7.xml" Id="R6aafba843ad349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Welcome to AeroReady — a Mission Readiness and Predictive Maintenance platform built by Team Astra for the IBM Bob Hackathon, AI Track. We predict turbofan engine RUL with a validated LSTM model, classify 14 sensors with Isolation Forest anomaly detection, compute go/no-go mission readiness decisions, and surface all of it through a conversational Copilot and IBM Bob MCP tools.</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Unplanned aircraft-on-ground events are one of the most costly problems in aviation maintenance. Operators today rely on fixed schedules that are either too conservative (wasting maintenance resources) or too relaxed (missing real degradation). The raw sensor data exists on every flight — it just isn't being used to answer the critical operational question: is this specific engine ready for this specific mission?</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AeroReady is a 5-stage pipeline. The operator uploads a CSV; the LSTM predicts how many cycles remain; the Isolation Forest classifies each of the 14 sensors; the mission readiness engine computes whether there's enough margin for the planned mission; and the Copilot answers natural-language questions grounded in the actual database values — no generative AI, no hallucination risk, no API key needed.</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technical stack is a fully integrated Python + JavaScript system. The ML layer uses PyTorch for the LSTM and scikit-learn for the Isolation Forest — both pre-trained on NASA C-MAPSS data. The Flask API sits in the middle with a clean layered architecture. The React frontend shows live data from the DB. And the FastMCP server gives IBM Bob read access to the entire system through five structured tools.</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Mission Readiness Copilot is the centrepiece of the Bob integration. It accepts any natural-language question about an engine and routes it to one of 7 response handlers. Each handler builds its answer from live database values — RUL, sensor states, margins, maintenance priority — and returns both the answer string and a 16-field evidence dictionary so every claim can be verified. No generative AI is involved — this means no hallucination, no API costs, and full offline operation.</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IBM Bob integration is implemented as a FastMCP server in src/mcp_server/server.py. The server is registered in .bob/mcp.json so Bob discovers it automatically. All 5 tools are thin HTTP wrappers over the existing Flask API — no logic is duplicated. Bob can interrogate the entire fleet, check individual engine readiness, inspect sensor states, and ask the Copilot natural-language questions — all from inside the Bob IDE.</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Summary: Team Astra built AeroReady — a complete end-to-end predictive maintenance and mission readiness system. The LSTM achieves MAE 10.05 cycles and R² 0.897 on NASA C-MAPSS. All 51 tests pass. The system is fully integrated with IBM Bob through 5 FastMCP tools. The next steps are real-world extensions: multi-condition training data, independent per-sensor anomaly models, authentication, and cloud deployment.</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5bfef73463483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c81535ecf74ce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0ca920fc4b249d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f1d830536574f8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8704553eecc464d"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ad09f8d44b764b15"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37b5403981324f3e" /><Relationship Type="http://schemas.openxmlformats.org/officeDocument/2006/relationships/notesSlide" Target="/ppt/notesSlides/notesSlide1.xml" Id="R90ba63a68a7a4b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45b26d4eeaf409f" /><Relationship Type="http://schemas.openxmlformats.org/officeDocument/2006/relationships/notesSlide" Target="/ppt/notesSlides/notesSlide2.xml" Id="Rb7b18ccf80a44a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cea156dc20f476d" /><Relationship Type="http://schemas.openxmlformats.org/officeDocument/2006/relationships/notesSlide" Target="/ppt/notesSlides/notesSlide3.xml" Id="R06e055603a3e40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4401ff741464a32" /><Relationship Type="http://schemas.openxmlformats.org/officeDocument/2006/relationships/notesSlide" Target="/ppt/notesSlides/notesSlide4.xml" Id="R5d313ea3fc654b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e60e6790c2a4625" /><Relationship Type="http://schemas.openxmlformats.org/officeDocument/2006/relationships/notesSlide" Target="/ppt/notesSlides/notesSlide5.xml" Id="Re021d8cfc87b44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8ad93ff5fc84dc9" /><Relationship Type="http://schemas.openxmlformats.org/officeDocument/2006/relationships/notesSlide" Target="/ppt/notesSlides/notesSlide6.xml" Id="R3597701b43d34e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5db835755f14262" /><Relationship Type="http://schemas.openxmlformats.org/officeDocument/2006/relationships/notesSlide" Target="/ppt/notesSlides/notesSlide7.xml" Id="Rb8d38e8556694261" /></Relationships>
</file>

<file path=ppt/slides/slide1.xml><?xml version="1.0" encoding="utf-8"?>
<p:sld xmlns:p="http://schemas.openxmlformats.org/presentationml/2006/main">
  <p:cSld>
    <p:bg>
      <p:bgPr>
        <a:solidFill xmlns:a="http://schemas.openxmlformats.org/drawingml/2006/main">
          <a:srgbClr val="0A0E1A"/>
        </a:solidFill>
      </p:bgPr>
    </p:bg>
    <p:spTree>
      <p:nvGrpSpPr>
        <p:cNvPr id="1" name=""/>
        <p:cNvGrpSpPr/>
        <p:nvPr/>
      </p:nvGrpSpPr>
      <p:grpSpPr/>
      <p:sp>
        <p:nvSpPr>
          <p:cNvPr id="100000" name="Tag"/>
          <p:cNvSpPr txBox="1"/>
          <p:nvPr/>
        </p:nvSpPr>
        <p:spPr>
          <a:xfrm xmlns:a="http://schemas.openxmlformats.org/drawingml/2006/main">
            <a:off x="720000" y="540000"/>
            <a:ext cx="1044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200" b="0">
                <a:solidFill>
                  <a:srgbClr val="86FF7B"/>
                </a:solidFill>
              </a:rPr>
              <a:t>IBM BOB HACKATHON  ·  TEAM ASTRA  ·  AI TRACK</a:t>
            </a:r>
          </a:p>
        </p:txBody>
      </p:sp>
      <p:sp>
        <p:nvSpPr>
          <p:cNvPr id="100001" name="Title"/>
          <p:cNvSpPr txBox="1"/>
          <p:nvPr/>
        </p:nvSpPr>
        <p:spPr>
          <a:xfrm xmlns:a="http://schemas.openxmlformats.org/drawingml/2006/main">
            <a:off x="720000" y="1260000"/>
            <a:ext cx="10440000" cy="12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5400" b="1">
                <a:solidFill>
                  <a:srgbClr val="FFFFFF"/>
                </a:solidFill>
              </a:rPr>
              <a:t>AeroReady</a:t>
            </a:r>
          </a:p>
        </p:txBody>
      </p:sp>
      <p:sp>
        <p:nvSpPr>
          <p:cNvPr id="100002" name="Subtitle"/>
          <p:cNvSpPr txBox="1"/>
          <p:nvPr/>
        </p:nvSpPr>
        <p:spPr>
          <a:xfrm xmlns:a="http://schemas.openxmlformats.org/drawingml/2006/main">
            <a:off x="720000" y="2592000"/>
            <a:ext cx="1044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2400" b="0">
                <a:solidFill>
                  <a:srgbClr val="A0AEC0"/>
                </a:solidFill>
              </a:rPr>
              <a:t>Mission Readiness &amp; Predictive Maintenance Platform</a:t>
            </a:r>
          </a:p>
        </p:txBody>
      </p:sp>
      <p:sp>
        <p:nvSpPr>
          <p:cNvPr id="100003" name="Metrics"/>
          <p:cNvSpPr txBox="1"/>
          <p:nvPr/>
        </p:nvSpPr>
        <p:spPr>
          <a:xfrm xmlns:a="http://schemas.openxmlformats.org/drawingml/2006/main">
            <a:off x="720000" y="3528000"/>
            <a:ext cx="1044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400" b="0">
                <a:solidFill>
                  <a:srgbClr val="86FF7B"/>
                </a:solidFill>
              </a:rPr>
              <a:t>LSTM MAE 10.05 cycles  ·  R² 0.897  ·  14 sensors monitored  ·  5 IBM Bob MCP tools</a:t>
            </a:r>
          </a:p>
        </p:txBody>
      </p:sp>
    </p:spTree>
  </p:cSld>
</p:sld>
</file>

<file path=ppt/slides/slide2.xml><?xml version="1.0" encoding="utf-8"?>
<p:sld xmlns:p="http://schemas.openxmlformats.org/presentationml/2006/main">
  <p:cSld>
    <p:bg>
      <p:bgPr>
        <a:solidFill xmlns:a="http://schemas.openxmlformats.org/drawingml/2006/main">
          <a:srgbClr val="0A0E1A"/>
        </a:solidFill>
      </p:bgPr>
    </p:bg>
    <p:spTree>
      <p:nvGrpSpPr>
        <p:cNvPr id="1" name=""/>
        <p:cNvGrpSpPr/>
        <p:nvPr/>
      </p:nvGrpSpPr>
      <p:grpSpPr/>
      <p:sp>
        <p:nvSpPr>
          <p:cNvPr id="100004" name="SlideNum"/>
          <p:cNvSpPr txBox="1"/>
          <p:nvPr/>
        </p:nvSpPr>
        <p:spPr>
          <a:xfrm xmlns:a="http://schemas.openxmlformats.org/drawingml/2006/main">
            <a:off x="720000" y="432000"/>
            <a:ext cx="1044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100" b="1">
                <a:solidFill>
                  <a:srgbClr val="86FF7B"/>
                </a:solidFill>
              </a:rPr>
              <a:t>01 / THE PROBLEM</a:t>
            </a:r>
          </a:p>
        </p:txBody>
      </p:sp>
      <p:sp>
        <p:nvSpPr>
          <p:cNvPr id="100005" name="Heading"/>
          <p:cNvSpPr txBox="1"/>
          <p:nvPr/>
        </p:nvSpPr>
        <p:spPr>
          <a:xfrm xmlns:a="http://schemas.openxmlformats.org/drawingml/2006/main">
            <a:off x="720000" y="864000"/>
            <a:ext cx="1044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3200" b="1">
                <a:solidFill>
                  <a:srgbClr val="FFFFFF"/>
                </a:solidFill>
              </a:rPr>
              <a:t>Aviation maintenance is expensive and reactive</a:t>
            </a:r>
          </a:p>
        </p:txBody>
      </p:sp>
      <p:sp>
        <p:nvSpPr>
          <p:cNvPr id="100006" name="Pain1"/>
          <p:cNvSpPr txBox="1"/>
          <p:nvPr/>
        </p:nvSpPr>
        <p:spPr>
          <a:xfrm xmlns:a="http://schemas.openxmlformats.org/drawingml/2006/main">
            <a:off x="720000" y="1872000"/>
            <a:ext cx="10440000" cy="39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800" b="0">
                <a:solidFill>
                  <a:srgbClr val="E2E8F0"/>
                </a:solidFill>
              </a:rPr>
              <a:t>💸  AOG events cost fleet operators $150K–$500K per day in lost revenue</a:t>
            </a:r>
          </a:p>
        </p:txBody>
      </p:sp>
      <p:sp>
        <p:nvSpPr>
          <p:cNvPr id="100007" name="Pain2"/>
          <p:cNvSpPr txBox="1"/>
          <p:nvPr/>
        </p:nvSpPr>
        <p:spPr>
          <a:xfrm xmlns:a="http://schemas.openxmlformats.org/drawingml/2006/main">
            <a:off x="720000" y="2340000"/>
            <a:ext cx="10440000" cy="39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800" b="0">
                <a:solidFill>
                  <a:srgbClr val="E2E8F0"/>
                </a:solidFill>
              </a:rPr>
              <a:t>📅  Fixed time-based maintenance schedules waste resources or miss genuine degradation</a:t>
            </a:r>
          </a:p>
        </p:txBody>
      </p:sp>
      <p:sp>
        <p:nvSpPr>
          <p:cNvPr id="100008" name="Pain3"/>
          <p:cNvSpPr txBox="1"/>
          <p:nvPr/>
        </p:nvSpPr>
        <p:spPr>
          <a:xfrm xmlns:a="http://schemas.openxmlformats.org/drawingml/2006/main">
            <a:off x="720000" y="2808000"/>
            <a:ext cx="10440000" cy="39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800" b="0">
                <a:solidFill>
                  <a:srgbClr val="E2E8F0"/>
                </a:solidFill>
              </a:rPr>
              <a:t>❓  No fast, data-driven answer to "Is this engine safe for today's mission?"</a:t>
            </a:r>
          </a:p>
        </p:txBody>
      </p:sp>
      <p:sp>
        <p:nvSpPr>
          <p:cNvPr id="100009" name="Pain4"/>
          <p:cNvSpPr txBox="1"/>
          <p:nvPr/>
        </p:nvSpPr>
        <p:spPr>
          <a:xfrm xmlns:a="http://schemas.openxmlformats.org/drawingml/2006/main">
            <a:off x="720000" y="3276000"/>
            <a:ext cx="10440000" cy="39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800" b="0">
                <a:solidFill>
                  <a:srgbClr val="E2E8F0"/>
                </a:solidFill>
              </a:rPr>
              <a:t>🔍  Sensor data exists but is not interpreted — buried in raw CSV files</a:t>
            </a:r>
          </a:p>
        </p:txBody>
      </p:sp>
      <p:sp>
        <p:nvSpPr>
          <p:cNvPr id="100010" name="Quote"/>
          <p:cNvSpPr txBox="1"/>
          <p:nvPr/>
        </p:nvSpPr>
        <p:spPr>
          <a:xfrm xmlns:a="http://schemas.openxmlformats.org/drawingml/2006/main">
            <a:off x="720000" y="3960000"/>
            <a:ext cx="1044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600" b="0">
                <a:solidFill>
                  <a:srgbClr val="F2B84B"/>
                </a:solidFill>
              </a:rPr>
              <a:t>The question is not whether the engine will fail — it's when, and whether that's before or after the mission.</a:t>
            </a:r>
          </a:p>
        </p:txBody>
      </p:sp>
    </p:spTree>
  </p:cSld>
</p:sld>
</file>

<file path=ppt/slides/slide3.xml><?xml version="1.0" encoding="utf-8"?>
<p:sld xmlns:p="http://schemas.openxmlformats.org/presentationml/2006/main">
  <p:cSld>
    <p:bg>
      <p:bgPr>
        <a:solidFill xmlns:a="http://schemas.openxmlformats.org/drawingml/2006/main">
          <a:srgbClr val="0A0E1A"/>
        </a:solidFill>
      </p:bgPr>
    </p:bg>
    <p:spTree>
      <p:nvGrpSpPr>
        <p:cNvPr id="1" name=""/>
        <p:cNvGrpSpPr/>
        <p:nvPr/>
      </p:nvGrpSpPr>
      <p:grpSpPr/>
      <p:sp>
        <p:nvSpPr>
          <p:cNvPr id="100011" name="SlideNum"/>
          <p:cNvSpPr txBox="1"/>
          <p:nvPr/>
        </p:nvSpPr>
        <p:spPr>
          <a:xfrm xmlns:a="http://schemas.openxmlformats.org/drawingml/2006/main">
            <a:off x="720000" y="432000"/>
            <a:ext cx="1044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100" b="1">
                <a:solidFill>
                  <a:srgbClr val="86FF7B"/>
                </a:solidFill>
              </a:rPr>
              <a:t>02 / THE SOLUTION</a:t>
            </a:r>
          </a:p>
        </p:txBody>
      </p:sp>
      <p:sp>
        <p:nvSpPr>
          <p:cNvPr id="100012" name="Heading"/>
          <p:cNvSpPr txBox="1"/>
          <p:nvPr/>
        </p:nvSpPr>
        <p:spPr>
          <a:xfrm xmlns:a="http://schemas.openxmlformats.org/drawingml/2006/main">
            <a:off x="720000" y="864000"/>
            <a:ext cx="1044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3200" b="1">
                <a:solidFill>
                  <a:srgbClr val="FFFFFF"/>
                </a:solidFill>
              </a:rPr>
              <a:t>AeroReady: sensor data → go/no-go decision in seconds</a:t>
            </a:r>
          </a:p>
        </p:txBody>
      </p:sp>
      <p:sp>
        <p:nvSpPr>
          <p:cNvPr id="100013" name="Step1"/>
          <p:cNvSpPr txBox="1"/>
          <p:nvPr/>
        </p:nvSpPr>
        <p:spPr>
          <a:xfrm xmlns:a="http://schemas.openxmlformats.org/drawingml/2006/main">
            <a:off x="540000" y="1872000"/>
            <a:ext cx="18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300" b="1">
                <a:solidFill>
                  <a:srgbClr val="86FF7B"/>
                </a:solidFill>
              </a:rPr>
              <a:t>1  INGEST</a:t>
            </a:r>
          </a:p>
        </p:txBody>
      </p:sp>
      <p:sp>
        <p:nvSpPr>
          <p:cNvPr id="100014" name="Step1Body"/>
          <p:cNvSpPr txBox="1"/>
          <p:nvPr/>
        </p:nvSpPr>
        <p:spPr>
          <a:xfrm xmlns:a="http://schemas.openxmlformats.org/drawingml/2006/main">
            <a:off x="540000" y="2124000"/>
            <a:ext cx="1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200" b="0">
                <a:solidFill>
                  <a:srgbClr val="A0AEC0"/>
                </a:solidFill>
              </a:rPr>
              <a:t>Upload C-MAPSS CSV → idempotent DB load</a:t>
            </a:r>
          </a:p>
        </p:txBody>
      </p:sp>
      <p:sp>
        <p:nvSpPr>
          <p:cNvPr id="100015" name="Step2"/>
          <p:cNvSpPr txBox="1"/>
          <p:nvPr/>
        </p:nvSpPr>
        <p:spPr>
          <a:xfrm xmlns:a="http://schemas.openxmlformats.org/drawingml/2006/main">
            <a:off x="2520000" y="1872000"/>
            <a:ext cx="18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300" b="1">
                <a:solidFill>
                  <a:srgbClr val="86FF7B"/>
                </a:solidFill>
              </a:rPr>
              <a:t>2  PREDICT RUL</a:t>
            </a:r>
          </a:p>
        </p:txBody>
      </p:sp>
      <p:sp>
        <p:nvSpPr>
          <p:cNvPr id="100016" name="Step2Body"/>
          <p:cNvSpPr txBox="1"/>
          <p:nvPr/>
        </p:nvSpPr>
        <p:spPr>
          <a:xfrm xmlns:a="http://schemas.openxmlformats.org/drawingml/2006/main">
            <a:off x="2520000" y="2124000"/>
            <a:ext cx="1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200" b="0">
                <a:solidFill>
                  <a:srgbClr val="A0AEC0"/>
                </a:solidFill>
              </a:rPr>
              <a:t>LSTM 30-cycle window → cycles remaining</a:t>
            </a:r>
          </a:p>
        </p:txBody>
      </p:sp>
      <p:sp>
        <p:nvSpPr>
          <p:cNvPr id="100017" name="Step3"/>
          <p:cNvSpPr txBox="1"/>
          <p:nvPr/>
        </p:nvSpPr>
        <p:spPr>
          <a:xfrm xmlns:a="http://schemas.openxmlformats.org/drawingml/2006/main">
            <a:off x="4500000" y="1872000"/>
            <a:ext cx="18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300" b="1">
                <a:solidFill>
                  <a:srgbClr val="86FF7B"/>
                </a:solidFill>
              </a:rPr>
              <a:t>3  SENSOR HEALTH</a:t>
            </a:r>
          </a:p>
        </p:txBody>
      </p:sp>
      <p:sp>
        <p:nvSpPr>
          <p:cNvPr id="100018" name="Step3Body"/>
          <p:cNvSpPr txBox="1"/>
          <p:nvPr/>
        </p:nvSpPr>
        <p:spPr>
          <a:xfrm xmlns:a="http://schemas.openxmlformats.org/drawingml/2006/main">
            <a:off x="4500000" y="2124000"/>
            <a:ext cx="1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200" b="0">
                <a:solidFill>
                  <a:srgbClr val="A0AEC0"/>
                </a:solidFill>
              </a:rPr>
              <a:t>IForest 5-cycle window → NORMAL / DEGRADING / ABNORMAL</a:t>
            </a:r>
          </a:p>
        </p:txBody>
      </p:sp>
      <p:sp>
        <p:nvSpPr>
          <p:cNvPr id="100019" name="Step4"/>
          <p:cNvSpPr txBox="1"/>
          <p:nvPr/>
        </p:nvSpPr>
        <p:spPr>
          <a:xfrm xmlns:a="http://schemas.openxmlformats.org/drawingml/2006/main">
            <a:off x="6480000" y="1872000"/>
            <a:ext cx="18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300" b="1">
                <a:solidFill>
                  <a:srgbClr val="86FF7B"/>
                </a:solidFill>
              </a:rPr>
              <a:t>4  READINESS</a:t>
            </a:r>
          </a:p>
        </p:txBody>
      </p:sp>
      <p:sp>
        <p:nvSpPr>
          <p:cNvPr id="100020" name="Step4Body"/>
          <p:cNvSpPr txBox="1"/>
          <p:nvPr/>
        </p:nvSpPr>
        <p:spPr>
          <a:xfrm xmlns:a="http://schemas.openxmlformats.org/drawingml/2006/main">
            <a:off x="6480000" y="2124000"/>
            <a:ext cx="1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200" b="0">
                <a:solidFill>
                  <a:srgbClr val="A0AEC0"/>
                </a:solidFill>
              </a:rPr>
              <a:t>margin = RUL - mission_duration → SAFE / MARGINAL / CRITICAL</a:t>
            </a:r>
          </a:p>
        </p:txBody>
      </p:sp>
      <p:sp>
        <p:nvSpPr>
          <p:cNvPr id="100021" name="Step5"/>
          <p:cNvSpPr txBox="1"/>
          <p:nvPr/>
        </p:nvSpPr>
        <p:spPr>
          <a:xfrm xmlns:a="http://schemas.openxmlformats.org/drawingml/2006/main">
            <a:off x="8460000" y="1872000"/>
            <a:ext cx="18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300" b="1">
                <a:solidFill>
                  <a:srgbClr val="86FF7B"/>
                </a:solidFill>
              </a:rPr>
              <a:t>5  COPILOT</a:t>
            </a:r>
          </a:p>
        </p:txBody>
      </p:sp>
      <p:sp>
        <p:nvSpPr>
          <p:cNvPr id="100022" name="Step5Body"/>
          <p:cNvSpPr txBox="1"/>
          <p:nvPr/>
        </p:nvSpPr>
        <p:spPr>
          <a:xfrm xmlns:a="http://schemas.openxmlformats.org/drawingml/2006/main">
            <a:off x="8460000" y="2124000"/>
            <a:ext cx="1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200" b="0">
                <a:solidFill>
                  <a:srgbClr val="A0AEC0"/>
                </a:solidFill>
              </a:rPr>
              <a:t>NL question → evidence-grounded answer from DB</a:t>
            </a:r>
          </a:p>
        </p:txBody>
      </p:sp>
      <p:sp>
        <p:nvSpPr>
          <p:cNvPr id="100023" name="Differentiator"/>
          <p:cNvSpPr txBox="1"/>
          <p:nvPr/>
        </p:nvSpPr>
        <p:spPr>
          <a:xfrm xmlns:a="http://schemas.openxmlformats.org/drawingml/2006/main">
            <a:off x="720000" y="3420000"/>
            <a:ext cx="1044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600" b="0">
                <a:solidFill>
                  <a:srgbClr val="F2B84B"/>
                </a:solidFill>
              </a:rPr>
              <a:t>Key differentiator: deterministic Copilot — every statement cites a real DB value. No LLM. No hallucination. Works offline.</a:t>
            </a:r>
          </a:p>
        </p:txBody>
      </p:sp>
    </p:spTree>
  </p:cSld>
</p:sld>
</file>

<file path=ppt/slides/slide4.xml><?xml version="1.0" encoding="utf-8"?>
<p:sld xmlns:p="http://schemas.openxmlformats.org/presentationml/2006/main">
  <p:cSld>
    <p:bg>
      <p:bgPr>
        <a:solidFill xmlns:a="http://schemas.openxmlformats.org/drawingml/2006/main">
          <a:srgbClr val="0A0E1A"/>
        </a:solidFill>
      </p:bgPr>
    </p:bg>
    <p:spTree>
      <p:nvGrpSpPr>
        <p:cNvPr id="1" name=""/>
        <p:cNvGrpSpPr/>
        <p:nvPr/>
      </p:nvGrpSpPr>
      <p:grpSpPr/>
      <p:sp>
        <p:nvSpPr>
          <p:cNvPr id="100024" name="SlideNum"/>
          <p:cNvSpPr txBox="1"/>
          <p:nvPr/>
        </p:nvSpPr>
        <p:spPr>
          <a:xfrm xmlns:a="http://schemas.openxmlformats.org/drawingml/2006/main">
            <a:off x="720000" y="432000"/>
            <a:ext cx="1044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100" b="1">
                <a:solidFill>
                  <a:srgbClr val="86FF7B"/>
                </a:solidFill>
              </a:rPr>
              <a:t>03 / TECHNICAL ARCHITECTURE</a:t>
            </a:r>
          </a:p>
        </p:txBody>
      </p:sp>
      <p:sp>
        <p:nvSpPr>
          <p:cNvPr id="100025" name="Heading"/>
          <p:cNvSpPr txBox="1"/>
          <p:nvPr/>
        </p:nvSpPr>
        <p:spPr>
          <a:xfrm xmlns:a="http://schemas.openxmlformats.org/drawingml/2006/main">
            <a:off x="720000" y="864000"/>
            <a:ext cx="1044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3000" b="1">
                <a:solidFill>
                  <a:srgbClr val="FFFFFF"/>
                </a:solidFill>
              </a:rPr>
              <a:t>Full-stack ML system — proven on NASA C-MAPSS</a:t>
            </a:r>
          </a:p>
        </p:txBody>
      </p:sp>
      <p:sp>
        <p:nvSpPr>
          <p:cNvPr id="100026" name="ColAHead"/>
          <p:cNvSpPr txBox="1"/>
          <p:nvPr/>
        </p:nvSpPr>
        <p:spPr>
          <a:xfrm xmlns:a="http://schemas.openxmlformats.org/drawingml/2006/main">
            <a:off x="720000" y="1620000"/>
            <a:ext cx="306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300" b="1">
                <a:solidFill>
                  <a:srgbClr val="86FF7B"/>
                </a:solidFill>
              </a:rPr>
              <a:t>ML PIPELINE</a:t>
            </a:r>
          </a:p>
        </p:txBody>
      </p:sp>
      <p:sp>
        <p:nvSpPr>
          <p:cNvPr id="100027" name="ColABody"/>
          <p:cNvSpPr txBox="1"/>
          <p:nvPr/>
        </p:nvSpPr>
        <p:spPr>
          <a:xfrm xmlns:a="http://schemas.openxmlformats.org/drawingml/2006/main">
            <a:off x="720000" y="1980000"/>
            <a:ext cx="3060000" cy="18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300" b="0">
                <a:solidFill>
                  <a:srgbClr val="E2E8F0"/>
                </a:solidFill>
              </a:rPr>
              <a:t>LSTM  (2-layer, hidden=64, dropout=0.2)</a:t>
            </a:r>
          </a:p>
          <a:p xmlns:a="http://schemas.openxmlformats.org/drawingml/2006/main">
            <a:pPr algn="l"/>
            <a:r>
              <a:rPr lang="en-US" sz="1300" b="0">
                <a:solidFill>
                  <a:srgbClr val="E2E8F0"/>
                </a:solidFill>
              </a:rPr>
              <a:t>Input: (batch, 30, 14)</a:t>
            </a:r>
          </a:p>
          <a:p xmlns:a="http://schemas.openxmlformats.org/drawingml/2006/main">
            <a:pPr algn="l"/>
            <a:r>
              <a:rPr lang="en-US" sz="1300" b="0">
                <a:solidFill>
                  <a:srgbClr val="E2E8F0"/>
                </a:solidFill>
              </a:rPr>
              <a:t>Output: RUL in cycles (clipped at 125)</a:t>
            </a:r>
          </a:p>
          <a:p xmlns:a="http://schemas.openxmlformats.org/drawingml/2006/main">
            <a:pPr algn="l"/>
            <a:r>
              <a:rPr lang="en-US" sz="1300" b="0">
                <a:solidFill>
                  <a:srgbClr val="E2E8F0"/>
                </a:solidFill>
              </a:rPr>
              <a:t>MAE 10.05  |  R² 0.897</a:t>
            </a:r>
          </a:p>
          <a:p xmlns:a="http://schemas.openxmlformats.org/drawingml/2006/main">
            <a:pPr algn="l"/>
            <a:r>
              <a:rPr lang="en-US" sz="1300" b="0">
                <a:solidFill>
                  <a:srgbClr val="E2E8F0"/>
                </a:solidFill>
              </a:rPr>
              <a:t>5-fold Group K-Fold validation</a:t>
            </a:r>
          </a:p>
          <a:p xmlns:a="http://schemas.openxmlformats.org/drawingml/2006/main">
            <a:pPr algn="l"/>
            <a:r>
              <a:rPr lang="en-US" sz="1300" b="0">
                <a:solidFill>
                  <a:srgbClr val="E2E8F0"/>
                </a:solidFill>
              </a:rPr>
              <a:t/>
            </a:r>
          </a:p>
          <a:p xmlns:a="http://schemas.openxmlformats.org/drawingml/2006/main">
            <a:pPr algn="l"/>
            <a:r>
              <a:rPr lang="en-US" sz="1300" b="0">
                <a:solidFill>
                  <a:srgbClr val="E2E8F0"/>
                </a:solidFill>
              </a:rPr>
              <a:t>Isolation Forest  (100 estimators, contamination=0.01)</a:t>
            </a:r>
          </a:p>
          <a:p xmlns:a="http://schemas.openxmlformats.org/drawingml/2006/main">
            <a:pPr algn="l"/>
            <a:r>
              <a:rPr lang="en-US" sz="1300" b="0">
                <a:solidFill>
                  <a:srgbClr val="E2E8F0"/>
                </a:solidFill>
              </a:rPr>
              <a:t>Trained on RUL &gt; 100 (healthy baseline)</a:t>
            </a:r>
          </a:p>
          <a:p xmlns:a="http://schemas.openxmlformats.org/drawingml/2006/main">
            <a:pPr algn="l"/>
            <a:r>
              <a:rPr lang="en-US" sz="1300" b="0">
                <a:solidFill>
                  <a:srgbClr val="E2E8F0"/>
                </a:solidFill>
              </a:rPr>
              <a:t>14 sensor channels classified per engine</a:t>
            </a:r>
          </a:p>
        </p:txBody>
      </p:sp>
      <p:sp>
        <p:nvSpPr>
          <p:cNvPr id="100028" name="ColBHead"/>
          <p:cNvSpPr txBox="1"/>
          <p:nvPr/>
        </p:nvSpPr>
        <p:spPr>
          <a:xfrm xmlns:a="http://schemas.openxmlformats.org/drawingml/2006/main">
            <a:off x="4140000" y="1620000"/>
            <a:ext cx="306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300" b="1">
                <a:solidFill>
                  <a:srgbClr val="86FF7B"/>
                </a:solidFill>
              </a:rPr>
              <a:t>BACKEND</a:t>
            </a:r>
          </a:p>
        </p:txBody>
      </p:sp>
      <p:sp>
        <p:nvSpPr>
          <p:cNvPr id="100029" name="ColBBody"/>
          <p:cNvSpPr txBox="1"/>
          <p:nvPr/>
        </p:nvSpPr>
        <p:spPr>
          <a:xfrm xmlns:a="http://schemas.openxmlformats.org/drawingml/2006/main">
            <a:off x="4140000" y="1980000"/>
            <a:ext cx="3060000" cy="18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300" b="0">
                <a:solidFill>
                  <a:srgbClr val="E2E8F0"/>
                </a:solidFill>
              </a:rPr>
              <a:t>Flask 3.0  +  Waitress (WSGI)</a:t>
            </a:r>
          </a:p>
          <a:p xmlns:a="http://schemas.openxmlformats.org/drawingml/2006/main">
            <a:pPr algn="l"/>
            <a:r>
              <a:rPr lang="en-US" sz="1300" b="0">
                <a:solidFill>
                  <a:srgbClr val="E2E8F0"/>
                </a:solidFill>
              </a:rPr>
              <a:t>SQLAlchemy ORM  +  SQLite / PostgreSQL</a:t>
            </a:r>
          </a:p>
          <a:p xmlns:a="http://schemas.openxmlformats.org/drawingml/2006/main">
            <a:pPr algn="l"/>
            <a:r>
              <a:rPr lang="en-US" sz="1300" b="0">
                <a:solidFill>
                  <a:srgbClr val="E2E8F0"/>
                </a:solidFill>
              </a:rPr>
              <a:t>6 DB models  |  13 REST API endpoints</a:t>
            </a:r>
          </a:p>
          <a:p xmlns:a="http://schemas.openxmlformats.org/drawingml/2006/main">
            <a:pPr algn="l"/>
            <a:r>
              <a:rPr lang="en-US" sz="1300" b="0">
                <a:solidFill>
                  <a:srgbClr val="E2E8F0"/>
                </a:solidFill>
              </a:rPr>
              <a:t>Layered arch: routes → controllers</a:t>
            </a:r>
          </a:p>
          <a:p xmlns:a="http://schemas.openxmlformats.org/drawingml/2006/main">
            <a:pPr algn="l"/>
            <a:r>
              <a:rPr lang="en-US" sz="1300" b="0">
                <a:solidFill>
                  <a:srgbClr val="E2E8F0"/>
                </a:solidFill>
              </a:rPr>
              <a:t>  → services → repositories → models</a:t>
            </a:r>
          </a:p>
          <a:p xmlns:a="http://schemas.openxmlformats.org/drawingml/2006/main">
            <a:pPr algn="l"/>
            <a:r>
              <a:rPr lang="en-US" sz="1300" b="0">
                <a:solidFill>
                  <a:srgbClr val="E2E8F0"/>
                </a:solidFill>
              </a:rPr>
              <a:t>Background threads for async ML inference</a:t>
            </a:r>
          </a:p>
        </p:txBody>
      </p:sp>
      <p:sp>
        <p:nvSpPr>
          <p:cNvPr id="100030" name="ColCHead"/>
          <p:cNvSpPr txBox="1"/>
          <p:nvPr/>
        </p:nvSpPr>
        <p:spPr>
          <a:xfrm xmlns:a="http://schemas.openxmlformats.org/drawingml/2006/main">
            <a:off x="7560000" y="1620000"/>
            <a:ext cx="288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300" b="1">
                <a:solidFill>
                  <a:srgbClr val="86FF7B"/>
                </a:solidFill>
              </a:rPr>
              <a:t>FRONTEND + BOB</a:t>
            </a:r>
          </a:p>
        </p:txBody>
      </p:sp>
      <p:sp>
        <p:nvSpPr>
          <p:cNvPr id="100031" name="ColCBody"/>
          <p:cNvSpPr txBox="1"/>
          <p:nvPr/>
        </p:nvSpPr>
        <p:spPr>
          <a:xfrm xmlns:a="http://schemas.openxmlformats.org/drawingml/2006/main">
            <a:off x="7560000" y="1980000"/>
            <a:ext cx="2880000" cy="18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300" b="0">
                <a:solidFill>
                  <a:srgbClr val="E2E8F0"/>
                </a:solidFill>
              </a:rPr>
              <a:t>React 18  +  Vite  +  TailwindCSS</a:t>
            </a:r>
          </a:p>
          <a:p xmlns:a="http://schemas.openxmlformats.org/drawingml/2006/main">
            <a:pPr algn="l"/>
            <a:r>
              <a:rPr lang="en-US" sz="1300" b="0">
                <a:solidFill>
                  <a:srgbClr val="E2E8F0"/>
                </a:solidFill>
              </a:rPr>
              <a:t>6 pages: Fleet, Asset Health, Alerts,</a:t>
            </a:r>
          </a:p>
          <a:p xmlns:a="http://schemas.openxmlformats.org/drawingml/2006/main">
            <a:pPr algn="l"/>
            <a:r>
              <a:rPr lang="en-US" sz="1300" b="0">
                <a:solidFill>
                  <a:srgbClr val="E2E8F0"/>
                </a:solidFill>
              </a:rPr>
              <a:t>Maintenance, Reports, AI Copilot</a:t>
            </a:r>
          </a:p>
          <a:p xmlns:a="http://schemas.openxmlformats.org/drawingml/2006/main">
            <a:pPr algn="l"/>
            <a:r>
              <a:rPr lang="en-US" sz="1300" b="0">
                <a:solidFill>
                  <a:srgbClr val="E2E8F0"/>
                </a:solidFill>
              </a:rPr>
              <a:t>Recharts for data visualisation</a:t>
            </a:r>
          </a:p>
          <a:p xmlns:a="http://schemas.openxmlformats.org/drawingml/2006/main">
            <a:pPr algn="l"/>
            <a:r>
              <a:rPr lang="en-US" sz="1300" b="0">
                <a:solidFill>
                  <a:srgbClr val="E2E8F0"/>
                </a:solidFill>
              </a:rPr>
              <a:t/>
            </a:r>
          </a:p>
          <a:p xmlns:a="http://schemas.openxmlformats.org/drawingml/2006/main">
            <a:pPr algn="l"/>
            <a:r>
              <a:rPr lang="en-US" sz="1300" b="0">
                <a:solidFill>
                  <a:srgbClr val="E2E8F0"/>
                </a:solidFill>
              </a:rPr>
              <a:t>IBM Bob MCP (FastMCP)</a:t>
            </a:r>
          </a:p>
          <a:p xmlns:a="http://schemas.openxmlformats.org/drawingml/2006/main">
            <a:pPr algn="l"/>
            <a:r>
              <a:rPr lang="en-US" sz="1300" b="0">
                <a:solidFill>
                  <a:srgbClr val="E2E8F0"/>
                </a:solidFill>
              </a:rPr>
              <a:t>5 tools: fleet summary, engine</a:t>
            </a:r>
          </a:p>
          <a:p xmlns:a="http://schemas.openxmlformats.org/drawingml/2006/main">
            <a:pPr algn="l"/>
            <a:r>
              <a:rPr lang="en-US" sz="1300" b="0">
                <a:solidFill>
                  <a:srgbClr val="E2E8F0"/>
                </a:solidFill>
              </a:rPr>
              <a:t>readiness, sensor health, priority</a:t>
            </a:r>
          </a:p>
          <a:p xmlns:a="http://schemas.openxmlformats.org/drawingml/2006/main">
            <a:pPr algn="l"/>
            <a:r>
              <a:rPr lang="en-US" sz="1300" b="0">
                <a:solidFill>
                  <a:srgbClr val="E2E8F0"/>
                </a:solidFill>
              </a:rPr>
              <a:t>engines, ask copilot</a:t>
            </a:r>
          </a:p>
        </p:txBody>
      </p:sp>
    </p:spTree>
  </p:cSld>
</p:sld>
</file>

<file path=ppt/slides/slide5.xml><?xml version="1.0" encoding="utf-8"?>
<p:sld xmlns:p="http://schemas.openxmlformats.org/presentationml/2006/main">
  <p:cSld>
    <p:bg>
      <p:bgPr>
        <a:solidFill xmlns:a="http://schemas.openxmlformats.org/drawingml/2006/main">
          <a:srgbClr val="0A0E1A"/>
        </a:solidFill>
      </p:bgPr>
    </p:bg>
    <p:spTree>
      <p:nvGrpSpPr>
        <p:cNvPr id="1" name=""/>
        <p:cNvGrpSpPr/>
        <p:nvPr/>
      </p:nvGrpSpPr>
      <p:grpSpPr/>
      <p:sp>
        <p:nvSpPr>
          <p:cNvPr id="100032" name="SlideNum"/>
          <p:cNvSpPr txBox="1"/>
          <p:nvPr/>
        </p:nvSpPr>
        <p:spPr>
          <a:xfrm xmlns:a="http://schemas.openxmlformats.org/drawingml/2006/main">
            <a:off x="720000" y="432000"/>
            <a:ext cx="1044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100" b="1">
                <a:solidFill>
                  <a:srgbClr val="86FF7B"/>
                </a:solidFill>
              </a:rPr>
              <a:t>04 / MISSION READINESS COPILOT</a:t>
            </a:r>
          </a:p>
        </p:txBody>
      </p:sp>
      <p:sp>
        <p:nvSpPr>
          <p:cNvPr id="100033" name="Heading"/>
          <p:cNvSpPr txBox="1"/>
          <p:nvPr/>
        </p:nvSpPr>
        <p:spPr>
          <a:xfrm xmlns:a="http://schemas.openxmlformats.org/drawingml/2006/main">
            <a:off x="720000" y="864000"/>
            <a:ext cx="1044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3000" b="1">
                <a:solidFill>
                  <a:srgbClr val="FFFFFF"/>
                </a:solidFill>
              </a:rPr>
              <a:t>Natural-language fleet intelligence — zero hallucination</a:t>
            </a:r>
          </a:p>
        </p:txBody>
      </p:sp>
      <p:sp>
        <p:nvSpPr>
          <p:cNvPr id="100034" name="QuestionLabel"/>
          <p:cNvSpPr txBox="1"/>
          <p:nvPr/>
        </p:nvSpPr>
        <p:spPr>
          <a:xfrm xmlns:a="http://schemas.openxmlformats.org/drawingml/2006/main">
            <a:off x="720000" y="1728000"/>
            <a:ext cx="216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200" b="1">
                <a:solidFill>
                  <a:srgbClr val="A0AEC0"/>
                </a:solidFill>
              </a:rPr>
              <a:t>Operator asks:</a:t>
            </a:r>
          </a:p>
        </p:txBody>
      </p:sp>
      <p:sp>
        <p:nvSpPr>
          <p:cNvPr id="100035" name="Question"/>
          <p:cNvSpPr txBox="1"/>
          <p:nvPr/>
        </p:nvSpPr>
        <p:spPr>
          <a:xfrm xmlns:a="http://schemas.openxmlformats.org/drawingml/2006/main">
            <a:off x="720000" y="2016000"/>
            <a:ext cx="1044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2000" b="1">
                <a:solidFill>
                  <a:srgbClr val="FFFFFF"/>
                </a:solidFill>
              </a:rPr>
              <a:t>"Is Engine 5 ready for the mission?"</a:t>
            </a:r>
          </a:p>
        </p:txBody>
      </p:sp>
      <p:sp>
        <p:nvSpPr>
          <p:cNvPr id="100036" name="AnswerLabel"/>
          <p:cNvSpPr txBox="1"/>
          <p:nvPr/>
        </p:nvSpPr>
        <p:spPr>
          <a:xfrm xmlns:a="http://schemas.openxmlformats.org/drawingml/2006/main">
            <a:off x="720000" y="2520000"/>
            <a:ext cx="216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200" b="1">
                <a:solidFill>
                  <a:srgbClr val="A0AEC0"/>
                </a:solidFill>
              </a:rPr>
              <a:t>Copilot responds:</a:t>
            </a:r>
          </a:p>
        </p:txBody>
      </p:sp>
      <p:sp>
        <p:nvSpPr>
          <p:cNvPr id="100037" name="Answer"/>
          <p:cNvSpPr txBox="1"/>
          <p:nvPr/>
        </p:nvSpPr>
        <p:spPr>
          <a:xfrm xmlns:a="http://schemas.openxmlformats.org/drawingml/2006/main">
            <a:off x="720000" y="2808000"/>
            <a:ext cx="10440000" cy="9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600" b="0">
                <a:solidFill>
                  <a:srgbClr val="F2B84B"/>
                </a:solidFill>
              </a:rPr>
              <a:t>"Engine 5 has MARGINAL mission readiness. Predicted RUL is 45.2 cycles with only 15.2 cycles of margin — below the recommended 20-cycle buffer. Additionally, 2 sensor(s) are degrading. Proceed with caution or consider maintenance before deployment."</a:t>
            </a:r>
          </a:p>
        </p:txBody>
      </p:sp>
      <p:sp>
        <p:nvSpPr>
          <p:cNvPr id="100038" name="HowItWorks"/>
          <p:cNvSpPr txBox="1"/>
          <p:nvPr/>
        </p:nvSpPr>
        <p:spPr>
          <a:xfrm xmlns:a="http://schemas.openxmlformats.org/drawingml/2006/main">
            <a:off x="720000" y="3960000"/>
            <a:ext cx="1044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400" b="0">
                <a:solidFill>
                  <a:srgbClr val="86FF7B"/>
                </a:solidFill>
              </a:rPr>
              <a:t>How it works:  keyword routing → 7 response handlers → templated answer from DB values → evidence dict returned</a:t>
            </a:r>
          </a:p>
          <a:p xmlns:a="http://schemas.openxmlformats.org/drawingml/2006/main">
            <a:pPr algn="l"/>
            <a:r>
              <a:rPr lang="en-US" sz="1400" b="0">
                <a:solidFill>
                  <a:srgbClr val="86FF7B"/>
                </a:solidFill>
              </a:rPr>
              <a:t>No LLM  ·  No API key  ·  Works offline  ·  Every claim traceable to a database record</a:t>
            </a:r>
          </a:p>
        </p:txBody>
      </p:sp>
    </p:spTree>
  </p:cSld>
</p:sld>
</file>

<file path=ppt/slides/slide6.xml><?xml version="1.0" encoding="utf-8"?>
<p:sld xmlns:p="http://schemas.openxmlformats.org/presentationml/2006/main">
  <p:cSld>
    <p:bg>
      <p:bgPr>
        <a:solidFill xmlns:a="http://schemas.openxmlformats.org/drawingml/2006/main">
          <a:srgbClr val="0A0E1A"/>
        </a:solidFill>
      </p:bgPr>
    </p:bg>
    <p:spTree>
      <p:nvGrpSpPr>
        <p:cNvPr id="1" name=""/>
        <p:cNvGrpSpPr/>
        <p:nvPr/>
      </p:nvGrpSpPr>
      <p:grpSpPr/>
      <p:sp>
        <p:nvSpPr>
          <p:cNvPr id="100039" name="SlideNum"/>
          <p:cNvSpPr txBox="1"/>
          <p:nvPr/>
        </p:nvSpPr>
        <p:spPr>
          <a:xfrm xmlns:a="http://schemas.openxmlformats.org/drawingml/2006/main">
            <a:off x="720000" y="432000"/>
            <a:ext cx="1044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100" b="1">
                <a:solidFill>
                  <a:srgbClr val="86FF7B"/>
                </a:solidFill>
              </a:rPr>
              <a:t>05 / IBM BOB INTEGRATION</a:t>
            </a:r>
          </a:p>
        </p:txBody>
      </p:sp>
      <p:sp>
        <p:nvSpPr>
          <p:cNvPr id="100040" name="Heading"/>
          <p:cNvSpPr txBox="1"/>
          <p:nvPr/>
        </p:nvSpPr>
        <p:spPr>
          <a:xfrm xmlns:a="http://schemas.openxmlformats.org/drawingml/2006/main">
            <a:off x="720000" y="864000"/>
            <a:ext cx="1044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3000" b="1">
                <a:solidFill>
                  <a:srgbClr val="FFFFFF"/>
                </a:solidFill>
              </a:rPr>
              <a:t>AeroReady fleet data, interrogated from Bob</a:t>
            </a:r>
          </a:p>
        </p:txBody>
      </p:sp>
      <p:sp>
        <p:nvSpPr>
          <p:cNvPr id="100041" name="ToolsHead"/>
          <p:cNvSpPr txBox="1"/>
          <p:nvPr/>
        </p:nvSpPr>
        <p:spPr>
          <a:xfrm xmlns:a="http://schemas.openxmlformats.org/drawingml/2006/main">
            <a:off x="720000" y="1728000"/>
            <a:ext cx="1044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300" b="1">
                <a:solidFill>
                  <a:srgbClr val="86FF7B"/>
                </a:solidFill>
              </a:rPr>
              <a:t>5 MCP TOOLS  (src/mcp_server/server.py  ·  registered via .bob/mcp.json)</a:t>
            </a:r>
          </a:p>
        </p:txBody>
      </p:sp>
      <p:sp>
        <p:nvSpPr>
          <p:cNvPr id="100042" name="Tool1"/>
          <p:cNvSpPr txBox="1"/>
          <p:nvPr/>
        </p:nvSpPr>
        <p:spPr>
          <a:xfrm xmlns:a="http://schemas.openxmlformats.org/drawingml/2006/main">
            <a:off x="720000" y="2088000"/>
            <a:ext cx="1044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400" b="0">
                <a:solidFill>
                  <a:srgbClr val="E2E8F0"/>
                </a:solidFill>
              </a:rPr>
              <a:t>get_fleet_summary         →  KPIs: total engines, ready, warning, high-priority count</a:t>
            </a:r>
          </a:p>
        </p:txBody>
      </p:sp>
      <p:sp>
        <p:nvSpPr>
          <p:cNvPr id="100043" name="Tool2"/>
          <p:cNvSpPr txBox="1"/>
          <p:nvPr/>
        </p:nvSpPr>
        <p:spPr>
          <a:xfrm xmlns:a="http://schemas.openxmlformats.org/drawingml/2006/main">
            <a:off x="720000" y="2376000"/>
            <a:ext cx="1044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400" b="0">
                <a:solidFill>
                  <a:srgbClr val="E2E8F0"/>
                </a:solidFill>
              </a:rPr>
              <a:t>get_engine_readiness      →  Full readiness report for one engine (RUL, margin, risk flag)</a:t>
            </a:r>
          </a:p>
        </p:txBody>
      </p:sp>
      <p:sp>
        <p:nvSpPr>
          <p:cNvPr id="100044" name="Tool3"/>
          <p:cNvSpPr txBox="1"/>
          <p:nvPr/>
        </p:nvSpPr>
        <p:spPr>
          <a:xfrm xmlns:a="http://schemas.openxmlformats.org/drawingml/2006/main">
            <a:off x="720000" y="2664000"/>
            <a:ext cx="1044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400" b="0">
                <a:solidFill>
                  <a:srgbClr val="E2E8F0"/>
                </a:solidFill>
              </a:rPr>
              <a:t>get_sensor_health         →  All 14 sensor states for one engine</a:t>
            </a:r>
          </a:p>
        </p:txBody>
      </p:sp>
      <p:sp>
        <p:nvSpPr>
          <p:cNvPr id="100045" name="Tool4"/>
          <p:cNvSpPr txBox="1"/>
          <p:nvPr/>
        </p:nvSpPr>
        <p:spPr>
          <a:xfrm xmlns:a="http://schemas.openxmlformats.org/drawingml/2006/main">
            <a:off x="720000" y="2952000"/>
            <a:ext cx="1044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400" b="0">
                <a:solidFill>
                  <a:srgbClr val="E2E8F0"/>
                </a:solidFill>
              </a:rPr>
              <a:t>list_high_priority_engines →  Engines with HIGH maintenance priority</a:t>
            </a:r>
          </a:p>
        </p:txBody>
      </p:sp>
      <p:sp>
        <p:nvSpPr>
          <p:cNvPr id="100046" name="Tool5"/>
          <p:cNvSpPr txBox="1"/>
          <p:nvPr/>
        </p:nvSpPr>
        <p:spPr>
          <a:xfrm xmlns:a="http://schemas.openxmlformats.org/drawingml/2006/main">
            <a:off x="720000" y="3240000"/>
            <a:ext cx="1044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400" b="0">
                <a:solidFill>
                  <a:srgbClr val="E2E8F0"/>
                </a:solidFill>
              </a:rPr>
              <a:t>ask_copilot               →  Natural-language question → evidence-grounded answer</a:t>
            </a:r>
          </a:p>
        </p:txBody>
      </p:sp>
      <p:sp>
        <p:nvSpPr>
          <p:cNvPr id="100047" name="BobExample"/>
          <p:cNvSpPr txBox="1"/>
          <p:nvPr/>
        </p:nvSpPr>
        <p:spPr>
          <a:xfrm xmlns:a="http://schemas.openxmlformats.org/drawingml/2006/main">
            <a:off x="720000" y="3744000"/>
            <a:ext cx="1044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500" b="0">
                <a:solidFill>
                  <a:srgbClr val="F2B84B"/>
                </a:solidFill>
              </a:rPr>
              <a:t>Bob: "Which engines need immediate attention before tomorrow's mission?"</a:t>
            </a:r>
          </a:p>
          <a:p xmlns:a="http://schemas.openxmlformats.org/drawingml/2006/main">
            <a:pPr algn="l"/>
            <a:r>
              <a:rPr lang="en-US" sz="1500" b="0">
                <a:solidFill>
                  <a:srgbClr val="F2B84B"/>
                </a:solidFill>
              </a:rPr>
              <a:t>AeroReady: [calls list_high_priority_engines + ask_copilot] → structured answer from live data</a:t>
            </a:r>
          </a:p>
        </p:txBody>
      </p:sp>
      <p:sp>
        <p:nvSpPr>
          <p:cNvPr id="100048" name="Integration"/>
          <p:cNvSpPr txBox="1"/>
          <p:nvPr/>
        </p:nvSpPr>
        <p:spPr>
          <a:xfrm xmlns:a="http://schemas.openxmlformats.org/drawingml/2006/main">
            <a:off x="720000" y="4680000"/>
            <a:ext cx="1044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300" b="0">
                <a:solidFill>
                  <a:srgbClr val="A0AEC0"/>
                </a:solidFill>
              </a:rPr>
              <a:t>Architecture: IBM Bob  →  .bob/mcp.json  →  FastMCP server  →  Flask REST API  →  SQLite DB + ML models</a:t>
            </a:r>
          </a:p>
        </p:txBody>
      </p:sp>
    </p:spTree>
  </p:cSld>
</p:sld>
</file>

<file path=ppt/slides/slide7.xml><?xml version="1.0" encoding="utf-8"?>
<p:sld xmlns:p="http://schemas.openxmlformats.org/presentationml/2006/main">
  <p:cSld>
    <p:bg>
      <p:bgPr>
        <a:solidFill xmlns:a="http://schemas.openxmlformats.org/drawingml/2006/main">
          <a:srgbClr val="0A0E1A"/>
        </a:solidFill>
      </p:bgPr>
    </p:bg>
    <p:spTree>
      <p:nvGrpSpPr>
        <p:cNvPr id="1" name=""/>
        <p:cNvGrpSpPr/>
        <p:nvPr/>
      </p:nvGrpSpPr>
      <p:grpSpPr/>
      <p:sp>
        <p:nvSpPr>
          <p:cNvPr id="100049" name="SlideNum"/>
          <p:cNvSpPr txBox="1"/>
          <p:nvPr/>
        </p:nvSpPr>
        <p:spPr>
          <a:xfrm xmlns:a="http://schemas.openxmlformats.org/drawingml/2006/main">
            <a:off x="720000" y="432000"/>
            <a:ext cx="1044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1100" b="1">
                <a:solidFill>
                  <a:srgbClr val="86FF7B"/>
                </a:solidFill>
              </a:rPr>
              <a:t>06 / RESULTS &amp; TEAM</a:t>
            </a:r>
          </a:p>
        </p:txBody>
      </p:sp>
      <p:sp>
        <p:nvSpPr>
          <p:cNvPr id="100050" name="Heading"/>
          <p:cNvSpPr txBox="1"/>
          <p:nvPr/>
        </p:nvSpPr>
        <p:spPr>
          <a:xfrm xmlns:a="http://schemas.openxmlformats.org/drawingml/2006/main">
            <a:off x="720000" y="864000"/>
            <a:ext cx="1044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lang="en-US" sz="3000" b="1">
                <a:solidFill>
                  <a:srgbClr val="FFFFFF"/>
                </a:solidFill>
              </a:rPr>
              <a:t>What we delivered — and what's next</a:t>
            </a:r>
          </a:p>
        </p:txBody>
      </p:sp>
      <p:sp>
        <p:nvSpPr>
          <p:cNvPr id="100051" name="Metric1"/>
          <p:cNvSpPr txBox="1"/>
          <p:nvPr/>
        </p:nvSpPr>
        <p:spPr>
          <a:xfrm xmlns:a="http://schemas.openxmlformats.org/drawingml/2006/main">
            <a:off x="720000" y="1692000"/>
            <a:ext cx="216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3600" b="1">
                <a:solidFill>
                  <a:srgbClr val="86FF7B"/>
                </a:solidFill>
              </a:rPr>
              <a:t>10.05</a:t>
            </a:r>
          </a:p>
        </p:txBody>
      </p:sp>
      <p:sp>
        <p:nvSpPr>
          <p:cNvPr id="100052" name="Metric1Label"/>
          <p:cNvSpPr txBox="1"/>
          <p:nvPr/>
        </p:nvSpPr>
        <p:spPr>
          <a:xfrm xmlns:a="http://schemas.openxmlformats.org/drawingml/2006/main">
            <a:off x="720000" y="2232000"/>
            <a:ext cx="216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300" b="0">
                <a:solidFill>
                  <a:srgbClr val="A0AEC0"/>
                </a:solidFill>
              </a:rPr>
              <a:t>MAE (cycles)</a:t>
            </a:r>
          </a:p>
        </p:txBody>
      </p:sp>
      <p:sp>
        <p:nvSpPr>
          <p:cNvPr id="100053" name="Metric2"/>
          <p:cNvSpPr txBox="1"/>
          <p:nvPr/>
        </p:nvSpPr>
        <p:spPr>
          <a:xfrm xmlns:a="http://schemas.openxmlformats.org/drawingml/2006/main">
            <a:off x="3420000" y="1692000"/>
            <a:ext cx="216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3600" b="1">
                <a:solidFill>
                  <a:srgbClr val="86FF7B"/>
                </a:solidFill>
              </a:rPr>
              <a:t>0.897</a:t>
            </a:r>
          </a:p>
        </p:txBody>
      </p:sp>
      <p:sp>
        <p:nvSpPr>
          <p:cNvPr id="100054" name="Metric2Label"/>
          <p:cNvSpPr txBox="1"/>
          <p:nvPr/>
        </p:nvSpPr>
        <p:spPr>
          <a:xfrm xmlns:a="http://schemas.openxmlformats.org/drawingml/2006/main">
            <a:off x="3420000" y="2232000"/>
            <a:ext cx="216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300" b="0">
                <a:solidFill>
                  <a:srgbClr val="A0AEC0"/>
                </a:solidFill>
              </a:rPr>
              <a:t>R² score</a:t>
            </a:r>
          </a:p>
        </p:txBody>
      </p:sp>
      <p:sp>
        <p:nvSpPr>
          <p:cNvPr id="100055" name="Metric3"/>
          <p:cNvSpPr txBox="1"/>
          <p:nvPr/>
        </p:nvSpPr>
        <p:spPr>
          <a:xfrm xmlns:a="http://schemas.openxmlformats.org/drawingml/2006/main">
            <a:off x="6120000" y="1692000"/>
            <a:ext cx="216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3600" b="1">
                <a:solidFill>
                  <a:srgbClr val="86FF7B"/>
                </a:solidFill>
              </a:rPr>
              <a:t>51 / 51</a:t>
            </a:r>
          </a:p>
        </p:txBody>
      </p:sp>
      <p:sp>
        <p:nvSpPr>
          <p:cNvPr id="100056" name="Metric3Label"/>
          <p:cNvSpPr txBox="1"/>
          <p:nvPr/>
        </p:nvSpPr>
        <p:spPr>
          <a:xfrm xmlns:a="http://schemas.openxmlformats.org/drawingml/2006/main">
            <a:off x="6120000" y="2232000"/>
            <a:ext cx="216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300" b="0">
                <a:solidFill>
                  <a:srgbClr val="A0AEC0"/>
                </a:solidFill>
              </a:rPr>
              <a:t>tests passing</a:t>
            </a:r>
          </a:p>
        </p:txBody>
      </p:sp>
      <p:sp>
        <p:nvSpPr>
          <p:cNvPr id="100057" name="Metric4"/>
          <p:cNvSpPr txBox="1"/>
          <p:nvPr/>
        </p:nvSpPr>
        <p:spPr>
          <a:xfrm xmlns:a="http://schemas.openxmlformats.org/drawingml/2006/main">
            <a:off x="8820000" y="1692000"/>
            <a:ext cx="1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3600" b="1">
                <a:solidFill>
                  <a:srgbClr val="86FF7B"/>
                </a:solidFill>
              </a:rPr>
              <a:t>5</a:t>
            </a:r>
          </a:p>
        </p:txBody>
      </p:sp>
      <p:sp>
        <p:nvSpPr>
          <p:cNvPr id="100058" name="Metric4Label"/>
          <p:cNvSpPr txBox="1"/>
          <p:nvPr/>
        </p:nvSpPr>
        <p:spPr>
          <a:xfrm xmlns:a="http://schemas.openxmlformats.org/drawingml/2006/main">
            <a:off x="8820000" y="2232000"/>
            <a:ext cx="18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300" b="0">
                <a:solidFill>
                  <a:srgbClr val="A0AEC0"/>
                </a:solidFill>
              </a:rPr>
              <a:t>IBM Bob MCP tools</a:t>
            </a:r>
          </a:p>
        </p:txBody>
      </p:sp>
      <p:sp>
        <p:nvSpPr>
          <p:cNvPr id="100059" name="NextSteps"/>
          <p:cNvSpPr txBox="1"/>
          <p:nvPr/>
        </p:nvSpPr>
        <p:spPr>
          <a:xfrm xmlns:a="http://schemas.openxmlformats.org/drawingml/2006/main">
            <a:off x="720000" y="2988000"/>
            <a:ext cx="1044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400" b="0">
                <a:solidFill>
                  <a:srgbClr val="F2B84B"/>
                </a:solidFill>
              </a:rPr>
              <a:t>Next steps:  Multi-condition model (FD002/FD003/FD004)  ·  Per-sensor independent IForest  ·  Auth layer  ·  Celery task queue  ·  Cloud deployment</a:t>
            </a:r>
          </a:p>
        </p:txBody>
      </p:sp>
      <p:sp>
        <p:nvSpPr>
          <p:cNvPr id="100060" name="TeamHead"/>
          <p:cNvSpPr txBox="1"/>
          <p:nvPr/>
        </p:nvSpPr>
        <p:spPr>
          <a:xfrm xmlns:a="http://schemas.openxmlformats.org/drawingml/2006/main">
            <a:off x="720000" y="3780000"/>
            <a:ext cx="1044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300" b="1">
                <a:solidFill>
                  <a:srgbClr val="86FF7B"/>
                </a:solidFill>
              </a:rPr>
              <a:t>TEAM ASTRA  —  IBM BOB HACKATHON  ·  AI TRACK</a:t>
            </a:r>
          </a:p>
        </p:txBody>
      </p:sp>
      <p:sp>
        <p:nvSpPr>
          <p:cNvPr id="100061" name="TeamBody"/>
          <p:cNvSpPr txBox="1"/>
          <p:nvPr/>
        </p:nvSpPr>
        <p:spPr>
          <a:xfrm xmlns:a="http://schemas.openxmlformats.org/drawingml/2006/main">
            <a:off x="720000" y="4176000"/>
            <a:ext cx="1044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400" b="0">
                <a:solidFill>
                  <a:srgbClr val="A0AEC0"/>
                </a:solidFill>
              </a:rPr>
              <a:t>Source code: src/   ·   Docs: docs/   ·   MCP server: src/mcp_server/</a:t>
            </a:r>
          </a:p>
          <a:p xmlns:a="http://schemas.openxmlformats.org/drawingml/2006/main">
            <a:pPr algn="ctr"/>
            <a:r>
              <a:rPr lang="en-US" sz="1400" b="0">
                <a:solidFill>
                  <a:srgbClr val="A0AEC0"/>
                </a:solidFill>
              </a:rPr>
              <a:t>setup guide: docs/setup-guide.md   ·   51 passing tests   ·   Full architecture documented</a:t>
            </a:r>
          </a:p>
        </p:txBody>
      </p:sp>
      <p:sp>
        <p:nvSpPr>
          <p:cNvPr id="100062" name="Tagline"/>
          <p:cNvSpPr txBox="1"/>
          <p:nvPr/>
        </p:nvSpPr>
        <p:spPr>
          <a:xfrm xmlns:a="http://schemas.openxmlformats.org/drawingml/2006/main">
            <a:off x="720000" y="4968000"/>
            <a:ext cx="1044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600" b="1">
                <a:solidFill>
                  <a:srgbClr val="FFFFFF"/>
                </a:solidFill>
              </a:rPr>
              <a:t>AeroReady — Because a mission readiness decision should be justified, not guessed.</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OfficeCLI/1.0.144</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2026-09-15T15:41:39Z</dcterms:created>
  <cp:lastModifiedBy>OfficeCLI</cp:lastModifiedBy>
  <dcterms:modified xsi:type="dcterms:W3CDTF">2026-09-15T15:41:39Z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1.0.150</vt:lpwstr>
  </op:property>
  <op:property fmtid="{D5CDD505-2E9C-101B-9397-08002B2CF9AE}" pid="3" name="OfficeCLI.LastModified">
    <vt:lpwstr xmlns:vt="http://schemas.openxmlformats.org/officeDocument/2006/docPropsVTypes">2026-09-15T15:43:34Z</vt:lpwstr>
  </op:property>
</op:Properties>
</file>