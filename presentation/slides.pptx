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6858000" cy="9144000"/>
  <p:embeddedFontLst>
    <p:embeddedFont>
      <p:font typeface="Roboto Mono Medium"/>
      <p:regular r:id="rId16"/>
      <p:bold r:id="rId17"/>
      <p:italic r:id="rId18"/>
      <p:boldItalic r:id="rId19"/>
    </p:embeddedFont>
    <p:embeddedFont>
      <p:font typeface="Inter SemiBold"/>
      <p:regular r:id="rId20"/>
      <p:bold r:id="rId21"/>
      <p:italic r:id="rId22"/>
      <p:boldItalic r:id="rId23"/>
    </p:embeddedFont>
    <p:embeddedFont>
      <p:font typeface="Rajdhani SemiBold"/>
      <p:regular r:id="rId24"/>
      <p:bold r:id="rId25"/>
    </p:embeddedFont>
    <p:embeddedFont>
      <p:font typeface="Inter"/>
      <p:regular r:id="rId26"/>
      <p:bold r:id="rId27"/>
      <p:italic r:id="rId28"/>
      <p:boldItalic r:id="rId29"/>
    </p:embeddedFont>
    <p:embeddedFont>
      <p:font typeface="Roboto Mono"/>
      <p:bold r:id="rId30"/>
      <p:boldItalic r:id="rId31"/>
    </p:embeddedFont>
    <p:embeddedFont>
      <p:font typeface="Rajdhani"/>
      <p:bold r:id="rId32"/>
    </p:embeddedFont>
    <p:embeddedFont>
      <p:font typeface="Inter Medium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regular.fntdata"/><Relationship Id="rId22" Type="http://schemas.openxmlformats.org/officeDocument/2006/relationships/font" Target="fonts/InterSemiBold-italic.fntdata"/><Relationship Id="rId21" Type="http://schemas.openxmlformats.org/officeDocument/2006/relationships/font" Target="fonts/InterSemiBold-bold.fntdata"/><Relationship Id="rId24" Type="http://schemas.openxmlformats.org/officeDocument/2006/relationships/font" Target="fonts/RajdhaniSemiBold-regular.fntdata"/><Relationship Id="rId23" Type="http://schemas.openxmlformats.org/officeDocument/2006/relationships/font" Target="fonts/InterSemiBold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-regular.fntdata"/><Relationship Id="rId25" Type="http://schemas.openxmlformats.org/officeDocument/2006/relationships/font" Target="fonts/RajdhaniSemiBold-bold.fntdata"/><Relationship Id="rId28" Type="http://schemas.openxmlformats.org/officeDocument/2006/relationships/font" Target="fonts/Inter-italic.fntdata"/><Relationship Id="rId27" Type="http://schemas.openxmlformats.org/officeDocument/2006/relationships/font" Target="fonts/Inter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Mono-boldItalic.fntdata"/><Relationship Id="rId30" Type="http://schemas.openxmlformats.org/officeDocument/2006/relationships/font" Target="fonts/RobotoMono-bold.fntdata"/><Relationship Id="rId11" Type="http://schemas.openxmlformats.org/officeDocument/2006/relationships/slide" Target="slides/slide6.xml"/><Relationship Id="rId33" Type="http://schemas.openxmlformats.org/officeDocument/2006/relationships/font" Target="fonts/InterMedium-regular.fntdata"/><Relationship Id="rId10" Type="http://schemas.openxmlformats.org/officeDocument/2006/relationships/slide" Target="slides/slide5.xml"/><Relationship Id="rId32" Type="http://schemas.openxmlformats.org/officeDocument/2006/relationships/font" Target="fonts/Rajdhani-bold.fntdata"/><Relationship Id="rId13" Type="http://schemas.openxmlformats.org/officeDocument/2006/relationships/slide" Target="slides/slide8.xml"/><Relationship Id="rId35" Type="http://schemas.openxmlformats.org/officeDocument/2006/relationships/font" Target="fonts/InterMedium-italic.fntdata"/><Relationship Id="rId12" Type="http://schemas.openxmlformats.org/officeDocument/2006/relationships/slide" Target="slides/slide7.xml"/><Relationship Id="rId34" Type="http://schemas.openxmlformats.org/officeDocument/2006/relationships/font" Target="fonts/InterMedium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InterMedium-boldItalic.fntdata"/><Relationship Id="rId17" Type="http://schemas.openxmlformats.org/officeDocument/2006/relationships/font" Target="fonts/RobotoMonoMedium-bold.fntdata"/><Relationship Id="rId16" Type="http://schemas.openxmlformats.org/officeDocument/2006/relationships/font" Target="fonts/RobotoMonoMedium-regular.fntdata"/><Relationship Id="rId19" Type="http://schemas.openxmlformats.org/officeDocument/2006/relationships/font" Target="fonts/RobotoMonoMedium-boldItalic.fntdata"/><Relationship Id="rId18" Type="http://schemas.openxmlformats.org/officeDocument/2006/relationships/font" Target="fonts/RobotoMonoMedium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409e8b50367_2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409e8b50367_2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409e8b50367_22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409e8b50367_2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409e8b50367_2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409e8b50367_2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409e8b50367_20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409e8b50367_2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409e8b50367_19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409e8b50367_1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409e8b50367_18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409e8b50367_1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409e8b50367_17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409e8b50367_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g409e8b50367_16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Google Shape;546;g409e8b50367_1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409e8b50367_15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409e8b50367_1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409e8b50367_1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5" name="Google Shape;695;g409e8b50367_1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409e8b50367_13_0)">
  <p:cSld name="Generated (g409e8b50367_13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9.png"/><Relationship Id="rId7" Type="http://schemas.openxmlformats.org/officeDocument/2006/relationships/image" Target="../media/image2.png"/><Relationship Id="rId8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Relationship Id="rId4" Type="http://schemas.openxmlformats.org/officeDocument/2006/relationships/image" Target="../media/image23.png"/><Relationship Id="rId9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26.png"/><Relationship Id="rId7" Type="http://schemas.openxmlformats.org/officeDocument/2006/relationships/image" Target="../media/image13.png"/><Relationship Id="rId8" Type="http://schemas.openxmlformats.org/officeDocument/2006/relationships/image" Target="../media/image2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6.png"/><Relationship Id="rId7" Type="http://schemas.openxmlformats.org/officeDocument/2006/relationships/image" Target="../media/image27.png"/><Relationship Id="rId8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png"/><Relationship Id="rId4" Type="http://schemas.openxmlformats.org/officeDocument/2006/relationships/image" Target="../media/image7.png"/><Relationship Id="rId5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9.png"/><Relationship Id="rId4" Type="http://schemas.openxmlformats.org/officeDocument/2006/relationships/image" Target="../media/image30.png"/><Relationship Id="rId9" Type="http://schemas.openxmlformats.org/officeDocument/2006/relationships/image" Target="../media/image41.png"/><Relationship Id="rId5" Type="http://schemas.openxmlformats.org/officeDocument/2006/relationships/image" Target="../media/image32.png"/><Relationship Id="rId6" Type="http://schemas.openxmlformats.org/officeDocument/2006/relationships/image" Target="../media/image36.png"/><Relationship Id="rId7" Type="http://schemas.openxmlformats.org/officeDocument/2006/relationships/image" Target="../media/image29.png"/><Relationship Id="rId8" Type="http://schemas.openxmlformats.org/officeDocument/2006/relationships/image" Target="../media/image3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Relationship Id="rId4" Type="http://schemas.openxmlformats.org/officeDocument/2006/relationships/image" Target="../media/image44.png"/><Relationship Id="rId5" Type="http://schemas.openxmlformats.org/officeDocument/2006/relationships/image" Target="../media/image42.png"/><Relationship Id="rId6" Type="http://schemas.openxmlformats.org/officeDocument/2006/relationships/image" Target="../media/image37.png"/><Relationship Id="rId7" Type="http://schemas.openxmlformats.org/officeDocument/2006/relationships/image" Target="../media/image28.png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9.png"/><Relationship Id="rId4" Type="http://schemas.openxmlformats.org/officeDocument/2006/relationships/image" Target="../media/image30.png"/><Relationship Id="rId9" Type="http://schemas.openxmlformats.org/officeDocument/2006/relationships/image" Target="../media/image45.png"/><Relationship Id="rId5" Type="http://schemas.openxmlformats.org/officeDocument/2006/relationships/image" Target="../media/image31.png"/><Relationship Id="rId6" Type="http://schemas.openxmlformats.org/officeDocument/2006/relationships/image" Target="../media/image46.png"/><Relationship Id="rId7" Type="http://schemas.openxmlformats.org/officeDocument/2006/relationships/image" Target="../media/image40.png"/><Relationship Id="rId8" Type="http://schemas.openxmlformats.org/officeDocument/2006/relationships/image" Target="../media/image4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9.png"/><Relationship Id="rId4" Type="http://schemas.openxmlformats.org/officeDocument/2006/relationships/image" Target="../media/image30.png"/><Relationship Id="rId9" Type="http://schemas.openxmlformats.org/officeDocument/2006/relationships/image" Target="../media/image59.png"/><Relationship Id="rId5" Type="http://schemas.openxmlformats.org/officeDocument/2006/relationships/image" Target="../media/image53.png"/><Relationship Id="rId6" Type="http://schemas.openxmlformats.org/officeDocument/2006/relationships/image" Target="../media/image57.png"/><Relationship Id="rId7" Type="http://schemas.openxmlformats.org/officeDocument/2006/relationships/image" Target="../media/image48.png"/><Relationship Id="rId8" Type="http://schemas.openxmlformats.org/officeDocument/2006/relationships/image" Target="../media/image5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9.png"/><Relationship Id="rId4" Type="http://schemas.openxmlformats.org/officeDocument/2006/relationships/image" Target="../media/image53.png"/><Relationship Id="rId5" Type="http://schemas.openxmlformats.org/officeDocument/2006/relationships/image" Target="../media/image57.png"/><Relationship Id="rId6" Type="http://schemas.openxmlformats.org/officeDocument/2006/relationships/image" Target="../media/image48.png"/><Relationship Id="rId7" Type="http://schemas.openxmlformats.org/officeDocument/2006/relationships/image" Target="../media/image50.png"/><Relationship Id="rId8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56" name="Google Shape;56;p14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80C1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7" name="Google Shape;57;p14"/>
            <p:cNvGrpSpPr/>
            <p:nvPr/>
          </p:nvGrpSpPr>
          <p:grpSpPr>
            <a:xfrm>
              <a:off x="0" y="0"/>
              <a:ext cx="9144000" cy="5143500"/>
              <a:chOff x="0" y="0"/>
              <a:chExt cx="9144000" cy="5143500"/>
            </a:xfrm>
          </p:grpSpPr>
          <p:sp>
            <p:nvSpPr>
              <p:cNvPr id="58" name="Google Shape;58;p14"/>
              <p:cNvSpPr/>
              <p:nvPr/>
            </p:nvSpPr>
            <p:spPr>
              <a:xfrm>
                <a:off x="0" y="0"/>
                <a:ext cx="9144000" cy="51435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pic>
            <p:nvPicPr>
              <p:cNvPr id="59" name="Google Shape;59;p14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4381500" y="2381250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0" name="Google Shape;60;p14"/>
            <p:cNvGrpSpPr/>
            <p:nvPr/>
          </p:nvGrpSpPr>
          <p:grpSpPr>
            <a:xfrm>
              <a:off x="371475" y="371475"/>
              <a:ext cx="8401125" cy="4400625"/>
              <a:chOff x="371475" y="371475"/>
              <a:chExt cx="8401125" cy="4400625"/>
            </a:xfrm>
          </p:grpSpPr>
          <p:pic>
            <p:nvPicPr>
              <p:cNvPr id="61" name="Google Shape;61;p1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71475" y="371475"/>
                <a:ext cx="200100" cy="2001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2" name="Google Shape;62;p1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8572500" y="371475"/>
                <a:ext cx="200100" cy="2001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3" name="Google Shape;63;p14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71475" y="4572000"/>
                <a:ext cx="200100" cy="2001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4" name="Google Shape;64;p14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8572500" y="4572000"/>
                <a:ext cx="200100" cy="2001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65" name="Google Shape;65;p14"/>
            <p:cNvGrpSpPr/>
            <p:nvPr/>
          </p:nvGrpSpPr>
          <p:grpSpPr>
            <a:xfrm>
              <a:off x="3667125" y="523875"/>
              <a:ext cx="1733700" cy="304950"/>
              <a:chOff x="0" y="0"/>
              <a:chExt cx="1733700" cy="304950"/>
            </a:xfrm>
          </p:grpSpPr>
          <p:sp>
            <p:nvSpPr>
              <p:cNvPr id="66" name="Google Shape;66;p14"/>
              <p:cNvSpPr/>
              <p:nvPr/>
            </p:nvSpPr>
            <p:spPr>
              <a:xfrm>
                <a:off x="0" y="0"/>
                <a:ext cx="228600" cy="2286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60000" y="0"/>
                    </a:lnTo>
                    <a:lnTo>
                      <a:pt x="120000" y="120000"/>
                    </a:lnTo>
                    <a:lnTo>
                      <a:pt x="60000" y="90000"/>
                    </a:lnTo>
                    <a:close/>
                  </a:path>
                </a:pathLst>
              </a:cu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" name="Google Shape;67;p14"/>
              <p:cNvSpPr/>
              <p:nvPr/>
            </p:nvSpPr>
            <p:spPr>
              <a:xfrm>
                <a:off x="114300" y="0"/>
                <a:ext cx="114300" cy="2286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120000"/>
                    </a:lnTo>
                    <a:lnTo>
                      <a:pt x="0" y="90000"/>
                    </a:lnTo>
                    <a:close/>
                  </a:path>
                </a:pathLst>
              </a:custGeom>
              <a:solidFill>
                <a:srgbClr val="CC8F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" name="Google Shape;68;p14"/>
              <p:cNvSpPr txBox="1"/>
              <p:nvPr/>
            </p:nvSpPr>
            <p:spPr>
              <a:xfrm>
                <a:off x="304800" y="19050"/>
                <a:ext cx="1428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800">
                    <a:solidFill>
                      <a:srgbClr val="F0F4F8"/>
                    </a:solidFill>
                    <a:latin typeface="Rajdhani"/>
                    <a:ea typeface="Rajdhani"/>
                    <a:cs typeface="Rajdhani"/>
                    <a:sym typeface="Rajdhani"/>
                  </a:rPr>
                  <a:t>AERO</a:t>
                </a:r>
                <a:r>
                  <a:rPr b="1" lang="en" sz="1800">
                    <a:solidFill>
                      <a:srgbClr val="8A9BB3"/>
                    </a:solidFill>
                    <a:latin typeface="Rajdhani"/>
                    <a:ea typeface="Rajdhani"/>
                    <a:cs typeface="Rajdhani"/>
                    <a:sym typeface="Rajdhani"/>
                  </a:rPr>
                  <a:t>READY</a:t>
                </a:r>
                <a:endParaRPr b="1" sz="18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endParaRPr>
              </a:p>
            </p:txBody>
          </p:sp>
        </p:grpSp>
        <p:sp>
          <p:nvSpPr>
            <p:cNvPr id="69" name="Google Shape;69;p14"/>
            <p:cNvSpPr/>
            <p:nvPr/>
          </p:nvSpPr>
          <p:spPr>
            <a:xfrm>
              <a:off x="952500" y="1428750"/>
              <a:ext cx="72390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7895" y="0"/>
                  </a:lnTo>
                  <a:moveTo>
                    <a:pt x="120000" y="0"/>
                  </a:moveTo>
                  <a:lnTo>
                    <a:pt x="112105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9050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4"/>
            <p:cNvSpPr/>
            <p:nvPr/>
          </p:nvSpPr>
          <p:spPr>
            <a:xfrm>
              <a:off x="952500" y="4524375"/>
              <a:ext cx="72390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7895" y="0"/>
                  </a:lnTo>
                  <a:moveTo>
                    <a:pt x="120000" y="0"/>
                  </a:moveTo>
                  <a:lnTo>
                    <a:pt x="112105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9050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71" name="Google Shape;71;p14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4562475" y="1333500"/>
              <a:ext cx="19200" cy="32862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2" name="Google Shape;72;p14"/>
          <p:cNvSpPr txBox="1"/>
          <p:nvPr/>
        </p:nvSpPr>
        <p:spPr>
          <a:xfrm>
            <a:off x="571500" y="1571625"/>
            <a:ext cx="8001000" cy="219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4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AeroReady</a:t>
            </a:r>
            <a:endParaRPr b="1" sz="4400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" sz="20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Mission Readiness &amp; Predictive Maintenance Copilot</a:t>
            </a:r>
            <a:endParaRPr b="0" sz="2000">
              <a:solidFill>
                <a:srgbClr val="FFB300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  <a:p>
            <a:pPr indent="0" lvl="0" marL="0" rtl="0" algn="ctr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F0F4F8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From sensor evidence to mission-readiness decisions.</a:t>
            </a:r>
            <a:endParaRPr b="0" sz="1300">
              <a:solidFill>
                <a:srgbClr val="F0F4F8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grpSp>
        <p:nvGrpSpPr>
          <p:cNvPr id="73" name="Google Shape;73;p14"/>
          <p:cNvGrpSpPr/>
          <p:nvPr/>
        </p:nvGrpSpPr>
        <p:grpSpPr>
          <a:xfrm>
            <a:off x="1333500" y="3857625"/>
            <a:ext cx="6477000" cy="495300"/>
            <a:chOff x="0" y="0"/>
            <a:chExt cx="6477000" cy="495300"/>
          </a:xfrm>
        </p:grpSpPr>
        <p:sp>
          <p:nvSpPr>
            <p:cNvPr id="74" name="Google Shape;74;p14"/>
            <p:cNvSpPr/>
            <p:nvPr/>
          </p:nvSpPr>
          <p:spPr>
            <a:xfrm>
              <a:off x="0" y="0"/>
              <a:ext cx="6477000" cy="495300"/>
            </a:xfrm>
            <a:prstGeom prst="roundRect">
              <a:avLst>
                <a:gd fmla="val 3846" name="adj"/>
              </a:avLst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4"/>
            <p:cNvSpPr/>
            <p:nvPr/>
          </p:nvSpPr>
          <p:spPr>
            <a:xfrm>
              <a:off x="0" y="0"/>
              <a:ext cx="28500" cy="4953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4"/>
            <p:cNvSpPr/>
            <p:nvPr/>
          </p:nvSpPr>
          <p:spPr>
            <a:xfrm>
              <a:off x="6448425" y="0"/>
              <a:ext cx="28500" cy="4953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14"/>
            <p:cNvSpPr txBox="1"/>
            <p:nvPr/>
          </p:nvSpPr>
          <p:spPr>
            <a:xfrm>
              <a:off x="142875" y="0"/>
              <a:ext cx="61914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8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TEAM ASTRAEA</a:t>
              </a:r>
              <a:endParaRPr b="0" sz="1018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900"/>
                </a:spcAft>
                <a:buNone/>
              </a:pPr>
              <a:r>
                <a:rPr b="0" lang="en" sz="1018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IBM Bob Hackathon — Defense &amp; Aerospace Track D1: Mission Readiness &amp; Predictive Maintenance</a:t>
              </a:r>
              <a:endParaRPr b="0" sz="1018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78" name="Google Shape;78;p14"/>
          <p:cNvSpPr txBox="1"/>
          <p:nvPr/>
        </p:nvSpPr>
        <p:spPr>
          <a:xfrm>
            <a:off x="7239000" y="476250"/>
            <a:ext cx="1524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0E676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SYS_READY // D1-TRACK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4" name="Google Shape;84;p15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85" name="Google Shape;85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6" name="Google Shape;86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81500" y="2381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7" name="Google Shape;87;p15"/>
          <p:cNvGrpSpPr/>
          <p:nvPr/>
        </p:nvGrpSpPr>
        <p:grpSpPr>
          <a:xfrm>
            <a:off x="180975" y="133350"/>
            <a:ext cx="8782050" cy="4876800"/>
            <a:chOff x="180975" y="133350"/>
            <a:chExt cx="8782050" cy="4876800"/>
          </a:xfrm>
        </p:grpSpPr>
        <p:pic>
          <p:nvPicPr>
            <p:cNvPr id="88" name="Google Shape;88;p1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80975" y="133350"/>
              <a:ext cx="152400" cy="152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9" name="Google Shape;89;p1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810625" y="133350"/>
              <a:ext cx="152400" cy="152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0" name="Google Shape;90;p1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180975" y="4857750"/>
              <a:ext cx="152400" cy="152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1" name="Google Shape;91;p1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8810625" y="4857750"/>
              <a:ext cx="152400" cy="1524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2" name="Google Shape;92;p15"/>
          <p:cNvGrpSpPr/>
          <p:nvPr/>
        </p:nvGrpSpPr>
        <p:grpSpPr>
          <a:xfrm>
            <a:off x="381000" y="190500"/>
            <a:ext cx="1600200" cy="228600"/>
            <a:chOff x="0" y="-19050"/>
            <a:chExt cx="1600200" cy="228600"/>
          </a:xfrm>
        </p:grpSpPr>
        <p:sp>
          <p:nvSpPr>
            <p:cNvPr id="93" name="Google Shape;93;p15"/>
            <p:cNvSpPr/>
            <p:nvPr/>
          </p:nvSpPr>
          <p:spPr>
            <a:xfrm>
              <a:off x="0" y="0"/>
              <a:ext cx="190500" cy="1905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lnTo>
                    <a:pt x="60000" y="9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5"/>
            <p:cNvSpPr/>
            <p:nvPr/>
          </p:nvSpPr>
          <p:spPr>
            <a:xfrm>
              <a:off x="95250" y="0"/>
              <a:ext cx="95400" cy="1905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120000"/>
                  </a:lnTo>
                  <a:lnTo>
                    <a:pt x="0" y="90000"/>
                  </a:lnTo>
                  <a:close/>
                </a:path>
              </a:pathLst>
            </a:custGeom>
            <a:solidFill>
              <a:srgbClr val="CC8F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15"/>
            <p:cNvSpPr txBox="1"/>
            <p:nvPr/>
          </p:nvSpPr>
          <p:spPr>
            <a:xfrm>
              <a:off x="266700" y="-19050"/>
              <a:ext cx="1333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400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 b="1" sz="14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sp>
        <p:nvSpPr>
          <p:cNvPr id="96" name="Google Shape;96;p15"/>
          <p:cNvSpPr txBox="1"/>
          <p:nvPr/>
        </p:nvSpPr>
        <p:spPr>
          <a:xfrm>
            <a:off x="1905000" y="142875"/>
            <a:ext cx="68580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95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Operational Assessment Gap</a:t>
            </a:r>
            <a:endParaRPr b="0" sz="1295">
              <a:solidFill>
                <a:srgbClr val="FFB300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1" lang="en" sz="2405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Readiness Data Exists. A Readiness Answer Doesn't.</a:t>
            </a:r>
            <a:endParaRPr b="1" sz="2405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97" name="Google Shape;97;p15"/>
          <p:cNvSpPr/>
          <p:nvPr/>
        </p:nvSpPr>
        <p:spPr>
          <a:xfrm>
            <a:off x="381000" y="904875"/>
            <a:ext cx="8382000" cy="9600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381000" y="904875"/>
            <a:ext cx="1143000" cy="19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9" name="Google Shape;99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471988" y="1095375"/>
            <a:ext cx="9600" cy="3695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5"/>
          <p:cNvSpPr/>
          <p:nvPr/>
        </p:nvSpPr>
        <p:spPr>
          <a:xfrm>
            <a:off x="4438650" y="2914650"/>
            <a:ext cx="76200" cy="76200"/>
          </a:xfrm>
          <a:prstGeom prst="ellipse">
            <a:avLst/>
          </a:prstGeom>
          <a:solidFill>
            <a:srgbClr val="080C13"/>
          </a:solidFill>
          <a:ln cap="flat" cmpd="sng" w="95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381000" y="1047750"/>
            <a:ext cx="3905400" cy="904800"/>
            <a:chOff x="0" y="0"/>
            <a:chExt cx="3905400" cy="904800"/>
          </a:xfrm>
        </p:grpSpPr>
        <p:sp>
          <p:nvSpPr>
            <p:cNvPr id="102" name="Google Shape;102;p15"/>
            <p:cNvSpPr/>
            <p:nvPr/>
          </p:nvSpPr>
          <p:spPr>
            <a:xfrm>
              <a:off x="0" y="0"/>
              <a:ext cx="3905400" cy="904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0" y="0"/>
              <a:ext cx="3905400" cy="285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15"/>
            <p:cNvSpPr txBox="1"/>
            <p:nvPr/>
          </p:nvSpPr>
          <p:spPr>
            <a:xfrm>
              <a:off x="152400" y="114300"/>
              <a:ext cx="36006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7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Military and aerospace organizations possess large volumes of sensor and service information, but decision-makers lack a single, timely assessment of mission readiness.</a:t>
              </a:r>
              <a:endParaRPr b="0" sz="77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735">
                  <a:solidFill>
                    <a:srgbClr val="FFB30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Challenge: Determine readiness now, rather than simply predicting component failure.</a:t>
              </a:r>
              <a:endParaRPr b="0" sz="735">
                <a:solidFill>
                  <a:srgbClr val="FFB30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105" name="Google Shape;105;p15"/>
          <p:cNvSpPr txBox="1"/>
          <p:nvPr/>
        </p:nvSpPr>
        <p:spPr>
          <a:xfrm>
            <a:off x="381000" y="2047875"/>
            <a:ext cx="39054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KEY OPERATIONAL QUESTIONS</a:t>
            </a:r>
            <a:endParaRPr b="0" sz="1000">
              <a:solidFill>
                <a:srgbClr val="00E5FF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381000" y="2333625"/>
            <a:ext cx="3905400" cy="2476500"/>
            <a:chOff x="0" y="0"/>
            <a:chExt cx="3905400" cy="2476500"/>
          </a:xfrm>
        </p:grpSpPr>
        <p:sp>
          <p:nvSpPr>
            <p:cNvPr id="107" name="Google Shape;107;p15"/>
            <p:cNvSpPr/>
            <p:nvPr/>
          </p:nvSpPr>
          <p:spPr>
            <a:xfrm>
              <a:off x="0" y="0"/>
              <a:ext cx="3905400" cy="24765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0" y="0"/>
              <a:ext cx="28500" cy="2476500"/>
            </a:xfrm>
            <a:prstGeom prst="rect">
              <a:avLst/>
            </a:prstGeom>
            <a:solidFill>
              <a:srgbClr val="223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152400" y="114300"/>
              <a:ext cx="3600600" cy="22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Is an asset ready for the planned mission window?</a:t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How much Remaining Useful Life (RUL) remains?</a:t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Does sufficient safety margin exist?</a:t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Which sensors show abnormality or degradation?</a:t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Which assets require maintenance first?</a:t>
              </a:r>
              <a:endParaRPr/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Why is a particular asset not mission-ready?</a:t>
              </a:r>
              <a:endParaRPr/>
            </a:p>
          </p:txBody>
        </p:sp>
      </p:grpSp>
      <p:sp>
        <p:nvSpPr>
          <p:cNvPr id="110" name="Google Shape;110;p15"/>
          <p:cNvSpPr txBox="1"/>
          <p:nvPr/>
        </p:nvSpPr>
        <p:spPr>
          <a:xfrm>
            <a:off x="4762500" y="1047750"/>
            <a:ext cx="40005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READINESS ASSESSMENT FLOW</a:t>
            </a:r>
            <a:endParaRPr b="0" sz="1000">
              <a:solidFill>
                <a:srgbClr val="00E5FF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</p:txBody>
      </p:sp>
      <p:grpSp>
        <p:nvGrpSpPr>
          <p:cNvPr id="111" name="Google Shape;111;p15"/>
          <p:cNvGrpSpPr/>
          <p:nvPr/>
        </p:nvGrpSpPr>
        <p:grpSpPr>
          <a:xfrm>
            <a:off x="5305425" y="1333500"/>
            <a:ext cx="2914800" cy="495300"/>
            <a:chOff x="-28575" y="0"/>
            <a:chExt cx="2914800" cy="495300"/>
          </a:xfrm>
        </p:grpSpPr>
        <p:sp>
          <p:nvSpPr>
            <p:cNvPr id="112" name="Google Shape;112;p15"/>
            <p:cNvSpPr/>
            <p:nvPr/>
          </p:nvSpPr>
          <p:spPr>
            <a:xfrm>
              <a:off x="0" y="0"/>
              <a:ext cx="2857500" cy="495300"/>
            </a:xfrm>
            <a:prstGeom prst="rect">
              <a:avLst/>
            </a:prstGeom>
            <a:solidFill>
              <a:srgbClr val="111A28"/>
            </a:solidFill>
            <a:ln cap="flat" cmpd="sng" w="14300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5"/>
            <p:cNvSpPr/>
            <p:nvPr/>
          </p:nvSpPr>
          <p:spPr>
            <a:xfrm>
              <a:off x="0" y="0"/>
              <a:ext cx="38100" cy="495300"/>
            </a:xfrm>
            <a:prstGeom prst="rect">
              <a:avLst/>
            </a:prstGeom>
            <a:solidFill>
              <a:srgbClr val="8A9BB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5"/>
            <p:cNvSpPr/>
            <p:nvPr/>
          </p:nvSpPr>
          <p:spPr>
            <a:xfrm>
              <a:off x="-28575" y="219075"/>
              <a:ext cx="57300" cy="57300"/>
            </a:xfrm>
            <a:prstGeom prst="ellipse">
              <a:avLst/>
            </a:prstGeom>
            <a:solidFill>
              <a:srgbClr val="8A9BB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5"/>
            <p:cNvSpPr/>
            <p:nvPr/>
          </p:nvSpPr>
          <p:spPr>
            <a:xfrm>
              <a:off x="2828925" y="219075"/>
              <a:ext cx="57300" cy="57300"/>
            </a:xfrm>
            <a:prstGeom prst="ellipse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5"/>
            <p:cNvSpPr txBox="1"/>
            <p:nvPr/>
          </p:nvSpPr>
          <p:spPr>
            <a:xfrm>
              <a:off x="142875" y="57150"/>
              <a:ext cx="2571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STAGE 01 // INPUT</a:t>
              </a:r>
              <a:endParaRPr b="0" sz="8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0F4F8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Raw Sensor Data</a:t>
              </a:r>
              <a:endParaRPr b="0" sz="1100">
                <a:solidFill>
                  <a:srgbClr val="F0F4F8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117" name="Google Shape;117;p15"/>
          <p:cNvGrpSpPr/>
          <p:nvPr/>
        </p:nvGrpSpPr>
        <p:grpSpPr>
          <a:xfrm>
            <a:off x="6629400" y="1857375"/>
            <a:ext cx="76200" cy="152550"/>
            <a:chOff x="-38100" y="0"/>
            <a:chExt cx="76200" cy="152550"/>
          </a:xfrm>
        </p:grpSpPr>
        <p:pic>
          <p:nvPicPr>
            <p:cNvPr id="118" name="Google Shape;118;p15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-9525" y="0"/>
              <a:ext cx="19200" cy="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9" name="Google Shape;119;p15"/>
            <p:cNvSpPr/>
            <p:nvPr/>
          </p:nvSpPr>
          <p:spPr>
            <a:xfrm>
              <a:off x="-38100" y="9525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60000" y="12000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0" name="Google Shape;120;p15"/>
          <p:cNvGrpSpPr/>
          <p:nvPr/>
        </p:nvGrpSpPr>
        <p:grpSpPr>
          <a:xfrm>
            <a:off x="5305425" y="2047875"/>
            <a:ext cx="2914800" cy="495300"/>
            <a:chOff x="-28575" y="0"/>
            <a:chExt cx="2914800" cy="495300"/>
          </a:xfrm>
        </p:grpSpPr>
        <p:sp>
          <p:nvSpPr>
            <p:cNvPr id="121" name="Google Shape;121;p15"/>
            <p:cNvSpPr/>
            <p:nvPr/>
          </p:nvSpPr>
          <p:spPr>
            <a:xfrm>
              <a:off x="0" y="0"/>
              <a:ext cx="2857500" cy="495300"/>
            </a:xfrm>
            <a:prstGeom prst="rect">
              <a:avLst/>
            </a:prstGeom>
            <a:solidFill>
              <a:srgbClr val="111A28"/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5"/>
            <p:cNvSpPr/>
            <p:nvPr/>
          </p:nvSpPr>
          <p:spPr>
            <a:xfrm>
              <a:off x="-28575" y="219075"/>
              <a:ext cx="57300" cy="57300"/>
            </a:xfrm>
            <a:prstGeom prst="ellipse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2828925" y="219075"/>
              <a:ext cx="57300" cy="57300"/>
            </a:xfrm>
            <a:prstGeom prst="ellipse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5"/>
            <p:cNvSpPr txBox="1"/>
            <p:nvPr/>
          </p:nvSpPr>
          <p:spPr>
            <a:xfrm>
              <a:off x="142875" y="57150"/>
              <a:ext cx="2571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STAGE 02 // ANALYTICS</a:t>
              </a:r>
              <a:endParaRPr b="0" sz="8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RUL Prediction</a:t>
              </a:r>
              <a:endParaRPr b="0" sz="11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125" name="Google Shape;125;p15"/>
          <p:cNvGrpSpPr/>
          <p:nvPr/>
        </p:nvGrpSpPr>
        <p:grpSpPr>
          <a:xfrm>
            <a:off x="6629400" y="2571750"/>
            <a:ext cx="76200" cy="152550"/>
            <a:chOff x="-38100" y="0"/>
            <a:chExt cx="76200" cy="152550"/>
          </a:xfrm>
        </p:grpSpPr>
        <p:pic>
          <p:nvPicPr>
            <p:cNvPr id="126" name="Google Shape;126;p15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-9525" y="0"/>
              <a:ext cx="19200" cy="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7" name="Google Shape;127;p15"/>
            <p:cNvSpPr/>
            <p:nvPr/>
          </p:nvSpPr>
          <p:spPr>
            <a:xfrm>
              <a:off x="-38100" y="9525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60000" y="12000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8" name="Google Shape;128;p15"/>
          <p:cNvGrpSpPr/>
          <p:nvPr/>
        </p:nvGrpSpPr>
        <p:grpSpPr>
          <a:xfrm>
            <a:off x="5305425" y="2762250"/>
            <a:ext cx="2914800" cy="495300"/>
            <a:chOff x="-28575" y="0"/>
            <a:chExt cx="2914800" cy="495300"/>
          </a:xfrm>
        </p:grpSpPr>
        <p:sp>
          <p:nvSpPr>
            <p:cNvPr id="129" name="Google Shape;129;p15"/>
            <p:cNvSpPr/>
            <p:nvPr/>
          </p:nvSpPr>
          <p:spPr>
            <a:xfrm>
              <a:off x="0" y="0"/>
              <a:ext cx="2857500" cy="495300"/>
            </a:xfrm>
            <a:prstGeom prst="rect">
              <a:avLst/>
            </a:prstGeom>
            <a:solidFill>
              <a:srgbClr val="111A28"/>
            </a:solidFill>
            <a:ln cap="flat" cmpd="sng" w="14300">
              <a:solidFill>
                <a:srgbClr val="FFB3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-28575" y="219075"/>
              <a:ext cx="57300" cy="57300"/>
            </a:xfrm>
            <a:prstGeom prst="ellipse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15"/>
            <p:cNvSpPr/>
            <p:nvPr/>
          </p:nvSpPr>
          <p:spPr>
            <a:xfrm>
              <a:off x="2828925" y="219075"/>
              <a:ext cx="57300" cy="57300"/>
            </a:xfrm>
            <a:prstGeom prst="ellipse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15"/>
            <p:cNvSpPr txBox="1"/>
            <p:nvPr/>
          </p:nvSpPr>
          <p:spPr>
            <a:xfrm>
              <a:off x="142875" y="57150"/>
              <a:ext cx="2571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FFB300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STAGE 03 // DIAGNOSTICS</a:t>
              </a:r>
              <a:endParaRPr b="0" sz="800">
                <a:solidFill>
                  <a:srgbClr val="FFB300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Sensor Health</a:t>
              </a:r>
              <a:endParaRPr b="0" sz="11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133" name="Google Shape;133;p15"/>
          <p:cNvGrpSpPr/>
          <p:nvPr/>
        </p:nvGrpSpPr>
        <p:grpSpPr>
          <a:xfrm>
            <a:off x="6629400" y="3286125"/>
            <a:ext cx="76200" cy="152550"/>
            <a:chOff x="-38100" y="0"/>
            <a:chExt cx="76200" cy="152550"/>
          </a:xfrm>
        </p:grpSpPr>
        <p:pic>
          <p:nvPicPr>
            <p:cNvPr id="134" name="Google Shape;134;p15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-9525" y="0"/>
              <a:ext cx="19200" cy="95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" name="Google Shape;135;p15"/>
            <p:cNvSpPr/>
            <p:nvPr/>
          </p:nvSpPr>
          <p:spPr>
            <a:xfrm>
              <a:off x="-38100" y="9525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60000" y="12000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36" name="Google Shape;136;p15"/>
          <p:cNvGrpSpPr/>
          <p:nvPr/>
        </p:nvGrpSpPr>
        <p:grpSpPr>
          <a:xfrm>
            <a:off x="5305425" y="3476625"/>
            <a:ext cx="2914800" cy="495300"/>
            <a:chOff x="-28575" y="0"/>
            <a:chExt cx="2914800" cy="495300"/>
          </a:xfrm>
        </p:grpSpPr>
        <p:sp>
          <p:nvSpPr>
            <p:cNvPr id="137" name="Google Shape;137;p15"/>
            <p:cNvSpPr/>
            <p:nvPr/>
          </p:nvSpPr>
          <p:spPr>
            <a:xfrm>
              <a:off x="0" y="0"/>
              <a:ext cx="2857500" cy="495300"/>
            </a:xfrm>
            <a:prstGeom prst="rect">
              <a:avLst/>
            </a:prstGeom>
            <a:solidFill>
              <a:srgbClr val="111A28"/>
            </a:solidFill>
            <a:ln cap="flat" cmpd="sng" w="14300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5"/>
            <p:cNvSpPr/>
            <p:nvPr/>
          </p:nvSpPr>
          <p:spPr>
            <a:xfrm>
              <a:off x="-28575" y="219075"/>
              <a:ext cx="57300" cy="57300"/>
            </a:xfrm>
            <a:prstGeom prst="ellipse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15"/>
            <p:cNvSpPr/>
            <p:nvPr/>
          </p:nvSpPr>
          <p:spPr>
            <a:xfrm>
              <a:off x="2828925" y="219075"/>
              <a:ext cx="57300" cy="57300"/>
            </a:xfrm>
            <a:prstGeom prst="ellipse">
              <a:avLst/>
            </a:prstGeom>
            <a:solidFill>
              <a:srgbClr val="00E67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15"/>
            <p:cNvSpPr txBox="1"/>
            <p:nvPr/>
          </p:nvSpPr>
          <p:spPr>
            <a:xfrm>
              <a:off x="142875" y="57150"/>
              <a:ext cx="2571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STAGE 04 // OPERATIONAL FRAMEWORK</a:t>
              </a:r>
              <a:endParaRPr b="0" sz="8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0F4F8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Mission Context</a:t>
              </a:r>
              <a:endParaRPr b="0" sz="1100">
                <a:solidFill>
                  <a:srgbClr val="F0F4F8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141" name="Google Shape;141;p15"/>
          <p:cNvGrpSpPr/>
          <p:nvPr/>
        </p:nvGrpSpPr>
        <p:grpSpPr>
          <a:xfrm>
            <a:off x="6629400" y="4000500"/>
            <a:ext cx="76200" cy="152550"/>
            <a:chOff x="-38100" y="0"/>
            <a:chExt cx="76200" cy="152550"/>
          </a:xfrm>
        </p:grpSpPr>
        <p:sp>
          <p:nvSpPr>
            <p:cNvPr id="142" name="Google Shape;142;p15"/>
            <p:cNvSpPr/>
            <p:nvPr/>
          </p:nvSpPr>
          <p:spPr>
            <a:xfrm>
              <a:off x="0" y="0"/>
              <a:ext cx="0" cy="114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67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15"/>
            <p:cNvSpPr/>
            <p:nvPr/>
          </p:nvSpPr>
          <p:spPr>
            <a:xfrm>
              <a:off x="-38100" y="95250"/>
              <a:ext cx="76200" cy="573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60000" y="120000"/>
                  </a:lnTo>
                  <a:lnTo>
                    <a:pt x="120000" y="0"/>
                  </a:lnTo>
                  <a:close/>
                </a:path>
              </a:pathLst>
            </a:custGeom>
            <a:solidFill>
              <a:srgbClr val="00E67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44" name="Google Shape;144;p15"/>
          <p:cNvGrpSpPr/>
          <p:nvPr/>
        </p:nvGrpSpPr>
        <p:grpSpPr>
          <a:xfrm>
            <a:off x="5048250" y="4191000"/>
            <a:ext cx="8477400" cy="4810275"/>
            <a:chOff x="0" y="0"/>
            <a:chExt cx="8477400" cy="4810275"/>
          </a:xfrm>
        </p:grpSpPr>
        <p:sp>
          <p:nvSpPr>
            <p:cNvPr id="145" name="Google Shape;145;p15"/>
            <p:cNvSpPr/>
            <p:nvPr/>
          </p:nvSpPr>
          <p:spPr>
            <a:xfrm>
              <a:off x="0" y="0"/>
              <a:ext cx="3429000" cy="619200"/>
            </a:xfrm>
            <a:prstGeom prst="rect">
              <a:avLst/>
            </a:prstGeom>
            <a:solidFill>
              <a:srgbClr val="111A28"/>
            </a:solidFill>
            <a:ln cap="flat" cmpd="sng" w="19050">
              <a:solidFill>
                <a:srgbClr val="00E67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5048250" y="4191000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sq" cmpd="sng" w="28575">
              <a:solidFill>
                <a:srgbClr val="00E67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15"/>
            <p:cNvSpPr/>
            <p:nvPr/>
          </p:nvSpPr>
          <p:spPr>
            <a:xfrm>
              <a:off x="8382000" y="4191000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120000" y="0"/>
                  </a:moveTo>
                  <a:lnTo>
                    <a:pt x="0" y="0"/>
                  </a:lnTo>
                  <a:moveTo>
                    <a:pt x="120000" y="0"/>
                  </a:move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sq" cmpd="sng" w="28575">
              <a:solidFill>
                <a:srgbClr val="00E67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>
              <a:off x="5048250" y="47148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120000" y="120000"/>
                  </a:lnTo>
                  <a:moveTo>
                    <a:pt x="0" y="120000"/>
                  </a:moveTo>
                  <a:lnTo>
                    <a:pt x="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sq" cmpd="sng" w="28575">
              <a:solidFill>
                <a:srgbClr val="00E67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15"/>
            <p:cNvSpPr/>
            <p:nvPr/>
          </p:nvSpPr>
          <p:spPr>
            <a:xfrm>
              <a:off x="8382000" y="47148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120000" y="120000"/>
                  </a:moveTo>
                  <a:lnTo>
                    <a:pt x="0" y="120000"/>
                  </a:lnTo>
                  <a:moveTo>
                    <a:pt x="120000" y="12000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sq" cmpd="sng" w="28575">
              <a:solidFill>
                <a:srgbClr val="00E67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15"/>
            <p:cNvSpPr txBox="1"/>
            <p:nvPr/>
          </p:nvSpPr>
          <p:spPr>
            <a:xfrm>
              <a:off x="190500" y="76200"/>
              <a:ext cx="3048000" cy="46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0E676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STAGE 05 // ACTIONABLE OUTCOME</a:t>
              </a:r>
              <a:endParaRPr b="0" sz="900">
                <a:solidFill>
                  <a:srgbClr val="00E676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E676"/>
                  </a:solidFill>
                  <a:latin typeface="Rajdhani"/>
                  <a:ea typeface="Rajdhani"/>
                  <a:cs typeface="Rajdhani"/>
                  <a:sym typeface="Rajdhani"/>
                </a:rPr>
                <a:t>Operational Decision</a:t>
              </a:r>
              <a:endParaRPr b="1" sz="1400">
                <a:solidFill>
                  <a:srgbClr val="00E676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grpSp>
        <p:nvGrpSpPr>
          <p:cNvPr id="151" name="Google Shape;151;p15"/>
          <p:cNvGrpSpPr/>
          <p:nvPr/>
        </p:nvGrpSpPr>
        <p:grpSpPr>
          <a:xfrm>
            <a:off x="4714875" y="1381125"/>
            <a:ext cx="95400" cy="3333900"/>
            <a:chOff x="4714875" y="1381125"/>
            <a:chExt cx="95400" cy="3333900"/>
          </a:xfrm>
        </p:grpSpPr>
        <p:sp>
          <p:nvSpPr>
            <p:cNvPr id="152" name="Google Shape;152;p15"/>
            <p:cNvSpPr/>
            <p:nvPr/>
          </p:nvSpPr>
          <p:spPr>
            <a:xfrm>
              <a:off x="4762500" y="1381125"/>
              <a:ext cx="0" cy="33339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4714875" y="1381125"/>
              <a:ext cx="954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4714875" y="4714875"/>
              <a:ext cx="95400" cy="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3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oogle Shape;159;p16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60" name="Google Shape;160;p16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381500" y="2381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2" name="Google Shape;162;p16"/>
          <p:cNvGrpSpPr/>
          <p:nvPr/>
        </p:nvGrpSpPr>
        <p:grpSpPr>
          <a:xfrm>
            <a:off x="276225" y="276225"/>
            <a:ext cx="8591625" cy="4591125"/>
            <a:chOff x="276225" y="276225"/>
            <a:chExt cx="8591625" cy="4591125"/>
          </a:xfrm>
        </p:grpSpPr>
        <p:pic>
          <p:nvPicPr>
            <p:cNvPr id="163" name="Google Shape;163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76225" y="27622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4" name="Google Shape;164;p1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8667750" y="27622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5" name="Google Shape;165;p1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276225" y="466725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6" name="Google Shape;166;p16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8667750" y="466725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7" name="Google Shape;167;p16"/>
          <p:cNvGrpSpPr/>
          <p:nvPr/>
        </p:nvGrpSpPr>
        <p:grpSpPr>
          <a:xfrm>
            <a:off x="381000" y="266700"/>
            <a:ext cx="1676550" cy="228600"/>
            <a:chOff x="0" y="-19050"/>
            <a:chExt cx="1676550" cy="228600"/>
          </a:xfrm>
        </p:grpSpPr>
        <p:sp>
          <p:nvSpPr>
            <p:cNvPr id="168" name="Google Shape;168;p16"/>
            <p:cNvSpPr/>
            <p:nvPr/>
          </p:nvSpPr>
          <p:spPr>
            <a:xfrm>
              <a:off x="0" y="0"/>
              <a:ext cx="190500" cy="1905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lnTo>
                    <a:pt x="60000" y="9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" name="Google Shape;169;p16"/>
            <p:cNvSpPr/>
            <p:nvPr/>
          </p:nvSpPr>
          <p:spPr>
            <a:xfrm>
              <a:off x="95250" y="0"/>
              <a:ext cx="95400" cy="1905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120000"/>
                  </a:lnTo>
                  <a:lnTo>
                    <a:pt x="0" y="90000"/>
                  </a:lnTo>
                  <a:close/>
                </a:path>
              </a:pathLst>
            </a:custGeom>
            <a:solidFill>
              <a:srgbClr val="CC8F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6"/>
            <p:cNvSpPr txBox="1"/>
            <p:nvPr/>
          </p:nvSpPr>
          <p:spPr>
            <a:xfrm>
              <a:off x="247650" y="-19050"/>
              <a:ext cx="1428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500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 b="1" sz="15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sp>
        <p:nvSpPr>
          <p:cNvPr id="171" name="Google Shape;171;p16"/>
          <p:cNvSpPr txBox="1"/>
          <p:nvPr/>
        </p:nvSpPr>
        <p:spPr>
          <a:xfrm>
            <a:off x="2000250" y="209550"/>
            <a:ext cx="6762900" cy="8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1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AeroReady Converts Prediction Into Mission Readiness</a:t>
            </a:r>
            <a:endParaRPr b="1" sz="2210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105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Evidence-driven decision pipeline vs. generic chatbot architecture</a:t>
            </a:r>
            <a:endParaRPr b="0" sz="1105">
              <a:solidFill>
                <a:srgbClr val="8A9BB3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</p:txBody>
      </p:sp>
      <p:sp>
        <p:nvSpPr>
          <p:cNvPr id="172" name="Google Shape;172;p16"/>
          <p:cNvSpPr/>
          <p:nvPr/>
        </p:nvSpPr>
        <p:spPr>
          <a:xfrm>
            <a:off x="381000" y="1066800"/>
            <a:ext cx="8382000" cy="9600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6"/>
          <p:cNvSpPr/>
          <p:nvPr/>
        </p:nvSpPr>
        <p:spPr>
          <a:xfrm>
            <a:off x="381000" y="1066800"/>
            <a:ext cx="1143000" cy="19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381000" y="1171575"/>
            <a:ext cx="40005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// CORE DECISION PIPELINE</a:t>
            </a:r>
            <a:endParaRPr/>
          </a:p>
        </p:txBody>
      </p:sp>
      <p:pic>
        <p:nvPicPr>
          <p:cNvPr id="175" name="Google Shape;175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8175" y="1762125"/>
            <a:ext cx="19200" cy="26289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6" name="Google Shape;176;p16"/>
          <p:cNvGrpSpPr/>
          <p:nvPr/>
        </p:nvGrpSpPr>
        <p:grpSpPr>
          <a:xfrm>
            <a:off x="381000" y="1428750"/>
            <a:ext cx="4000500" cy="685800"/>
            <a:chOff x="0" y="0"/>
            <a:chExt cx="4000500" cy="685800"/>
          </a:xfrm>
        </p:grpSpPr>
        <p:sp>
          <p:nvSpPr>
            <p:cNvPr id="177" name="Google Shape;177;p16"/>
            <p:cNvSpPr/>
            <p:nvPr/>
          </p:nvSpPr>
          <p:spPr>
            <a:xfrm>
              <a:off x="0" y="0"/>
              <a:ext cx="4000500" cy="685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16"/>
            <p:cNvSpPr/>
            <p:nvPr/>
          </p:nvSpPr>
          <p:spPr>
            <a:xfrm>
              <a:off x="0" y="0"/>
              <a:ext cx="38100" cy="6858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16"/>
            <p:cNvSpPr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solidFill>
              <a:srgbClr val="080C13"/>
            </a:solidFill>
            <a:ln cap="flat" cmpd="sng" w="9525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16"/>
            <p:cNvSpPr txBox="1"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01</a:t>
              </a:r>
              <a:endParaRPr/>
            </a:p>
          </p:txBody>
        </p:sp>
        <p:sp>
          <p:nvSpPr>
            <p:cNvPr id="181" name="Google Shape;181;p16"/>
            <p:cNvSpPr txBox="1"/>
            <p:nvPr/>
          </p:nvSpPr>
          <p:spPr>
            <a:xfrm>
              <a:off x="476250" y="95250"/>
              <a:ext cx="3381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1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Data Ingestion &amp; Validation</a:t>
              </a:r>
              <a:endParaRPr b="1" sz="111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Continuous ingestion of raw multi-sensor telemetry and structured CSV data streams.</a:t>
              </a:r>
              <a:endParaRPr b="0" sz="92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2" name="Google Shape;182;p16"/>
          <p:cNvGrpSpPr/>
          <p:nvPr/>
        </p:nvGrpSpPr>
        <p:grpSpPr>
          <a:xfrm>
            <a:off x="381000" y="2228850"/>
            <a:ext cx="4000500" cy="685800"/>
            <a:chOff x="0" y="0"/>
            <a:chExt cx="4000500" cy="685800"/>
          </a:xfrm>
        </p:grpSpPr>
        <p:sp>
          <p:nvSpPr>
            <p:cNvPr id="183" name="Google Shape;183;p16"/>
            <p:cNvSpPr/>
            <p:nvPr/>
          </p:nvSpPr>
          <p:spPr>
            <a:xfrm>
              <a:off x="0" y="0"/>
              <a:ext cx="4000500" cy="685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16"/>
            <p:cNvSpPr/>
            <p:nvPr/>
          </p:nvSpPr>
          <p:spPr>
            <a:xfrm>
              <a:off x="0" y="0"/>
              <a:ext cx="38100" cy="6858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16"/>
            <p:cNvSpPr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solidFill>
              <a:srgbClr val="080C13"/>
            </a:solidFill>
            <a:ln cap="flat" cmpd="sng" w="9525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16"/>
            <p:cNvSpPr txBox="1"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02</a:t>
              </a:r>
              <a:endParaRPr/>
            </a:p>
          </p:txBody>
        </p:sp>
        <p:sp>
          <p:nvSpPr>
            <p:cNvPr id="187" name="Google Shape;187;p16"/>
            <p:cNvSpPr txBox="1"/>
            <p:nvPr/>
          </p:nvSpPr>
          <p:spPr>
            <a:xfrm>
              <a:off x="476250" y="95250"/>
              <a:ext cx="3381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1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LSTM RUL &amp; Health Analysis</a:t>
              </a:r>
              <a:endParaRPr b="1" sz="111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LSTM RUL prediction combined with Isolation Forest anomaly detection for asset health.</a:t>
              </a:r>
              <a:endParaRPr b="0" sz="92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88" name="Google Shape;188;p16"/>
          <p:cNvGrpSpPr/>
          <p:nvPr/>
        </p:nvGrpSpPr>
        <p:grpSpPr>
          <a:xfrm>
            <a:off x="381000" y="3028950"/>
            <a:ext cx="4000500" cy="685800"/>
            <a:chOff x="0" y="0"/>
            <a:chExt cx="4000500" cy="685800"/>
          </a:xfrm>
        </p:grpSpPr>
        <p:sp>
          <p:nvSpPr>
            <p:cNvPr id="189" name="Google Shape;189;p16"/>
            <p:cNvSpPr/>
            <p:nvPr/>
          </p:nvSpPr>
          <p:spPr>
            <a:xfrm>
              <a:off x="0" y="0"/>
              <a:ext cx="4000500" cy="685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0" name="Google Shape;190;p16"/>
            <p:cNvSpPr/>
            <p:nvPr/>
          </p:nvSpPr>
          <p:spPr>
            <a:xfrm>
              <a:off x="0" y="0"/>
              <a:ext cx="38100" cy="6858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16"/>
            <p:cNvSpPr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solidFill>
              <a:srgbClr val="080C13"/>
            </a:solidFill>
            <a:ln cap="flat" cmpd="sng" w="9525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2" name="Google Shape;192;p16"/>
            <p:cNvSpPr txBox="1"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03</a:t>
              </a:r>
              <a:endParaRPr/>
            </a:p>
          </p:txBody>
        </p:sp>
        <p:sp>
          <p:nvSpPr>
            <p:cNvPr id="193" name="Google Shape;193;p16"/>
            <p:cNvSpPr txBox="1"/>
            <p:nvPr/>
          </p:nvSpPr>
          <p:spPr>
            <a:xfrm>
              <a:off x="476250" y="95250"/>
              <a:ext cx="3381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1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Mission Readiness Engine</a:t>
              </a:r>
              <a:endParaRPr b="1" sz="111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Calculates operational Safety Margin, Risk factors, and real-time Readiness Score.</a:t>
              </a:r>
              <a:endParaRPr b="0" sz="92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94" name="Google Shape;194;p16"/>
          <p:cNvGrpSpPr/>
          <p:nvPr/>
        </p:nvGrpSpPr>
        <p:grpSpPr>
          <a:xfrm>
            <a:off x="381000" y="3829050"/>
            <a:ext cx="4000500" cy="685800"/>
            <a:chOff x="0" y="0"/>
            <a:chExt cx="4000500" cy="685800"/>
          </a:xfrm>
        </p:grpSpPr>
        <p:sp>
          <p:nvSpPr>
            <p:cNvPr id="195" name="Google Shape;195;p16"/>
            <p:cNvSpPr/>
            <p:nvPr/>
          </p:nvSpPr>
          <p:spPr>
            <a:xfrm>
              <a:off x="0" y="0"/>
              <a:ext cx="4000500" cy="685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6" name="Google Shape;196;p16"/>
            <p:cNvSpPr/>
            <p:nvPr/>
          </p:nvSpPr>
          <p:spPr>
            <a:xfrm>
              <a:off x="0" y="0"/>
              <a:ext cx="38100" cy="6858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16"/>
            <p:cNvSpPr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solidFill>
              <a:srgbClr val="080C13"/>
            </a:solidFill>
            <a:ln cap="flat" cmpd="sng" w="9525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16"/>
            <p:cNvSpPr txBox="1"/>
            <p:nvPr/>
          </p:nvSpPr>
          <p:spPr>
            <a:xfrm>
              <a:off x="152400" y="133350"/>
              <a:ext cx="2286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04</a:t>
              </a:r>
              <a:endParaRPr/>
            </a:p>
          </p:txBody>
        </p:sp>
        <p:sp>
          <p:nvSpPr>
            <p:cNvPr id="199" name="Google Shape;199;p16"/>
            <p:cNvSpPr txBox="1"/>
            <p:nvPr/>
          </p:nvSpPr>
          <p:spPr>
            <a:xfrm>
              <a:off x="476250" y="95250"/>
              <a:ext cx="33813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1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Maintenance Priority &amp; Copilot</a:t>
              </a:r>
              <a:endParaRPr b="1" sz="111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Outputs clear priority actions via an evidence-grounded operational assistant.</a:t>
              </a:r>
              <a:endParaRPr b="0" sz="92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200" name="Google Shape;200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14863" y="1238250"/>
            <a:ext cx="96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6"/>
          <p:cNvSpPr txBox="1"/>
          <p:nvPr/>
        </p:nvSpPr>
        <p:spPr>
          <a:xfrm>
            <a:off x="4762500" y="1171575"/>
            <a:ext cx="40005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// OPERATIONAL GOVERNANCE PRINCIPLES</a:t>
            </a:r>
            <a:endParaRPr/>
          </a:p>
        </p:txBody>
      </p:sp>
      <p:grpSp>
        <p:nvGrpSpPr>
          <p:cNvPr id="202" name="Google Shape;202;p16"/>
          <p:cNvGrpSpPr/>
          <p:nvPr/>
        </p:nvGrpSpPr>
        <p:grpSpPr>
          <a:xfrm>
            <a:off x="4762500" y="1428750"/>
            <a:ext cx="4000500" cy="933600"/>
            <a:chOff x="0" y="0"/>
            <a:chExt cx="4000500" cy="933600"/>
          </a:xfrm>
        </p:grpSpPr>
        <p:sp>
          <p:nvSpPr>
            <p:cNvPr id="203" name="Google Shape;203;p16"/>
            <p:cNvSpPr/>
            <p:nvPr/>
          </p:nvSpPr>
          <p:spPr>
            <a:xfrm>
              <a:off x="0" y="0"/>
              <a:ext cx="4000500" cy="9336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16"/>
            <p:cNvSpPr/>
            <p:nvPr/>
          </p:nvSpPr>
          <p:spPr>
            <a:xfrm>
              <a:off x="0" y="0"/>
              <a:ext cx="4000500" cy="19200"/>
            </a:xfrm>
            <a:prstGeom prst="rect">
              <a:avLst/>
            </a:prstGeom>
            <a:solidFill>
              <a:srgbClr val="223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05" name="Google Shape;205;p16"/>
            <p:cNvGrpSpPr/>
            <p:nvPr/>
          </p:nvGrpSpPr>
          <p:grpSpPr>
            <a:xfrm>
              <a:off x="152400" y="152400"/>
              <a:ext cx="114300" cy="114300"/>
              <a:chOff x="0" y="0"/>
              <a:chExt cx="114300" cy="114300"/>
            </a:xfrm>
          </p:grpSpPr>
          <p:sp>
            <p:nvSpPr>
              <p:cNvPr id="206" name="Google Shape;206;p16"/>
              <p:cNvSpPr/>
              <p:nvPr/>
            </p:nvSpPr>
            <p:spPr>
              <a:xfrm>
                <a:off x="19050" y="19050"/>
                <a:ext cx="76200" cy="76200"/>
              </a:xfrm>
              <a:prstGeom prst="ellipse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6"/>
              <p:cNvSpPr/>
              <p:nvPr/>
            </p:nvSpPr>
            <p:spPr>
              <a:xfrm>
                <a:off x="0" y="0"/>
                <a:ext cx="114300" cy="114300"/>
              </a:xfrm>
              <a:prstGeom prst="ellipse">
                <a:avLst/>
              </a:prstGeom>
              <a:solidFill>
                <a:srgbClr val="FFB300">
                  <a:alpha val="3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08" name="Google Shape;208;p16"/>
            <p:cNvSpPr txBox="1"/>
            <p:nvPr/>
          </p:nvSpPr>
          <p:spPr>
            <a:xfrm>
              <a:off x="304800" y="114300"/>
              <a:ext cx="35244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B300"/>
                  </a:solidFill>
                  <a:latin typeface="Rajdhani"/>
                  <a:ea typeface="Rajdhani"/>
                  <a:cs typeface="Rajdhani"/>
                  <a:sym typeface="Rajdhani"/>
                </a:rPr>
                <a:t>1. Measurable Technical Evidence</a:t>
              </a:r>
              <a:endParaRPr/>
            </a:p>
          </p:txBody>
        </p:sp>
        <p:sp>
          <p:nvSpPr>
            <p:cNvPr id="209" name="Google Shape;209;p16"/>
            <p:cNvSpPr txBox="1"/>
            <p:nvPr/>
          </p:nvSpPr>
          <p:spPr>
            <a:xfrm>
              <a:off x="171450" y="361950"/>
              <a:ext cx="36576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rPr>
                <a:t>The machine-learning layer produces precise, quantitative technical metrics rather than non-deterministic estimates.</a:t>
              </a:r>
              <a:endParaRPr/>
            </a:p>
          </p:txBody>
        </p:sp>
      </p:grpSp>
      <p:grpSp>
        <p:nvGrpSpPr>
          <p:cNvPr id="210" name="Google Shape;210;p16"/>
          <p:cNvGrpSpPr/>
          <p:nvPr/>
        </p:nvGrpSpPr>
        <p:grpSpPr>
          <a:xfrm>
            <a:off x="4762500" y="2495550"/>
            <a:ext cx="4000500" cy="933600"/>
            <a:chOff x="0" y="0"/>
            <a:chExt cx="4000500" cy="933600"/>
          </a:xfrm>
        </p:grpSpPr>
        <p:sp>
          <p:nvSpPr>
            <p:cNvPr id="211" name="Google Shape;211;p16"/>
            <p:cNvSpPr/>
            <p:nvPr/>
          </p:nvSpPr>
          <p:spPr>
            <a:xfrm>
              <a:off x="0" y="0"/>
              <a:ext cx="4000500" cy="9336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16"/>
            <p:cNvSpPr/>
            <p:nvPr/>
          </p:nvSpPr>
          <p:spPr>
            <a:xfrm>
              <a:off x="0" y="0"/>
              <a:ext cx="4000500" cy="19200"/>
            </a:xfrm>
            <a:prstGeom prst="rect">
              <a:avLst/>
            </a:prstGeom>
            <a:solidFill>
              <a:srgbClr val="223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13" name="Google Shape;213;p16"/>
            <p:cNvGrpSpPr/>
            <p:nvPr/>
          </p:nvGrpSpPr>
          <p:grpSpPr>
            <a:xfrm>
              <a:off x="152400" y="152400"/>
              <a:ext cx="114300" cy="114300"/>
              <a:chOff x="0" y="0"/>
              <a:chExt cx="114300" cy="114300"/>
            </a:xfrm>
          </p:grpSpPr>
          <p:sp>
            <p:nvSpPr>
              <p:cNvPr id="214" name="Google Shape;214;p16"/>
              <p:cNvSpPr/>
              <p:nvPr/>
            </p:nvSpPr>
            <p:spPr>
              <a:xfrm>
                <a:off x="19050" y="19050"/>
                <a:ext cx="76200" cy="76200"/>
              </a:xfrm>
              <a:prstGeom prst="ellipse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5" name="Google Shape;215;p16"/>
              <p:cNvSpPr/>
              <p:nvPr/>
            </p:nvSpPr>
            <p:spPr>
              <a:xfrm>
                <a:off x="0" y="0"/>
                <a:ext cx="114300" cy="114300"/>
              </a:xfrm>
              <a:prstGeom prst="ellipse">
                <a:avLst/>
              </a:prstGeom>
              <a:solidFill>
                <a:srgbClr val="FFB300">
                  <a:alpha val="3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16" name="Google Shape;216;p16"/>
            <p:cNvSpPr txBox="1"/>
            <p:nvPr/>
          </p:nvSpPr>
          <p:spPr>
            <a:xfrm>
              <a:off x="304800" y="114300"/>
              <a:ext cx="35244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B300"/>
                  </a:solidFill>
                  <a:latin typeface="Rajdhani"/>
                  <a:ea typeface="Rajdhani"/>
                  <a:cs typeface="Rajdhani"/>
                  <a:sym typeface="Rajdhani"/>
                </a:rPr>
                <a:t>2. Operational Risk Assessment</a:t>
              </a:r>
              <a:endParaRPr/>
            </a:p>
          </p:txBody>
        </p:sp>
        <p:sp>
          <p:nvSpPr>
            <p:cNvPr id="217" name="Google Shape;217;p16"/>
            <p:cNvSpPr txBox="1"/>
            <p:nvPr/>
          </p:nvSpPr>
          <p:spPr>
            <a:xfrm>
              <a:off x="171450" y="361950"/>
              <a:ext cx="36576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rPr>
                <a:t>The mission-readiness layer directly converts raw algorithmic evidence into actionable operational assessments.</a:t>
              </a:r>
              <a:endParaRPr/>
            </a:p>
          </p:txBody>
        </p:sp>
      </p:grpSp>
      <p:grpSp>
        <p:nvGrpSpPr>
          <p:cNvPr id="218" name="Google Shape;218;p16"/>
          <p:cNvGrpSpPr/>
          <p:nvPr/>
        </p:nvGrpSpPr>
        <p:grpSpPr>
          <a:xfrm>
            <a:off x="4762500" y="3562350"/>
            <a:ext cx="4000500" cy="952500"/>
            <a:chOff x="0" y="0"/>
            <a:chExt cx="4000500" cy="952500"/>
          </a:xfrm>
        </p:grpSpPr>
        <p:sp>
          <p:nvSpPr>
            <p:cNvPr id="219" name="Google Shape;219;p16"/>
            <p:cNvSpPr/>
            <p:nvPr/>
          </p:nvSpPr>
          <p:spPr>
            <a:xfrm>
              <a:off x="0" y="0"/>
              <a:ext cx="4000500" cy="9525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FFB3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16"/>
            <p:cNvSpPr/>
            <p:nvPr/>
          </p:nvSpPr>
          <p:spPr>
            <a:xfrm>
              <a:off x="0" y="0"/>
              <a:ext cx="15240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21" name="Google Shape;221;p16"/>
            <p:cNvGrpSpPr/>
            <p:nvPr/>
          </p:nvGrpSpPr>
          <p:grpSpPr>
            <a:xfrm>
              <a:off x="152400" y="152400"/>
              <a:ext cx="114300" cy="114300"/>
              <a:chOff x="0" y="0"/>
              <a:chExt cx="114300" cy="114300"/>
            </a:xfrm>
          </p:grpSpPr>
          <p:sp>
            <p:nvSpPr>
              <p:cNvPr id="222" name="Google Shape;222;p16"/>
              <p:cNvSpPr/>
              <p:nvPr/>
            </p:nvSpPr>
            <p:spPr>
              <a:xfrm>
                <a:off x="19050" y="19050"/>
                <a:ext cx="76200" cy="76200"/>
              </a:xfrm>
              <a:prstGeom prst="ellipse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6"/>
              <p:cNvSpPr/>
              <p:nvPr/>
            </p:nvSpPr>
            <p:spPr>
              <a:xfrm>
                <a:off x="0" y="0"/>
                <a:ext cx="114300" cy="114300"/>
              </a:xfrm>
              <a:prstGeom prst="ellipse">
                <a:avLst/>
              </a:prstGeom>
              <a:solidFill>
                <a:srgbClr val="FFB300">
                  <a:alpha val="3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24" name="Google Shape;224;p16"/>
            <p:cNvSpPr txBox="1"/>
            <p:nvPr/>
          </p:nvSpPr>
          <p:spPr>
            <a:xfrm>
              <a:off x="304800" y="114300"/>
              <a:ext cx="35244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B300"/>
                  </a:solidFill>
                  <a:latin typeface="Rajdhani"/>
                  <a:ea typeface="Rajdhani"/>
                  <a:cs typeface="Rajdhani"/>
                  <a:sym typeface="Rajdhani"/>
                </a:rPr>
                <a:t>3. Zero-Hallucination Explanations</a:t>
              </a:r>
              <a:endParaRPr/>
            </a:p>
          </p:txBody>
        </p:sp>
        <p:sp>
          <p:nvSpPr>
            <p:cNvPr id="225" name="Google Shape;225;p16"/>
            <p:cNvSpPr txBox="1"/>
            <p:nvPr/>
          </p:nvSpPr>
          <p:spPr>
            <a:xfrm>
              <a:off x="171450" y="361950"/>
              <a:ext cx="3657600" cy="5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rPr>
                <a:t>Finally, the Copilot explains each assessment using strictly stored backend telemetry to prevent unsupported AI claims.</a:t>
              </a:r>
              <a:endParaRPr/>
            </a:p>
          </p:txBody>
        </p:sp>
      </p:grpSp>
      <p:sp>
        <p:nvSpPr>
          <p:cNvPr id="226" name="Google Shape;226;p16"/>
          <p:cNvSpPr/>
          <p:nvPr/>
        </p:nvSpPr>
        <p:spPr>
          <a:xfrm>
            <a:off x="381000" y="4686300"/>
            <a:ext cx="8382000" cy="9600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6"/>
          <p:cNvSpPr txBox="1"/>
          <p:nvPr/>
        </p:nvSpPr>
        <p:spPr>
          <a:xfrm>
            <a:off x="381000" y="4724400"/>
            <a:ext cx="2857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SYS.MODE // EVIDENCE_BASED_DECISION_ENGINE</a:t>
            </a:r>
            <a:endParaRPr/>
          </a:p>
        </p:txBody>
      </p:sp>
      <p:sp>
        <p:nvSpPr>
          <p:cNvPr id="228" name="Google Shape;228;p16"/>
          <p:cNvSpPr txBox="1"/>
          <p:nvPr/>
        </p:nvSpPr>
        <p:spPr>
          <a:xfrm>
            <a:off x="5905500" y="4724400"/>
            <a:ext cx="2857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FFB300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INTEGRITY CHECK: 100% VERIFIED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3"/>
        </a:solid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Google Shape;233;p17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34" name="Google Shape;234;p17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5" name="Google Shape;235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381500" y="2381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6" name="Google Shape;236;p17"/>
          <p:cNvSpPr/>
          <p:nvPr/>
        </p:nvSpPr>
        <p:spPr>
          <a:xfrm>
            <a:off x="0" y="0"/>
            <a:ext cx="9144000" cy="381000"/>
          </a:xfrm>
          <a:prstGeom prst="rect">
            <a:avLst/>
          </a:prstGeom>
          <a:solidFill>
            <a:srgbClr val="111A28"/>
          </a:solidFill>
          <a:ln cap="flat" cmpd="sng" w="9525">
            <a:solidFill>
              <a:srgbClr val="22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7" name="Google Shape;237;p17"/>
          <p:cNvGrpSpPr/>
          <p:nvPr/>
        </p:nvGrpSpPr>
        <p:grpSpPr>
          <a:xfrm>
            <a:off x="190500" y="95250"/>
            <a:ext cx="1486050" cy="228600"/>
            <a:chOff x="0" y="0"/>
            <a:chExt cx="1486050" cy="228600"/>
          </a:xfrm>
        </p:grpSpPr>
        <p:sp>
          <p:nvSpPr>
            <p:cNvPr id="238" name="Google Shape;238;p17"/>
            <p:cNvSpPr/>
            <p:nvPr/>
          </p:nvSpPr>
          <p:spPr>
            <a:xfrm>
              <a:off x="0" y="0"/>
              <a:ext cx="190500" cy="1905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lnTo>
                    <a:pt x="60000" y="9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17"/>
            <p:cNvSpPr/>
            <p:nvPr/>
          </p:nvSpPr>
          <p:spPr>
            <a:xfrm>
              <a:off x="95250" y="0"/>
              <a:ext cx="95400" cy="1905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120000"/>
                  </a:lnTo>
                  <a:lnTo>
                    <a:pt x="0" y="90000"/>
                  </a:lnTo>
                  <a:close/>
                </a:path>
              </a:pathLst>
            </a:custGeom>
            <a:solidFill>
              <a:srgbClr val="CC8F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17"/>
            <p:cNvSpPr txBox="1"/>
            <p:nvPr/>
          </p:nvSpPr>
          <p:spPr>
            <a:xfrm>
              <a:off x="247650" y="0"/>
              <a:ext cx="1238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400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 b="1" sz="14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sp>
        <p:nvSpPr>
          <p:cNvPr id="241" name="Google Shape;241;p17"/>
          <p:cNvSpPr/>
          <p:nvPr/>
        </p:nvSpPr>
        <p:spPr>
          <a:xfrm>
            <a:off x="8439150" y="152400"/>
            <a:ext cx="76200" cy="7620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7"/>
          <p:cNvSpPr/>
          <p:nvPr/>
        </p:nvSpPr>
        <p:spPr>
          <a:xfrm>
            <a:off x="8410575" y="123825"/>
            <a:ext cx="133500" cy="133500"/>
          </a:xfrm>
          <a:prstGeom prst="ellipse">
            <a:avLst/>
          </a:prstGeom>
          <a:solidFill>
            <a:srgbClr val="00E676">
              <a:alpha val="25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7"/>
          <p:cNvSpPr txBox="1"/>
          <p:nvPr/>
        </p:nvSpPr>
        <p:spPr>
          <a:xfrm>
            <a:off x="8591550" y="95250"/>
            <a:ext cx="4287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00E676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LIVE</a:t>
            </a:r>
            <a:endParaRPr b="0" sz="800">
              <a:solidFill>
                <a:srgbClr val="00E676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</p:txBody>
      </p:sp>
      <p:sp>
        <p:nvSpPr>
          <p:cNvPr id="244" name="Google Shape;244;p17"/>
          <p:cNvSpPr txBox="1"/>
          <p:nvPr/>
        </p:nvSpPr>
        <p:spPr>
          <a:xfrm>
            <a:off x="285750" y="495300"/>
            <a:ext cx="85725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33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SYSTEM ARCHITECTURE DIAGRAM</a:t>
            </a:r>
            <a:endParaRPr b="0" sz="833">
              <a:solidFill>
                <a:srgbClr val="00E5FF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1" lang="en" sz="185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From CSV to Mission Decision</a:t>
            </a:r>
            <a:endParaRPr b="1" sz="1850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cxnSp>
        <p:nvCxnSpPr>
          <p:cNvPr id="245" name="Google Shape;245;p17"/>
          <p:cNvCxnSpPr/>
          <p:nvPr/>
        </p:nvCxnSpPr>
        <p:spPr>
          <a:xfrm>
            <a:off x="285750" y="971550"/>
            <a:ext cx="8572500" cy="0"/>
          </a:xfrm>
          <a:prstGeom prst="straightConnector1">
            <a:avLst/>
          </a:prstGeom>
          <a:solidFill>
            <a:srgbClr val="FFFFFF"/>
          </a:solidFill>
          <a:ln cap="flat" cmpd="sng" w="9525">
            <a:solidFill>
              <a:srgbClr val="22334A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46" name="Google Shape;246;p17"/>
          <p:cNvCxnSpPr/>
          <p:nvPr/>
        </p:nvCxnSpPr>
        <p:spPr>
          <a:xfrm>
            <a:off x="285750" y="971550"/>
            <a:ext cx="1143000" cy="0"/>
          </a:xfrm>
          <a:prstGeom prst="straightConnector1">
            <a:avLst/>
          </a:prstGeom>
          <a:solidFill>
            <a:srgbClr val="FFFFFF"/>
          </a:solidFill>
          <a:ln cap="flat" cmpd="sng" w="19050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247" name="Google Shape;247;p17"/>
          <p:cNvGrpSpPr/>
          <p:nvPr/>
        </p:nvGrpSpPr>
        <p:grpSpPr>
          <a:xfrm>
            <a:off x="381000" y="1143000"/>
            <a:ext cx="1524000" cy="3238500"/>
            <a:chOff x="0" y="0"/>
            <a:chExt cx="1524000" cy="3238500"/>
          </a:xfrm>
        </p:grpSpPr>
        <p:grpSp>
          <p:nvGrpSpPr>
            <p:cNvPr id="248" name="Google Shape;248;p17"/>
            <p:cNvGrpSpPr/>
            <p:nvPr/>
          </p:nvGrpSpPr>
          <p:grpSpPr>
            <a:xfrm>
              <a:off x="0" y="0"/>
              <a:ext cx="1524000" cy="3238500"/>
              <a:chOff x="0" y="0"/>
              <a:chExt cx="1524000" cy="3238500"/>
            </a:xfrm>
          </p:grpSpPr>
          <p:sp>
            <p:nvSpPr>
              <p:cNvPr id="249" name="Google Shape;249;p17"/>
              <p:cNvSpPr/>
              <p:nvPr/>
            </p:nvSpPr>
            <p:spPr>
              <a:xfrm>
                <a:off x="0" y="0"/>
                <a:ext cx="1524000" cy="3238500"/>
              </a:xfrm>
              <a:prstGeom prst="roundRect">
                <a:avLst>
                  <a:gd fmla="val 1250" name="adj"/>
                </a:avLst>
              </a:prstGeom>
              <a:solidFill>
                <a:srgbClr val="111A28"/>
              </a:solidFill>
              <a:ln cap="flat" cmpd="sng" w="14300">
                <a:solidFill>
                  <a:srgbClr val="00E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0" name="Google Shape;250;p17"/>
              <p:cNvSpPr/>
              <p:nvPr/>
            </p:nvSpPr>
            <p:spPr>
              <a:xfrm>
                <a:off x="0" y="0"/>
                <a:ext cx="1524000" cy="381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51" name="Google Shape;251;p17"/>
            <p:cNvSpPr txBox="1"/>
            <p:nvPr/>
          </p:nvSpPr>
          <p:spPr>
            <a:xfrm>
              <a:off x="114300" y="114300"/>
              <a:ext cx="1295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STAGE 01</a:t>
              </a:r>
              <a:endParaRPr b="0" sz="900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E5FF"/>
                  </a:solidFill>
                  <a:latin typeface="Rajdhani"/>
                  <a:ea typeface="Rajdhani"/>
                  <a:cs typeface="Rajdhani"/>
                  <a:sym typeface="Rajdhani"/>
                </a:rPr>
                <a:t>Data Layer</a:t>
              </a:r>
              <a:endParaRPr b="1" sz="1200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cxnSp>
          <p:nvCxnSpPr>
            <p:cNvPr id="252" name="Google Shape;252;p17"/>
            <p:cNvCxnSpPr/>
            <p:nvPr/>
          </p:nvCxnSpPr>
          <p:spPr>
            <a:xfrm>
              <a:off x="114300" y="533400"/>
              <a:ext cx="1295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53" name="Google Shape;253;p17"/>
            <p:cNvSpPr txBox="1"/>
            <p:nvPr/>
          </p:nvSpPr>
          <p:spPr>
            <a:xfrm>
              <a:off x="114300" y="628650"/>
              <a:ext cx="12954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[INPUT FLOW]</a:t>
              </a:r>
              <a:endParaRPr b="0" sz="10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7500" lvl="0" marL="457200" rtl="0" algn="l">
                <a:spcBef>
                  <a:spcPts val="45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rPr>
                <a:t>CSV Dataset</a:t>
              </a:r>
              <a:endParaRPr b="0" sz="1000">
                <a:solidFill>
                  <a:srgbClr val="F0F4F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17500" lvl="0" marL="457200" rtl="0" algn="l">
                <a:spcBef>
                  <a:spcPts val="30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Telemetry Stream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[PROCESSING]</a:t>
              </a:r>
              <a:endParaRPr b="0" sz="10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7500" lvl="0" marL="457200" rtl="0" algn="l">
                <a:spcBef>
                  <a:spcPts val="45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Upload API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17500" lvl="0" marL="457200" rtl="0" algn="l">
                <a:spcBef>
                  <a:spcPts val="30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Data Parser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[STORAGE]</a:t>
              </a:r>
              <a:endParaRPr b="0" sz="10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7500" lvl="0" marL="457200" rtl="0" algn="l">
                <a:spcBef>
                  <a:spcPts val="450"/>
                </a:spcBef>
                <a:spcAft>
                  <a:spcPts val="30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Dataset Repository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54" name="Google Shape;254;p17"/>
          <p:cNvGrpSpPr/>
          <p:nvPr/>
        </p:nvGrpSpPr>
        <p:grpSpPr>
          <a:xfrm>
            <a:off x="2095500" y="1143000"/>
            <a:ext cx="1524000" cy="3238500"/>
            <a:chOff x="0" y="0"/>
            <a:chExt cx="1524000" cy="3238500"/>
          </a:xfrm>
        </p:grpSpPr>
        <p:grpSp>
          <p:nvGrpSpPr>
            <p:cNvPr id="255" name="Google Shape;255;p17"/>
            <p:cNvGrpSpPr/>
            <p:nvPr/>
          </p:nvGrpSpPr>
          <p:grpSpPr>
            <a:xfrm>
              <a:off x="0" y="0"/>
              <a:ext cx="1524000" cy="3238500"/>
              <a:chOff x="0" y="0"/>
              <a:chExt cx="1524000" cy="3238500"/>
            </a:xfrm>
          </p:grpSpPr>
          <p:sp>
            <p:nvSpPr>
              <p:cNvPr id="256" name="Google Shape;256;p17"/>
              <p:cNvSpPr/>
              <p:nvPr/>
            </p:nvSpPr>
            <p:spPr>
              <a:xfrm>
                <a:off x="0" y="0"/>
                <a:ext cx="1524000" cy="3238500"/>
              </a:xfrm>
              <a:prstGeom prst="roundRect">
                <a:avLst>
                  <a:gd fmla="val 1250" name="adj"/>
                </a:avLst>
              </a:prstGeom>
              <a:solidFill>
                <a:srgbClr val="111A28"/>
              </a:solidFill>
              <a:ln cap="flat" cmpd="sng" w="14300">
                <a:solidFill>
                  <a:srgbClr val="00E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7"/>
              <p:cNvSpPr/>
              <p:nvPr/>
            </p:nvSpPr>
            <p:spPr>
              <a:xfrm>
                <a:off x="0" y="0"/>
                <a:ext cx="1524000" cy="381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58" name="Google Shape;258;p17"/>
            <p:cNvSpPr txBox="1"/>
            <p:nvPr/>
          </p:nvSpPr>
          <p:spPr>
            <a:xfrm>
              <a:off x="114300" y="114300"/>
              <a:ext cx="1295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STAGE 02</a:t>
              </a:r>
              <a:endParaRPr b="0" sz="900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E5FF"/>
                  </a:solidFill>
                  <a:latin typeface="Rajdhani"/>
                  <a:ea typeface="Rajdhani"/>
                  <a:cs typeface="Rajdhani"/>
                  <a:sym typeface="Rajdhani"/>
                </a:rPr>
                <a:t>Predictive Pipeline</a:t>
              </a:r>
              <a:endParaRPr b="1" sz="1200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cxnSp>
          <p:nvCxnSpPr>
            <p:cNvPr id="259" name="Google Shape;259;p17"/>
            <p:cNvCxnSpPr/>
            <p:nvPr/>
          </p:nvCxnSpPr>
          <p:spPr>
            <a:xfrm>
              <a:off x="114300" y="533400"/>
              <a:ext cx="1295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60" name="Google Shape;260;p17"/>
            <p:cNvSpPr txBox="1"/>
            <p:nvPr/>
          </p:nvSpPr>
          <p:spPr>
            <a:xfrm>
              <a:off x="114300" y="628650"/>
              <a:ext cx="12954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[ROUTING]</a:t>
              </a:r>
              <a:endParaRPr b="0" sz="925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0833" lvl="0" marL="457200" rtl="0" algn="l">
                <a:spcBef>
                  <a:spcPts val="450"/>
                </a:spcBef>
                <a:spcAft>
                  <a:spcPts val="0"/>
                </a:spcAft>
                <a:buSzPts val="1295"/>
                <a:buChar char="●"/>
              </a:pPr>
              <a:r>
                <a:rPr b="0" lang="en" sz="92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Pipeline Service</a:t>
              </a:r>
              <a:endParaRPr b="0" sz="92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[ML MODELS]</a:t>
              </a:r>
              <a:endParaRPr b="0" sz="925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0833" lvl="0" marL="457200" rtl="0" algn="l">
                <a:spcBef>
                  <a:spcPts val="450"/>
                </a:spcBef>
                <a:spcAft>
                  <a:spcPts val="0"/>
                </a:spcAft>
                <a:buSzPts val="1295"/>
                <a:buChar char="●"/>
              </a:pPr>
              <a:r>
                <a:rPr b="0" lang="en" sz="1018">
                  <a:solidFill>
                    <a:srgbClr val="00E5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LSTM RUL Predictor</a:t>
              </a:r>
              <a:endParaRPr b="0" sz="1018">
                <a:solidFill>
                  <a:srgbClr val="00E5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310833" lvl="0" marL="457200" rtl="0" algn="l">
                <a:spcBef>
                  <a:spcPts val="300"/>
                </a:spcBef>
                <a:spcAft>
                  <a:spcPts val="0"/>
                </a:spcAft>
                <a:buSzPts val="1295"/>
                <a:buChar char="●"/>
              </a:pPr>
              <a:r>
                <a:rPr b="0" lang="en" sz="92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Isolation Forest Health Analysis</a:t>
              </a:r>
              <a:endParaRPr b="0" sz="92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[OUTPUT]</a:t>
              </a:r>
              <a:endParaRPr b="0" sz="925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0833" lvl="0" marL="457200" rtl="0" algn="l">
                <a:spcBef>
                  <a:spcPts val="450"/>
                </a:spcBef>
                <a:spcAft>
                  <a:spcPts val="300"/>
                </a:spcAft>
                <a:buSzPts val="1295"/>
                <a:buChar char="●"/>
              </a:pPr>
              <a:r>
                <a:rPr b="0" lang="en" sz="92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Persisted Results Store</a:t>
              </a:r>
              <a:endParaRPr b="0" sz="92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1" name="Google Shape;261;p17"/>
          <p:cNvGrpSpPr/>
          <p:nvPr/>
        </p:nvGrpSpPr>
        <p:grpSpPr>
          <a:xfrm>
            <a:off x="3810000" y="1143000"/>
            <a:ext cx="1524000" cy="3238500"/>
            <a:chOff x="0" y="0"/>
            <a:chExt cx="1524000" cy="3238500"/>
          </a:xfrm>
        </p:grpSpPr>
        <p:grpSp>
          <p:nvGrpSpPr>
            <p:cNvPr id="262" name="Google Shape;262;p17"/>
            <p:cNvGrpSpPr/>
            <p:nvPr/>
          </p:nvGrpSpPr>
          <p:grpSpPr>
            <a:xfrm>
              <a:off x="0" y="0"/>
              <a:ext cx="1524000" cy="3238500"/>
              <a:chOff x="0" y="0"/>
              <a:chExt cx="1524000" cy="3238500"/>
            </a:xfrm>
          </p:grpSpPr>
          <p:sp>
            <p:nvSpPr>
              <p:cNvPr id="263" name="Google Shape;263;p17"/>
              <p:cNvSpPr/>
              <p:nvPr/>
            </p:nvSpPr>
            <p:spPr>
              <a:xfrm>
                <a:off x="0" y="0"/>
                <a:ext cx="1524000" cy="3238500"/>
              </a:xfrm>
              <a:prstGeom prst="roundRect">
                <a:avLst>
                  <a:gd fmla="val 1250" name="adj"/>
                </a:avLst>
              </a:prstGeom>
              <a:solidFill>
                <a:srgbClr val="111A28"/>
              </a:solidFill>
              <a:ln cap="flat" cmpd="sng" w="14300">
                <a:solidFill>
                  <a:srgbClr val="FFB3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4" name="Google Shape;264;p17"/>
              <p:cNvSpPr/>
              <p:nvPr/>
            </p:nvSpPr>
            <p:spPr>
              <a:xfrm>
                <a:off x="0" y="0"/>
                <a:ext cx="1524000" cy="38100"/>
              </a:xfrm>
              <a:prstGeom prst="rect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5" name="Google Shape;265;p17"/>
            <p:cNvSpPr txBox="1"/>
            <p:nvPr/>
          </p:nvSpPr>
          <p:spPr>
            <a:xfrm>
              <a:off x="114300" y="114300"/>
              <a:ext cx="1295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CORE ENGINE</a:t>
              </a:r>
              <a:endParaRPr b="0" sz="9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FFB300"/>
                  </a:solidFill>
                  <a:latin typeface="Rajdhani"/>
                  <a:ea typeface="Rajdhani"/>
                  <a:cs typeface="Rajdhani"/>
                  <a:sym typeface="Rajdhani"/>
                </a:rPr>
                <a:t>Mission Decision</a:t>
              </a:r>
              <a:endParaRPr b="1" sz="1200">
                <a:solidFill>
                  <a:srgbClr val="FFB300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cxnSp>
          <p:nvCxnSpPr>
            <p:cNvPr id="266" name="Google Shape;266;p17"/>
            <p:cNvCxnSpPr/>
            <p:nvPr/>
          </p:nvCxnSpPr>
          <p:spPr>
            <a:xfrm>
              <a:off x="114300" y="533400"/>
              <a:ext cx="1295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67" name="Google Shape;267;p17"/>
            <p:cNvSpPr txBox="1"/>
            <p:nvPr/>
          </p:nvSpPr>
          <p:spPr>
            <a:xfrm>
              <a:off x="114300" y="628650"/>
              <a:ext cx="12954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75">
                  <a:solidFill>
                    <a:srgbClr val="FFB300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[EVALUATES]</a:t>
              </a:r>
              <a:endParaRPr b="0" sz="775">
                <a:solidFill>
                  <a:srgbClr val="FFB300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297498" lvl="0" marL="457200" rtl="0" algn="l">
                <a:spcBef>
                  <a:spcPts val="450"/>
                </a:spcBef>
                <a:spcAft>
                  <a:spcPts val="0"/>
                </a:spcAft>
                <a:buSzPts val="1085"/>
                <a:buChar char="●"/>
              </a:pPr>
              <a:r>
                <a:rPr b="0" lang="en" sz="77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Predicted RUL</a:t>
              </a:r>
              <a:endParaRPr b="0" sz="77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7498" lvl="0" marL="457200" rtl="0" algn="l">
                <a:spcBef>
                  <a:spcPts val="300"/>
                </a:spcBef>
                <a:spcAft>
                  <a:spcPts val="0"/>
                </a:spcAft>
                <a:buSzPts val="1085"/>
                <a:buChar char="●"/>
              </a:pPr>
              <a:r>
                <a:rPr b="0" lang="en" sz="77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Mission Duration</a:t>
              </a:r>
              <a:endParaRPr b="0" sz="77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7498" lvl="0" marL="457200" rtl="0" algn="l">
                <a:spcBef>
                  <a:spcPts val="300"/>
                </a:spcBef>
                <a:spcAft>
                  <a:spcPts val="0"/>
                </a:spcAft>
                <a:buSzPts val="1085"/>
                <a:buChar char="●"/>
              </a:pPr>
              <a:r>
                <a:rPr b="0" lang="en" sz="77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Safety Margin</a:t>
              </a:r>
              <a:endParaRPr b="0" sz="77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7498" lvl="0" marL="457200" rtl="0" algn="l">
                <a:spcBef>
                  <a:spcPts val="300"/>
                </a:spcBef>
                <a:spcAft>
                  <a:spcPts val="0"/>
                </a:spcAft>
                <a:buSzPts val="1085"/>
                <a:buChar char="●"/>
              </a:pPr>
              <a:r>
                <a:rPr b="0" lang="en" sz="77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Sensor Health</a:t>
              </a:r>
              <a:endParaRPr b="0" sz="77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775">
                  <a:solidFill>
                    <a:srgbClr val="FFB300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[DECISION OUTPUT]</a:t>
              </a:r>
              <a:endParaRPr b="0" sz="775">
                <a:solidFill>
                  <a:srgbClr val="FFB300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297498" lvl="0" marL="457200" rtl="0" algn="l">
                <a:spcBef>
                  <a:spcPts val="450"/>
                </a:spcBef>
                <a:spcAft>
                  <a:spcPts val="0"/>
                </a:spcAft>
                <a:buSzPts val="1085"/>
                <a:buChar char="●"/>
              </a:pPr>
              <a:r>
                <a:rPr b="0" lang="en" sz="853">
                  <a:solidFill>
                    <a:srgbClr val="FFB300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Risk Flag</a:t>
              </a:r>
              <a:endParaRPr b="0" sz="853">
                <a:solidFill>
                  <a:srgbClr val="FFB300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297498" lvl="0" marL="457200" rtl="0" algn="l">
                <a:spcBef>
                  <a:spcPts val="300"/>
                </a:spcBef>
                <a:spcAft>
                  <a:spcPts val="0"/>
                </a:spcAft>
                <a:buSzPts val="1085"/>
                <a:buChar char="●"/>
              </a:pPr>
              <a:r>
                <a:rPr b="0" lang="en" sz="853">
                  <a:solidFill>
                    <a:srgbClr val="00E676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Readiness Score</a:t>
              </a:r>
              <a:endParaRPr b="0" sz="853">
                <a:solidFill>
                  <a:srgbClr val="00E676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297498" lvl="0" marL="457200" rtl="0" algn="l">
                <a:spcBef>
                  <a:spcPts val="300"/>
                </a:spcBef>
                <a:spcAft>
                  <a:spcPts val="300"/>
                </a:spcAft>
                <a:buSzPts val="1085"/>
                <a:buChar char="●"/>
              </a:pPr>
              <a:r>
                <a:rPr b="0" lang="en" sz="775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Recommendation</a:t>
              </a:r>
              <a:endParaRPr b="0" sz="775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8" name="Google Shape;268;p17"/>
          <p:cNvGrpSpPr/>
          <p:nvPr/>
        </p:nvGrpSpPr>
        <p:grpSpPr>
          <a:xfrm>
            <a:off x="5524500" y="1143000"/>
            <a:ext cx="1524000" cy="3238500"/>
            <a:chOff x="0" y="0"/>
            <a:chExt cx="1524000" cy="3238500"/>
          </a:xfrm>
        </p:grpSpPr>
        <p:grpSp>
          <p:nvGrpSpPr>
            <p:cNvPr id="269" name="Google Shape;269;p17"/>
            <p:cNvGrpSpPr/>
            <p:nvPr/>
          </p:nvGrpSpPr>
          <p:grpSpPr>
            <a:xfrm>
              <a:off x="0" y="0"/>
              <a:ext cx="1524000" cy="3238500"/>
              <a:chOff x="0" y="0"/>
              <a:chExt cx="1524000" cy="3238500"/>
            </a:xfrm>
          </p:grpSpPr>
          <p:sp>
            <p:nvSpPr>
              <p:cNvPr id="270" name="Google Shape;270;p17"/>
              <p:cNvSpPr/>
              <p:nvPr/>
            </p:nvSpPr>
            <p:spPr>
              <a:xfrm>
                <a:off x="0" y="0"/>
                <a:ext cx="1524000" cy="3238500"/>
              </a:xfrm>
              <a:prstGeom prst="roundRect">
                <a:avLst>
                  <a:gd fmla="val 1250" name="adj"/>
                </a:avLst>
              </a:prstGeom>
              <a:solidFill>
                <a:srgbClr val="111A28"/>
              </a:solidFill>
              <a:ln cap="flat" cmpd="sng" w="14300">
                <a:solidFill>
                  <a:srgbClr val="00E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1" name="Google Shape;271;p17"/>
              <p:cNvSpPr/>
              <p:nvPr/>
            </p:nvSpPr>
            <p:spPr>
              <a:xfrm>
                <a:off x="0" y="0"/>
                <a:ext cx="1524000" cy="381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2" name="Google Shape;272;p17"/>
            <p:cNvSpPr txBox="1"/>
            <p:nvPr/>
          </p:nvSpPr>
          <p:spPr>
            <a:xfrm>
              <a:off x="114300" y="114300"/>
              <a:ext cx="1295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STAGE 04</a:t>
              </a:r>
              <a:endParaRPr b="0" sz="900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E5FF"/>
                  </a:solidFill>
                  <a:latin typeface="Rajdhani"/>
                  <a:ea typeface="Rajdhani"/>
                  <a:cs typeface="Rajdhani"/>
                  <a:sym typeface="Rajdhani"/>
                </a:rPr>
                <a:t>Application</a:t>
              </a:r>
              <a:endParaRPr b="1" sz="1200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cxnSp>
          <p:nvCxnSpPr>
            <p:cNvPr id="273" name="Google Shape;273;p17"/>
            <p:cNvCxnSpPr/>
            <p:nvPr/>
          </p:nvCxnSpPr>
          <p:spPr>
            <a:xfrm>
              <a:off x="114300" y="533400"/>
              <a:ext cx="1295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74" name="Google Shape;274;p17"/>
            <p:cNvSpPr txBox="1"/>
            <p:nvPr/>
          </p:nvSpPr>
          <p:spPr>
            <a:xfrm>
              <a:off x="114300" y="628650"/>
              <a:ext cx="12954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[API FRAMEWORK]</a:t>
              </a:r>
              <a:endParaRPr b="0" sz="10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7500" lvl="0" marL="457200" rtl="0" algn="l">
                <a:spcBef>
                  <a:spcPts val="45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Flask API Backend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[REACT DASHBOARD]</a:t>
              </a:r>
              <a:endParaRPr b="0" sz="10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7500" lvl="0" marL="457200" rtl="0" algn="l">
                <a:spcBef>
                  <a:spcPts val="45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Fleet View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17500" lvl="0" marL="457200" rtl="0" algn="l">
                <a:spcBef>
                  <a:spcPts val="30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Sensor Health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17500" lvl="0" marL="457200" rtl="0" algn="l">
                <a:spcBef>
                  <a:spcPts val="30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Maintenance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17500" lvl="0" marL="457200" rtl="0" algn="l">
                <a:spcBef>
                  <a:spcPts val="300"/>
                </a:spcBef>
                <a:spcAft>
                  <a:spcPts val="300"/>
                </a:spcAft>
                <a:buSzPts val="1400"/>
                <a:buChar char="●"/>
              </a:pPr>
              <a:r>
                <a:rPr b="0" lang="en" sz="1100">
                  <a:solidFill>
                    <a:srgbClr val="00E5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AI Copilot View</a:t>
              </a:r>
              <a:endParaRPr b="0" sz="1100">
                <a:solidFill>
                  <a:srgbClr val="00E5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275" name="Google Shape;275;p17"/>
          <p:cNvGrpSpPr/>
          <p:nvPr/>
        </p:nvGrpSpPr>
        <p:grpSpPr>
          <a:xfrm>
            <a:off x="7239000" y="1143000"/>
            <a:ext cx="1524000" cy="3238500"/>
            <a:chOff x="0" y="0"/>
            <a:chExt cx="1524000" cy="3238500"/>
          </a:xfrm>
        </p:grpSpPr>
        <p:grpSp>
          <p:nvGrpSpPr>
            <p:cNvPr id="276" name="Google Shape;276;p17"/>
            <p:cNvGrpSpPr/>
            <p:nvPr/>
          </p:nvGrpSpPr>
          <p:grpSpPr>
            <a:xfrm>
              <a:off x="0" y="0"/>
              <a:ext cx="1524000" cy="3238500"/>
              <a:chOff x="0" y="0"/>
              <a:chExt cx="1524000" cy="3238500"/>
            </a:xfrm>
          </p:grpSpPr>
          <p:sp>
            <p:nvSpPr>
              <p:cNvPr id="277" name="Google Shape;277;p17"/>
              <p:cNvSpPr/>
              <p:nvPr/>
            </p:nvSpPr>
            <p:spPr>
              <a:xfrm>
                <a:off x="0" y="0"/>
                <a:ext cx="1524000" cy="3238500"/>
              </a:xfrm>
              <a:prstGeom prst="roundRect">
                <a:avLst>
                  <a:gd fmla="val 1250" name="adj"/>
                </a:avLst>
              </a:prstGeom>
              <a:solidFill>
                <a:srgbClr val="111A28"/>
              </a:solidFill>
              <a:ln cap="flat" cmpd="sng" w="14300">
                <a:solidFill>
                  <a:srgbClr val="00E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" name="Google Shape;278;p17"/>
              <p:cNvSpPr/>
              <p:nvPr/>
            </p:nvSpPr>
            <p:spPr>
              <a:xfrm>
                <a:off x="0" y="0"/>
                <a:ext cx="1524000" cy="381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9" name="Google Shape;279;p17"/>
            <p:cNvSpPr txBox="1"/>
            <p:nvPr/>
          </p:nvSpPr>
          <p:spPr>
            <a:xfrm>
              <a:off x="114300" y="114300"/>
              <a:ext cx="1295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STAGE 05</a:t>
              </a:r>
              <a:endParaRPr b="0" sz="900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0">
                  <a:solidFill>
                    <a:srgbClr val="00E5FF"/>
                  </a:solidFill>
                  <a:latin typeface="Rajdhani"/>
                  <a:ea typeface="Rajdhani"/>
                  <a:cs typeface="Rajdhani"/>
                  <a:sym typeface="Rajdhani"/>
                </a:rPr>
                <a:t>Integration</a:t>
              </a:r>
              <a:endParaRPr b="1" sz="1200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cxnSp>
          <p:nvCxnSpPr>
            <p:cNvPr id="280" name="Google Shape;280;p17"/>
            <p:cNvCxnSpPr/>
            <p:nvPr/>
          </p:nvCxnSpPr>
          <p:spPr>
            <a:xfrm>
              <a:off x="114300" y="533400"/>
              <a:ext cx="12954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81" name="Google Shape;281;p17"/>
            <p:cNvSpPr txBox="1"/>
            <p:nvPr/>
          </p:nvSpPr>
          <p:spPr>
            <a:xfrm>
              <a:off x="114300" y="628650"/>
              <a:ext cx="12954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[AGENTIC TOOLS]</a:t>
              </a:r>
              <a:endParaRPr b="0" sz="10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7500" lvl="0" marL="457200" rtl="0" algn="l">
                <a:spcBef>
                  <a:spcPts val="45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1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IBM Bob Engine</a:t>
              </a:r>
              <a:endParaRPr b="0" sz="1100">
                <a:solidFill>
                  <a:srgbClr val="F0F4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-317500" lvl="0" marL="457200" rtl="0" algn="l">
                <a:spcBef>
                  <a:spcPts val="30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MCP Tools Ecosystem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[CAPABILITY]</a:t>
              </a:r>
              <a:endParaRPr b="0" sz="100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  <a:p>
              <a:pPr indent="-317500" lvl="0" marL="457200" rtl="0" algn="l">
                <a:spcBef>
                  <a:spcPts val="450"/>
                </a:spcBef>
                <a:spcAft>
                  <a:spcPts val="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Live Tool-Based Investigation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317500" lvl="0" marL="457200" rtl="0" algn="l">
                <a:spcBef>
                  <a:spcPts val="300"/>
                </a:spcBef>
                <a:spcAft>
                  <a:spcPts val="300"/>
                </a:spcAft>
                <a:buSzPts val="1400"/>
                <a:buChar char="●"/>
              </a:pPr>
              <a:r>
                <a:rPr b="0" lang="en" sz="10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Automated Telemetry Querying</a:t>
              </a:r>
              <a:endParaRPr b="0" sz="100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82" name="Google Shape;282;p17"/>
          <p:cNvSpPr/>
          <p:nvPr/>
        </p:nvSpPr>
        <p:spPr>
          <a:xfrm>
            <a:off x="381000" y="4524375"/>
            <a:ext cx="8382000" cy="333300"/>
          </a:xfrm>
          <a:prstGeom prst="rect">
            <a:avLst/>
          </a:prstGeom>
          <a:solidFill>
            <a:srgbClr val="111A28"/>
          </a:solidFill>
          <a:ln cap="flat" cmpd="sng" w="9525">
            <a:solidFill>
              <a:srgbClr val="22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7"/>
          <p:cNvSpPr txBox="1"/>
          <p:nvPr/>
        </p:nvSpPr>
        <p:spPr>
          <a:xfrm>
            <a:off x="523875" y="4600575"/>
            <a:ext cx="80964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765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SYSTEM STATUS:</a:t>
            </a:r>
            <a:r>
              <a:rPr b="0" lang="en" sz="765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 PIPELINE ACTIVE // LATENCY: 12ms</a:t>
            </a:r>
            <a:r>
              <a:rPr lang="en" sz="1190"/>
              <a:t> </a:t>
            </a:r>
            <a:r>
              <a:rPr b="0" lang="en" sz="765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TELEMETRY LINK:</a:t>
            </a:r>
            <a:r>
              <a:rPr b="0" lang="en" sz="765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 ENCRYPTED (MCP PROTOCOL)</a:t>
            </a:r>
            <a:r>
              <a:rPr lang="en" sz="1190"/>
              <a:t> </a:t>
            </a:r>
            <a:r>
              <a:rPr b="0" lang="en" sz="765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AEROREADY MISSION CONTROL V4.2</a:t>
            </a:r>
            <a:endParaRPr sz="119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89" name="Google Shape;289;p18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90" name="Google Shape;290;p18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91" name="Google Shape;291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381500" y="2381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92" name="Google Shape;292;p18"/>
          <p:cNvGrpSpPr/>
          <p:nvPr/>
        </p:nvGrpSpPr>
        <p:grpSpPr>
          <a:xfrm>
            <a:off x="381000" y="285750"/>
            <a:ext cx="1486050" cy="228600"/>
            <a:chOff x="0" y="0"/>
            <a:chExt cx="1486050" cy="228600"/>
          </a:xfrm>
        </p:grpSpPr>
        <p:sp>
          <p:nvSpPr>
            <p:cNvPr id="293" name="Google Shape;293;p18"/>
            <p:cNvSpPr/>
            <p:nvPr/>
          </p:nvSpPr>
          <p:spPr>
            <a:xfrm>
              <a:off x="0" y="0"/>
              <a:ext cx="190500" cy="1905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lnTo>
                    <a:pt x="60000" y="9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95250" y="0"/>
              <a:ext cx="95400" cy="1905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120000"/>
                  </a:lnTo>
                  <a:lnTo>
                    <a:pt x="0" y="90000"/>
                  </a:lnTo>
                  <a:close/>
                </a:path>
              </a:pathLst>
            </a:custGeom>
            <a:solidFill>
              <a:srgbClr val="CC8F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18"/>
            <p:cNvSpPr txBox="1"/>
            <p:nvPr/>
          </p:nvSpPr>
          <p:spPr>
            <a:xfrm>
              <a:off x="247650" y="0"/>
              <a:ext cx="1238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400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 b="1" sz="14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sp>
        <p:nvSpPr>
          <p:cNvPr id="296" name="Google Shape;296;p18"/>
          <p:cNvSpPr txBox="1"/>
          <p:nvPr/>
        </p:nvSpPr>
        <p:spPr>
          <a:xfrm>
            <a:off x="2095500" y="190500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Two Models. One Operational Decision.</a:t>
            </a:r>
            <a:endParaRPr b="1" sz="2600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297" name="Google Shape;297;p18"/>
          <p:cNvSpPr/>
          <p:nvPr/>
        </p:nvSpPr>
        <p:spPr>
          <a:xfrm>
            <a:off x="381000" y="762000"/>
            <a:ext cx="8382000" cy="9600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8"/>
          <p:cNvSpPr/>
          <p:nvPr/>
        </p:nvSpPr>
        <p:spPr>
          <a:xfrm>
            <a:off x="381000" y="762000"/>
            <a:ext cx="1143000" cy="19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9" name="Google Shape;29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71988" y="904875"/>
            <a:ext cx="9600" cy="39243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18"/>
          <p:cNvSpPr/>
          <p:nvPr/>
        </p:nvSpPr>
        <p:spPr>
          <a:xfrm>
            <a:off x="4438650" y="2838450"/>
            <a:ext cx="76200" cy="76200"/>
          </a:xfrm>
          <a:prstGeom prst="ellipse">
            <a:avLst/>
          </a:prstGeom>
          <a:solidFill>
            <a:srgbClr val="080C13"/>
          </a:solidFill>
          <a:ln cap="flat" cmpd="sng" w="95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01" name="Google Shape;301;p18"/>
          <p:cNvGrpSpPr/>
          <p:nvPr/>
        </p:nvGrpSpPr>
        <p:grpSpPr>
          <a:xfrm>
            <a:off x="381000" y="904875"/>
            <a:ext cx="3905400" cy="1857300"/>
            <a:chOff x="0" y="0"/>
            <a:chExt cx="3905400" cy="1857300"/>
          </a:xfrm>
        </p:grpSpPr>
        <p:sp>
          <p:nvSpPr>
            <p:cNvPr id="302" name="Google Shape;302;p18"/>
            <p:cNvSpPr/>
            <p:nvPr/>
          </p:nvSpPr>
          <p:spPr>
            <a:xfrm>
              <a:off x="0" y="0"/>
              <a:ext cx="3905400" cy="18573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18"/>
            <p:cNvSpPr/>
            <p:nvPr/>
          </p:nvSpPr>
          <p:spPr>
            <a:xfrm>
              <a:off x="0" y="0"/>
              <a:ext cx="38100" cy="18573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18"/>
            <p:cNvSpPr txBox="1"/>
            <p:nvPr/>
          </p:nvSpPr>
          <p:spPr>
            <a:xfrm>
              <a:off x="190500" y="152400"/>
              <a:ext cx="352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600"/>
                </a:spcAft>
                <a:buNone/>
              </a:pPr>
              <a:r>
                <a:rPr b="0" lang="en" sz="14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LSTM RUL PREDICTOR</a:t>
              </a:r>
              <a:endParaRPr b="0" sz="14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sp>
          <p:nvSpPr>
            <p:cNvPr id="305" name="Google Shape;305;p18"/>
            <p:cNvSpPr/>
            <p:nvPr/>
          </p:nvSpPr>
          <p:spPr>
            <a:xfrm>
              <a:off x="190500" y="419100"/>
              <a:ext cx="3524400" cy="9600"/>
            </a:xfrm>
            <a:prstGeom prst="rect">
              <a:avLst/>
            </a:prstGeom>
            <a:solidFill>
              <a:srgbClr val="223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06" name="Google Shape;306;p18"/>
            <p:cNvGrpSpPr/>
            <p:nvPr/>
          </p:nvGrpSpPr>
          <p:grpSpPr>
            <a:xfrm>
              <a:off x="200025" y="533400"/>
              <a:ext cx="3514875" cy="1171650"/>
              <a:chOff x="9525" y="0"/>
              <a:chExt cx="3514875" cy="1171650"/>
            </a:xfrm>
          </p:grpSpPr>
          <p:sp>
            <p:nvSpPr>
              <p:cNvPr id="307" name="Google Shape;307;p18"/>
              <p:cNvSpPr/>
              <p:nvPr/>
            </p:nvSpPr>
            <p:spPr>
              <a:xfrm>
                <a:off x="9525" y="85725"/>
                <a:ext cx="57300" cy="5730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18"/>
              <p:cNvSpPr txBox="1"/>
              <p:nvPr/>
            </p:nvSpPr>
            <p:spPr>
              <a:xfrm>
                <a:off x="152400" y="0"/>
                <a:ext cx="33720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Sequence Length:</a:t>
                </a:r>
                <a:r>
                  <a:rPr b="0" lang="en" sz="11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 30 cycles of 14 smoothed sensor features.</a:t>
                </a:r>
                <a:endParaRPr b="0" sz="11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9525" y="638175"/>
                <a:ext cx="57300" cy="5730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18"/>
              <p:cNvSpPr txBox="1"/>
              <p:nvPr/>
            </p:nvSpPr>
            <p:spPr>
              <a:xfrm>
                <a:off x="152400" y="552450"/>
                <a:ext cx="3372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Architecture:</a:t>
                </a:r>
                <a:r>
                  <a:rPr b="0" lang="en" sz="11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 Hidden size 64, 2 LSTM layers, 0.2 dropout, outputting a scalar RUL.</a:t>
                </a:r>
                <a:endParaRPr b="0" sz="11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11" name="Google Shape;311;p18"/>
          <p:cNvGrpSpPr/>
          <p:nvPr/>
        </p:nvGrpSpPr>
        <p:grpSpPr>
          <a:xfrm>
            <a:off x="381000" y="2905125"/>
            <a:ext cx="3905400" cy="1952700"/>
            <a:chOff x="0" y="0"/>
            <a:chExt cx="3905400" cy="1952700"/>
          </a:xfrm>
        </p:grpSpPr>
        <p:sp>
          <p:nvSpPr>
            <p:cNvPr id="312" name="Google Shape;312;p18"/>
            <p:cNvSpPr/>
            <p:nvPr/>
          </p:nvSpPr>
          <p:spPr>
            <a:xfrm>
              <a:off x="0" y="0"/>
              <a:ext cx="3905400" cy="19527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18"/>
            <p:cNvSpPr/>
            <p:nvPr/>
          </p:nvSpPr>
          <p:spPr>
            <a:xfrm>
              <a:off x="0" y="0"/>
              <a:ext cx="38100" cy="19527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18"/>
            <p:cNvSpPr txBox="1"/>
            <p:nvPr/>
          </p:nvSpPr>
          <p:spPr>
            <a:xfrm>
              <a:off x="190500" y="152400"/>
              <a:ext cx="352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600"/>
                </a:spcAft>
                <a:buNone/>
              </a:pPr>
              <a:r>
                <a:rPr b="0" lang="en" sz="14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ISOLATION FOREST HEALTH ANALYSIS</a:t>
              </a:r>
              <a:endParaRPr b="0" sz="14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sp>
          <p:nvSpPr>
            <p:cNvPr id="315" name="Google Shape;315;p18"/>
            <p:cNvSpPr/>
            <p:nvPr/>
          </p:nvSpPr>
          <p:spPr>
            <a:xfrm>
              <a:off x="190500" y="419100"/>
              <a:ext cx="3524400" cy="9600"/>
            </a:xfrm>
            <a:prstGeom prst="rect">
              <a:avLst/>
            </a:prstGeom>
            <a:solidFill>
              <a:srgbClr val="223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16" name="Google Shape;316;p18"/>
            <p:cNvGrpSpPr/>
            <p:nvPr/>
          </p:nvGrpSpPr>
          <p:grpSpPr>
            <a:xfrm>
              <a:off x="200025" y="533400"/>
              <a:ext cx="3514875" cy="1266900"/>
              <a:chOff x="9525" y="0"/>
              <a:chExt cx="3514875" cy="1266900"/>
            </a:xfrm>
          </p:grpSpPr>
          <p:sp>
            <p:nvSpPr>
              <p:cNvPr id="317" name="Google Shape;317;p18"/>
              <p:cNvSpPr/>
              <p:nvPr/>
            </p:nvSpPr>
            <p:spPr>
              <a:xfrm>
                <a:off x="9525" y="85725"/>
                <a:ext cx="57300" cy="57300"/>
              </a:xfrm>
              <a:prstGeom prst="ellipse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8" name="Google Shape;318;p18"/>
              <p:cNvSpPr txBox="1"/>
              <p:nvPr/>
            </p:nvSpPr>
            <p:spPr>
              <a:xfrm>
                <a:off x="152400" y="0"/>
                <a:ext cx="3372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Configuration:</a:t>
                </a:r>
                <a:r>
                  <a:rPr b="0" lang="en" sz="11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 100 estimators, 0.01 contamination.</a:t>
                </a:r>
                <a:endParaRPr b="0" sz="11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319" name="Google Shape;319;p18"/>
              <p:cNvSpPr/>
              <p:nvPr/>
            </p:nvSpPr>
            <p:spPr>
              <a:xfrm>
                <a:off x="9525" y="542925"/>
                <a:ext cx="57300" cy="57300"/>
              </a:xfrm>
              <a:prstGeom prst="ellipse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18"/>
              <p:cNvSpPr txBox="1"/>
              <p:nvPr/>
            </p:nvSpPr>
            <p:spPr>
              <a:xfrm>
                <a:off x="152400" y="457200"/>
                <a:ext cx="3372000" cy="8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Rules:</a:t>
                </a:r>
                <a:r>
                  <a:rPr b="0" lang="en" sz="11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 5-cycle persistence window, 3.0σ deviation threshold. Identifies NORMAL, DEGRADING, ABNORMAL, or UNKNOWN states.</a:t>
                </a:r>
                <a:endParaRPr b="0" sz="11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21" name="Google Shape;321;p18"/>
          <p:cNvGrpSpPr/>
          <p:nvPr/>
        </p:nvGrpSpPr>
        <p:grpSpPr>
          <a:xfrm>
            <a:off x="4762500" y="904875"/>
            <a:ext cx="4000500" cy="3952800"/>
            <a:chOff x="0" y="0"/>
            <a:chExt cx="4000500" cy="3952800"/>
          </a:xfrm>
        </p:grpSpPr>
        <p:sp>
          <p:nvSpPr>
            <p:cNvPr id="322" name="Google Shape;322;p18"/>
            <p:cNvSpPr/>
            <p:nvPr/>
          </p:nvSpPr>
          <p:spPr>
            <a:xfrm>
              <a:off x="0" y="0"/>
              <a:ext cx="4000500" cy="3952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18"/>
            <p:cNvSpPr/>
            <p:nvPr/>
          </p:nvSpPr>
          <p:spPr>
            <a:xfrm>
              <a:off x="0" y="0"/>
              <a:ext cx="4000500" cy="381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18"/>
            <p:cNvSpPr txBox="1"/>
            <p:nvPr/>
          </p:nvSpPr>
          <p:spPr>
            <a:xfrm>
              <a:off x="190500" y="152400"/>
              <a:ext cx="3619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600"/>
                </a:spcAft>
                <a:buNone/>
              </a:pPr>
              <a:r>
                <a:rPr b="0" lang="en" sz="1400">
                  <a:solidFill>
                    <a:srgbClr val="F0F4F8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MISSION READINESS ENGINE</a:t>
              </a:r>
              <a:endParaRPr b="0" sz="1400">
                <a:solidFill>
                  <a:srgbClr val="F0F4F8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sp>
          <p:nvSpPr>
            <p:cNvPr id="325" name="Google Shape;325;p18"/>
            <p:cNvSpPr/>
            <p:nvPr/>
          </p:nvSpPr>
          <p:spPr>
            <a:xfrm>
              <a:off x="190500" y="419100"/>
              <a:ext cx="3619500" cy="9600"/>
            </a:xfrm>
            <a:prstGeom prst="rect">
              <a:avLst/>
            </a:prstGeom>
            <a:solidFill>
              <a:srgbClr val="223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18"/>
            <p:cNvSpPr txBox="1"/>
            <p:nvPr/>
          </p:nvSpPr>
          <p:spPr>
            <a:xfrm>
              <a:off x="190500" y="533400"/>
              <a:ext cx="36195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SAFETY MARGIN EQUATION</a:t>
              </a:r>
              <a:endParaRPr b="0" sz="900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grpSp>
          <p:nvGrpSpPr>
            <p:cNvPr id="327" name="Google Shape;327;p18"/>
            <p:cNvGrpSpPr/>
            <p:nvPr/>
          </p:nvGrpSpPr>
          <p:grpSpPr>
            <a:xfrm>
              <a:off x="190500" y="742950"/>
              <a:ext cx="3619500" cy="400200"/>
              <a:chOff x="0" y="0"/>
              <a:chExt cx="3619500" cy="400200"/>
            </a:xfrm>
          </p:grpSpPr>
          <p:sp>
            <p:nvSpPr>
              <p:cNvPr id="328" name="Google Shape;328;p18"/>
              <p:cNvSpPr/>
              <p:nvPr/>
            </p:nvSpPr>
            <p:spPr>
              <a:xfrm>
                <a:off x="0" y="0"/>
                <a:ext cx="3619500" cy="4002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18"/>
              <p:cNvSpPr txBox="1"/>
              <p:nvPr/>
            </p:nvSpPr>
            <p:spPr>
              <a:xfrm>
                <a:off x="95250" y="0"/>
                <a:ext cx="34290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00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MARGIN</a:t>
                </a:r>
                <a:r>
                  <a:rPr b="0" lang="en" sz="1000">
                    <a:solidFill>
                      <a:srgbClr val="F0F4F8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 = </a:t>
                </a:r>
                <a:r>
                  <a:rPr b="0" lang="en" sz="100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PREDICTED RUL</a:t>
                </a:r>
                <a:r>
                  <a:rPr b="0" lang="en" sz="1000">
                    <a:solidFill>
                      <a:srgbClr val="F0F4F8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 - </a:t>
                </a:r>
                <a:r>
                  <a:rPr b="0" lang="en" sz="1000">
                    <a:solidFill>
                      <a:srgbClr val="8A9BB3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MISSION DURATION</a:t>
                </a:r>
                <a:endParaRPr b="0" sz="1000">
                  <a:solidFill>
                    <a:srgbClr val="F0F4F8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endParaRPr>
              </a:p>
            </p:txBody>
          </p:sp>
        </p:grpSp>
        <p:grpSp>
          <p:nvGrpSpPr>
            <p:cNvPr id="330" name="Google Shape;330;p18"/>
            <p:cNvGrpSpPr/>
            <p:nvPr/>
          </p:nvGrpSpPr>
          <p:grpSpPr>
            <a:xfrm>
              <a:off x="190500" y="1238250"/>
              <a:ext cx="3619650" cy="495300"/>
              <a:chOff x="0" y="0"/>
              <a:chExt cx="3619650" cy="495300"/>
            </a:xfrm>
          </p:grpSpPr>
          <p:sp>
            <p:nvSpPr>
              <p:cNvPr id="331" name="Google Shape;331;p18"/>
              <p:cNvSpPr/>
              <p:nvPr/>
            </p:nvSpPr>
            <p:spPr>
              <a:xfrm>
                <a:off x="0" y="0"/>
                <a:ext cx="1095300" cy="4953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" name="Google Shape;332;p18"/>
              <p:cNvSpPr txBox="1"/>
              <p:nvPr/>
            </p:nvSpPr>
            <p:spPr>
              <a:xfrm>
                <a:off x="76200" y="57150"/>
                <a:ext cx="942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PREDICTED RUL</a:t>
                </a:r>
                <a:endParaRPr b="0" sz="8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1" lang="en" sz="1400">
                    <a:solidFill>
                      <a:srgbClr val="00E5FF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42.3</a:t>
                </a:r>
                <a:endParaRPr b="1" sz="14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333" name="Google Shape;333;p18"/>
              <p:cNvSpPr txBox="1"/>
              <p:nvPr/>
            </p:nvSpPr>
            <p:spPr>
              <a:xfrm>
                <a:off x="1123950" y="133350"/>
                <a:ext cx="190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8A9BB3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-</a:t>
                </a:r>
                <a:endParaRPr b="0" sz="1100">
                  <a:solidFill>
                    <a:srgbClr val="8A9BB3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34" name="Google Shape;334;p18"/>
              <p:cNvSpPr/>
              <p:nvPr/>
            </p:nvSpPr>
            <p:spPr>
              <a:xfrm>
                <a:off x="1343025" y="0"/>
                <a:ext cx="1095300" cy="4953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5" name="Google Shape;335;p18"/>
              <p:cNvSpPr txBox="1"/>
              <p:nvPr/>
            </p:nvSpPr>
            <p:spPr>
              <a:xfrm>
                <a:off x="1419225" y="57150"/>
                <a:ext cx="9429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800" u="none" strike="noStrike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MISSION DUR.</a:t>
                </a:r>
                <a:endParaRPr b="0" i="0" sz="800" u="none" strike="noStrike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1" i="0" lang="en" sz="1400" u="none" strike="noStrike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30.0</a:t>
                </a:r>
                <a:endParaRPr b="0" i="0" sz="800" u="none" strike="noStrike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</p:txBody>
          </p:sp>
          <p:sp>
            <p:nvSpPr>
              <p:cNvPr id="336" name="Google Shape;336;p18"/>
              <p:cNvSpPr txBox="1"/>
              <p:nvPr/>
            </p:nvSpPr>
            <p:spPr>
              <a:xfrm>
                <a:off x="2466975" y="133350"/>
                <a:ext cx="1905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8A9BB3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=</a:t>
                </a:r>
                <a:endParaRPr b="0" sz="1100">
                  <a:solidFill>
                    <a:srgbClr val="8A9BB3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2686050" y="0"/>
                <a:ext cx="933600" cy="4953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FFB3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2762250" y="57150"/>
                <a:ext cx="781200" cy="3810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800" u="none" strike="noStrike">
                    <a:solidFill>
                      <a:srgbClr val="FFB300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MARGIN</a:t>
                </a:r>
                <a:endParaRPr b="0" i="0" sz="800" u="none" strike="noStrike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1" i="0" lang="en" sz="1400" u="none" strike="noStrike">
                    <a:solidFill>
                      <a:srgbClr val="FFB300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+12.3</a:t>
                </a:r>
                <a:endParaRPr b="0" i="0" sz="800" u="none" strike="noStrike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>
              <a:off x="190500" y="1857375"/>
              <a:ext cx="3619500" cy="1047900"/>
              <a:chOff x="0" y="0"/>
              <a:chExt cx="3619500" cy="104790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0" y="0"/>
                <a:ext cx="3619500" cy="10479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18"/>
              <p:cNvSpPr txBox="1"/>
              <p:nvPr/>
            </p:nvSpPr>
            <p:spPr>
              <a:xfrm>
                <a:off x="142875" y="95250"/>
                <a:ext cx="19050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READINESS ASSESSMENT</a:t>
                </a:r>
                <a:endParaRPr b="0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</p:txBody>
          </p:sp>
          <p:sp>
            <p:nvSpPr>
              <p:cNvPr id="342" name="Google Shape;342;p18"/>
              <p:cNvSpPr txBox="1"/>
              <p:nvPr/>
            </p:nvSpPr>
            <p:spPr>
              <a:xfrm>
                <a:off x="2333625" y="95250"/>
                <a:ext cx="11430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100">
                    <a:solidFill>
                      <a:srgbClr val="FFB300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MARGINAL</a:t>
                </a:r>
                <a:endParaRPr b="1" sz="1100">
                  <a:solidFill>
                    <a:srgbClr val="FFB300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grpSp>
            <p:nvGrpSpPr>
              <p:cNvPr id="343" name="Google Shape;343;p18"/>
              <p:cNvGrpSpPr/>
              <p:nvPr/>
            </p:nvGrpSpPr>
            <p:grpSpPr>
              <a:xfrm>
                <a:off x="142875" y="295275"/>
                <a:ext cx="3333900" cy="314325"/>
                <a:chOff x="0" y="-28575"/>
                <a:chExt cx="3333900" cy="314325"/>
              </a:xfrm>
            </p:grpSpPr>
            <p:sp>
              <p:nvSpPr>
                <p:cNvPr id="344" name="Google Shape;344;p18"/>
                <p:cNvSpPr/>
                <p:nvPr/>
              </p:nvSpPr>
              <p:spPr>
                <a:xfrm>
                  <a:off x="0" y="0"/>
                  <a:ext cx="3333900" cy="95400"/>
                </a:xfrm>
                <a:prstGeom prst="rect">
                  <a:avLst/>
                </a:prstGeom>
                <a:solidFill>
                  <a:srgbClr val="111A28"/>
                </a:solidFill>
                <a:ln cap="flat" cmpd="sng" w="9525">
                  <a:solidFill>
                    <a:srgbClr val="223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5" name="Google Shape;345;p18"/>
                <p:cNvSpPr/>
                <p:nvPr/>
              </p:nvSpPr>
              <p:spPr>
                <a:xfrm>
                  <a:off x="19050" y="19050"/>
                  <a:ext cx="952500" cy="57300"/>
                </a:xfrm>
                <a:prstGeom prst="rect">
                  <a:avLst/>
                </a:prstGeom>
                <a:solidFill>
                  <a:srgbClr val="00E676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46" name="Google Shape;346;p18"/>
                <p:cNvSpPr/>
                <p:nvPr/>
              </p:nvSpPr>
              <p:spPr>
                <a:xfrm>
                  <a:off x="990600" y="19050"/>
                  <a:ext cx="571500" cy="57300"/>
                </a:xfrm>
                <a:prstGeom prst="rect">
                  <a:avLst/>
                </a:prstGeom>
                <a:solidFill>
                  <a:srgbClr val="FFB30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cxnSp>
              <p:nvCxnSpPr>
                <p:cNvPr id="347" name="Google Shape;347;p18"/>
                <p:cNvCxnSpPr/>
                <p:nvPr/>
              </p:nvCxnSpPr>
              <p:spPr>
                <a:xfrm>
                  <a:off x="1562100" y="-28575"/>
                  <a:ext cx="0" cy="152400"/>
                </a:xfrm>
                <a:prstGeom prst="straightConnector1">
                  <a:avLst/>
                </a:prstGeom>
                <a:solidFill>
                  <a:srgbClr val="FFFFFF"/>
                </a:solidFill>
                <a:ln cap="flat" cmpd="sng" w="19050">
                  <a:solidFill>
                    <a:srgbClr val="FFB300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</p:cxnSp>
            <p:sp>
              <p:nvSpPr>
                <p:cNvPr id="348" name="Google Shape;348;p18"/>
                <p:cNvSpPr txBox="1"/>
                <p:nvPr/>
              </p:nvSpPr>
              <p:spPr>
                <a:xfrm>
                  <a:off x="0" y="133350"/>
                  <a:ext cx="3333900" cy="152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490">
                      <a:solidFill>
                        <a:srgbClr val="8A9BB3"/>
                      </a:solidFill>
                      <a:latin typeface="Rajdhani SemiBold"/>
                      <a:ea typeface="Rajdhani SemiBold"/>
                      <a:cs typeface="Rajdhani SemiBold"/>
                      <a:sym typeface="Rajdhani SemiBold"/>
                    </a:rPr>
                    <a:t>0 CYCLES</a:t>
                  </a:r>
                  <a:r>
                    <a:rPr lang="en" sz="980"/>
                    <a:t> </a:t>
                  </a:r>
                  <a:r>
                    <a:rPr b="0" lang="en" sz="490">
                      <a:solidFill>
                        <a:srgbClr val="FFB300"/>
                      </a:solidFill>
                      <a:latin typeface="Rajdhani SemiBold"/>
                      <a:ea typeface="Rajdhani SemiBold"/>
                      <a:cs typeface="Rajdhani SemiBold"/>
                      <a:sym typeface="Rajdhani SemiBold"/>
                    </a:rPr>
                    <a:t>MARGINAL THRESHOLD</a:t>
                  </a:r>
                  <a:r>
                    <a:rPr lang="en" sz="980"/>
                    <a:t> </a:t>
                  </a:r>
                  <a:r>
                    <a:rPr b="0" lang="en" sz="490">
                      <a:solidFill>
                        <a:srgbClr val="8A9BB3"/>
                      </a:solidFill>
                      <a:latin typeface="Rajdhani SemiBold"/>
                      <a:ea typeface="Rajdhani SemiBold"/>
                      <a:cs typeface="Rajdhani SemiBold"/>
                      <a:sym typeface="Rajdhani SemiBold"/>
                    </a:rPr>
                    <a:t>50+ CYCLES</a:t>
                  </a:r>
                  <a:endParaRPr sz="980"/>
                </a:p>
              </p:txBody>
            </p:sp>
          </p:grpSp>
          <p:grpSp>
            <p:nvGrpSpPr>
              <p:cNvPr id="349" name="Google Shape;349;p18"/>
              <p:cNvGrpSpPr/>
              <p:nvPr/>
            </p:nvGrpSpPr>
            <p:grpSpPr>
              <a:xfrm>
                <a:off x="152400" y="742950"/>
                <a:ext cx="3324225" cy="228600"/>
                <a:chOff x="9525" y="0"/>
                <a:chExt cx="3324225" cy="228600"/>
              </a:xfrm>
            </p:grpSpPr>
            <p:sp>
              <p:nvSpPr>
                <p:cNvPr id="350" name="Google Shape;350;p18"/>
                <p:cNvSpPr/>
                <p:nvPr/>
              </p:nvSpPr>
              <p:spPr>
                <a:xfrm>
                  <a:off x="9525" y="47625"/>
                  <a:ext cx="57300" cy="57300"/>
                </a:xfrm>
                <a:prstGeom prst="ellipse">
                  <a:avLst/>
                </a:prstGeom>
                <a:solidFill>
                  <a:srgbClr val="FFB30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51" name="Google Shape;351;p18"/>
                <p:cNvSpPr txBox="1"/>
                <p:nvPr/>
              </p:nvSpPr>
              <p:spPr>
                <a:xfrm>
                  <a:off x="133350" y="0"/>
                  <a:ext cx="3200400" cy="2286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000">
                      <a:solidFill>
                        <a:srgbClr val="FFB300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Telemetry Warning:</a:t>
                  </a:r>
                  <a:r>
                    <a:rPr b="0" lang="en" sz="1000">
                      <a:solidFill>
                        <a:srgbClr val="F0F4F8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2 degrading sensors identified</a:t>
                  </a:r>
                  <a:endParaRPr b="0" sz="10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grpSp>
          <p:nvGrpSpPr>
            <p:cNvPr id="352" name="Google Shape;352;p18"/>
            <p:cNvGrpSpPr/>
            <p:nvPr/>
          </p:nvGrpSpPr>
          <p:grpSpPr>
            <a:xfrm>
              <a:off x="185738" y="3024188"/>
              <a:ext cx="3629100" cy="752400"/>
              <a:chOff x="-4762" y="-4762"/>
              <a:chExt cx="3629100" cy="752400"/>
            </a:xfrm>
          </p:grpSpPr>
          <p:pic>
            <p:nvPicPr>
              <p:cNvPr id="353" name="Google Shape;353;p18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-4762" y="-4762"/>
                <a:ext cx="3629100" cy="75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54" name="Google Shape;354;p18"/>
              <p:cNvSpPr/>
              <p:nvPr/>
            </p:nvSpPr>
            <p:spPr>
              <a:xfrm>
                <a:off x="0" y="0"/>
                <a:ext cx="133500" cy="1335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0"/>
                    </a:lnTo>
                    <a:lnTo>
                      <a:pt x="120000" y="120000"/>
                    </a:lnTo>
                    <a:close/>
                  </a:path>
                </a:pathLst>
              </a:cu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5" name="Google Shape;355;p18"/>
              <p:cNvSpPr txBox="1"/>
              <p:nvPr/>
            </p:nvSpPr>
            <p:spPr>
              <a:xfrm>
                <a:off x="142875" y="114300"/>
                <a:ext cx="3333900" cy="5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FFB300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SYSTEM RECOMMENDATION</a:t>
                </a:r>
                <a:endParaRPr b="0" sz="9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Recommend physical maintenance inspection before aircraft dispatch.</a:t>
                </a:r>
                <a:endParaRPr b="0" sz="11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1" name="Google Shape;361;p19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362" name="Google Shape;362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63" name="Google Shape;363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81500" y="2381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64" name="Google Shape;364;p19"/>
          <p:cNvSpPr/>
          <p:nvPr/>
        </p:nvSpPr>
        <p:spPr>
          <a:xfrm>
            <a:off x="0" y="0"/>
            <a:ext cx="9144000" cy="362100"/>
          </a:xfrm>
          <a:prstGeom prst="rect">
            <a:avLst/>
          </a:prstGeom>
          <a:solidFill>
            <a:srgbClr val="111A28"/>
          </a:solidFill>
          <a:ln cap="flat" cmpd="sng" w="9525">
            <a:solidFill>
              <a:srgbClr val="22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5" name="Google Shape;365;p19"/>
          <p:cNvGrpSpPr/>
          <p:nvPr/>
        </p:nvGrpSpPr>
        <p:grpSpPr>
          <a:xfrm>
            <a:off x="152400" y="66675"/>
            <a:ext cx="1581150" cy="228600"/>
            <a:chOff x="0" y="0"/>
            <a:chExt cx="1581150" cy="228600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190500" cy="1905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lnTo>
                    <a:pt x="60000" y="9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95250" y="0"/>
              <a:ext cx="95400" cy="1905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120000"/>
                  </a:lnTo>
                  <a:lnTo>
                    <a:pt x="0" y="90000"/>
                  </a:lnTo>
                  <a:close/>
                </a:path>
              </a:pathLst>
            </a:custGeom>
            <a:solidFill>
              <a:srgbClr val="CC8F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247650" y="0"/>
              <a:ext cx="13335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400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/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6953250" y="85725"/>
            <a:ext cx="2038500" cy="190500"/>
            <a:chOff x="0" y="0"/>
            <a:chExt cx="2038500" cy="190500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038500" cy="190500"/>
            </a:xfrm>
            <a:prstGeom prst="roundRect">
              <a:avLst>
                <a:gd fmla="val 15000" name="adj"/>
              </a:avLst>
            </a:prstGeom>
            <a:solidFill>
              <a:srgbClr val="080C13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1" name="Google Shape;371;p19"/>
            <p:cNvGrpSpPr/>
            <p:nvPr/>
          </p:nvGrpSpPr>
          <p:grpSpPr>
            <a:xfrm>
              <a:off x="95250" y="47625"/>
              <a:ext cx="95400" cy="95400"/>
              <a:chOff x="0" y="0"/>
              <a:chExt cx="95400" cy="95400"/>
            </a:xfrm>
          </p:grpSpPr>
          <p:sp>
            <p:nvSpPr>
              <p:cNvPr id="372" name="Google Shape;372;p19"/>
              <p:cNvSpPr/>
              <p:nvPr/>
            </p:nvSpPr>
            <p:spPr>
              <a:xfrm>
                <a:off x="19050" y="19050"/>
                <a:ext cx="57300" cy="57300"/>
              </a:xfrm>
              <a:prstGeom prst="ellipse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3" name="Google Shape;373;p19"/>
              <p:cNvSpPr/>
              <p:nvPr/>
            </p:nvSpPr>
            <p:spPr>
              <a:xfrm>
                <a:off x="0" y="0"/>
                <a:ext cx="95400" cy="95400"/>
              </a:xfrm>
              <a:prstGeom prst="ellipse">
                <a:avLst/>
              </a:prstGeom>
              <a:solidFill>
                <a:srgbClr val="00E5FF">
                  <a:alpha val="3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74" name="Google Shape;374;p19"/>
            <p:cNvSpPr txBox="1"/>
            <p:nvPr/>
          </p:nvSpPr>
          <p:spPr>
            <a:xfrm>
              <a:off x="209550" y="0"/>
              <a:ext cx="1714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0E676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SYS ONLINE // MISSION DASHBOARD</a:t>
              </a:r>
              <a:endParaRPr/>
            </a:p>
          </p:txBody>
        </p:sp>
      </p:grpSp>
      <p:grpSp>
        <p:nvGrpSpPr>
          <p:cNvPr id="375" name="Google Shape;375;p19"/>
          <p:cNvGrpSpPr/>
          <p:nvPr/>
        </p:nvGrpSpPr>
        <p:grpSpPr>
          <a:xfrm>
            <a:off x="190500" y="457200"/>
            <a:ext cx="8763000" cy="495300"/>
            <a:chOff x="0" y="0"/>
            <a:chExt cx="8763000" cy="495300"/>
          </a:xfrm>
        </p:grpSpPr>
        <p:sp>
          <p:nvSpPr>
            <p:cNvPr id="376" name="Google Shape;376;p19"/>
            <p:cNvSpPr/>
            <p:nvPr/>
          </p:nvSpPr>
          <p:spPr>
            <a:xfrm>
              <a:off x="0" y="0"/>
              <a:ext cx="8763000" cy="4953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19"/>
            <p:cNvSpPr/>
            <p:nvPr/>
          </p:nvSpPr>
          <p:spPr>
            <a:xfrm>
              <a:off x="0" y="0"/>
              <a:ext cx="38100" cy="4953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19"/>
            <p:cNvSpPr txBox="1"/>
            <p:nvPr/>
          </p:nvSpPr>
          <p:spPr>
            <a:xfrm>
              <a:off x="152400" y="57150"/>
              <a:ext cx="84582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86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OPERATIONAL DASHBOARD USER JOURNEY</a:t>
              </a:r>
              <a:endParaRPr b="0" sz="786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  <a:p>
              <a:pPr indent="0" lvl="0" marL="0" rtl="0" algn="l">
                <a:spcBef>
                  <a:spcPts val="75"/>
                </a:spcBef>
                <a:spcAft>
                  <a:spcPts val="0"/>
                </a:spcAft>
                <a:buNone/>
              </a:pPr>
              <a:r>
                <a:rPr b="1" lang="en" sz="1573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ONE ASSET. ONE MISSION. ONE EVIDENCE-BASED DECISION.</a:t>
              </a:r>
              <a:endParaRPr b="1" sz="1573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cxnSp>
        <p:nvCxnSpPr>
          <p:cNvPr id="379" name="Google Shape;379;p19"/>
          <p:cNvCxnSpPr/>
          <p:nvPr/>
        </p:nvCxnSpPr>
        <p:spPr>
          <a:xfrm>
            <a:off x="762000" y="1314450"/>
            <a:ext cx="7620000" cy="0"/>
          </a:xfrm>
          <a:prstGeom prst="straightConnector1">
            <a:avLst/>
          </a:prstGeom>
          <a:solidFill>
            <a:srgbClr val="FFFFFF"/>
          </a:solidFill>
          <a:ln cap="flat" cmpd="sng" w="19050">
            <a:solidFill>
              <a:srgbClr val="22334A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80" name="Google Shape;380;p19"/>
          <p:cNvGrpSpPr/>
          <p:nvPr/>
        </p:nvGrpSpPr>
        <p:grpSpPr>
          <a:xfrm>
            <a:off x="190500" y="1066800"/>
            <a:ext cx="1619100" cy="1447800"/>
            <a:chOff x="0" y="0"/>
            <a:chExt cx="1619100" cy="1447800"/>
          </a:xfrm>
        </p:grpSpPr>
        <p:sp>
          <p:nvSpPr>
            <p:cNvPr id="381" name="Google Shape;381;p19"/>
            <p:cNvSpPr/>
            <p:nvPr/>
          </p:nvSpPr>
          <p:spPr>
            <a:xfrm>
              <a:off x="0" y="0"/>
              <a:ext cx="1619100" cy="1447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19"/>
            <p:cNvSpPr/>
            <p:nvPr/>
          </p:nvSpPr>
          <p:spPr>
            <a:xfrm>
              <a:off x="0" y="0"/>
              <a:ext cx="1619100" cy="285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19"/>
            <p:cNvSpPr/>
            <p:nvPr/>
          </p:nvSpPr>
          <p:spPr>
            <a:xfrm>
              <a:off x="47625" y="95250"/>
              <a:ext cx="190500" cy="190500"/>
            </a:xfrm>
            <a:prstGeom prst="ellipse">
              <a:avLst/>
            </a:prstGeom>
            <a:solidFill>
              <a:srgbClr val="080C13"/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19"/>
            <p:cNvSpPr txBox="1"/>
            <p:nvPr/>
          </p:nvSpPr>
          <p:spPr>
            <a:xfrm>
              <a:off x="85725" y="104775"/>
              <a:ext cx="1143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1</a:t>
              </a:r>
              <a:endParaRPr/>
            </a:p>
          </p:txBody>
        </p:sp>
        <p:sp>
          <p:nvSpPr>
            <p:cNvPr id="385" name="Google Shape;385;p19"/>
            <p:cNvSpPr txBox="1"/>
            <p:nvPr/>
          </p:nvSpPr>
          <p:spPr>
            <a:xfrm>
              <a:off x="304800" y="104775"/>
              <a:ext cx="12384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PHASE 01</a:t>
              </a:r>
              <a:endParaRPr/>
            </a:p>
          </p:txBody>
        </p:sp>
        <p:sp>
          <p:nvSpPr>
            <p:cNvPr id="386" name="Google Shape;386;p19"/>
            <p:cNvSpPr txBox="1"/>
            <p:nvPr/>
          </p:nvSpPr>
          <p:spPr>
            <a:xfrm>
              <a:off x="114300" y="361950"/>
              <a:ext cx="1390800" cy="10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FLEET OVERVIEW</a:t>
              </a:r>
              <a:endParaRPr b="1" sz="11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View overall fleet readiness metrics and high-level maintenance priorities across assets.</a:t>
              </a:r>
              <a:endParaRPr b="0" sz="85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0E676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STATUS: OPTIMAL</a:t>
              </a:r>
              <a:endParaRPr b="0" sz="750">
                <a:solidFill>
                  <a:srgbClr val="00E676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387" name="Google Shape;387;p19"/>
          <p:cNvGrpSpPr/>
          <p:nvPr/>
        </p:nvGrpSpPr>
        <p:grpSpPr>
          <a:xfrm>
            <a:off x="1962150" y="1066800"/>
            <a:ext cx="1619100" cy="1447800"/>
            <a:chOff x="0" y="0"/>
            <a:chExt cx="1619100" cy="1447800"/>
          </a:xfrm>
        </p:grpSpPr>
        <p:sp>
          <p:nvSpPr>
            <p:cNvPr id="388" name="Google Shape;388;p19"/>
            <p:cNvSpPr/>
            <p:nvPr/>
          </p:nvSpPr>
          <p:spPr>
            <a:xfrm>
              <a:off x="0" y="0"/>
              <a:ext cx="1619100" cy="1447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19"/>
            <p:cNvSpPr/>
            <p:nvPr/>
          </p:nvSpPr>
          <p:spPr>
            <a:xfrm>
              <a:off x="0" y="0"/>
              <a:ext cx="1619100" cy="285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19"/>
            <p:cNvSpPr/>
            <p:nvPr/>
          </p:nvSpPr>
          <p:spPr>
            <a:xfrm>
              <a:off x="47625" y="95250"/>
              <a:ext cx="190500" cy="190500"/>
            </a:xfrm>
            <a:prstGeom prst="ellipse">
              <a:avLst/>
            </a:prstGeom>
            <a:solidFill>
              <a:srgbClr val="080C13"/>
            </a:solidFill>
            <a:ln cap="flat" cmpd="sng" w="14300">
              <a:solidFill>
                <a:srgbClr val="FFB3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19"/>
            <p:cNvSpPr txBox="1"/>
            <p:nvPr/>
          </p:nvSpPr>
          <p:spPr>
            <a:xfrm>
              <a:off x="85725" y="104775"/>
              <a:ext cx="1143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FFB3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2</a:t>
              </a:r>
              <a:endParaRPr/>
            </a:p>
          </p:txBody>
        </p:sp>
        <p:sp>
          <p:nvSpPr>
            <p:cNvPr id="392" name="Google Shape;392;p19"/>
            <p:cNvSpPr txBox="1"/>
            <p:nvPr/>
          </p:nvSpPr>
          <p:spPr>
            <a:xfrm>
              <a:off x="304800" y="104775"/>
              <a:ext cx="12384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PHASE 02</a:t>
              </a:r>
              <a:endParaRPr/>
            </a:p>
          </p:txBody>
        </p:sp>
        <p:sp>
          <p:nvSpPr>
            <p:cNvPr id="393" name="Google Shape;393;p19"/>
            <p:cNvSpPr txBox="1"/>
            <p:nvPr/>
          </p:nvSpPr>
          <p:spPr>
            <a:xfrm>
              <a:off x="114300" y="361950"/>
              <a:ext cx="1390800" cy="10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ASSET SELECTION</a:t>
              </a:r>
              <a:endParaRPr b="1" sz="11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Select a specific high-priority turbine engine requiring immediate inspection.</a:t>
              </a:r>
              <a:endParaRPr b="0" sz="85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B300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TARGET: ENG-2491</a:t>
              </a:r>
              <a:endParaRPr b="0" sz="750">
                <a:solidFill>
                  <a:srgbClr val="FFB300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  <p:grpSp>
        <p:nvGrpSpPr>
          <p:cNvPr id="394" name="Google Shape;394;p19"/>
          <p:cNvGrpSpPr/>
          <p:nvPr/>
        </p:nvGrpSpPr>
        <p:grpSpPr>
          <a:xfrm>
            <a:off x="3733800" y="1066800"/>
            <a:ext cx="1619100" cy="1447800"/>
            <a:chOff x="0" y="0"/>
            <a:chExt cx="1619100" cy="1447800"/>
          </a:xfrm>
        </p:grpSpPr>
        <p:sp>
          <p:nvSpPr>
            <p:cNvPr id="395" name="Google Shape;395;p19"/>
            <p:cNvSpPr/>
            <p:nvPr/>
          </p:nvSpPr>
          <p:spPr>
            <a:xfrm>
              <a:off x="0" y="0"/>
              <a:ext cx="1619100" cy="1447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6" name="Google Shape;396;p19"/>
            <p:cNvSpPr/>
            <p:nvPr/>
          </p:nvSpPr>
          <p:spPr>
            <a:xfrm>
              <a:off x="0" y="0"/>
              <a:ext cx="1619100" cy="285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7" name="Google Shape;397;p19"/>
            <p:cNvSpPr/>
            <p:nvPr/>
          </p:nvSpPr>
          <p:spPr>
            <a:xfrm>
              <a:off x="47625" y="95250"/>
              <a:ext cx="190500" cy="190500"/>
            </a:xfrm>
            <a:prstGeom prst="ellipse">
              <a:avLst/>
            </a:prstGeom>
            <a:solidFill>
              <a:srgbClr val="080C13"/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19"/>
            <p:cNvSpPr txBox="1"/>
            <p:nvPr/>
          </p:nvSpPr>
          <p:spPr>
            <a:xfrm>
              <a:off x="85725" y="104775"/>
              <a:ext cx="1143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3</a:t>
              </a:r>
              <a:endParaRPr/>
            </a:p>
          </p:txBody>
        </p:sp>
        <p:sp>
          <p:nvSpPr>
            <p:cNvPr id="399" name="Google Shape;399;p19"/>
            <p:cNvSpPr txBox="1"/>
            <p:nvPr/>
          </p:nvSpPr>
          <p:spPr>
            <a:xfrm>
              <a:off x="304800" y="104775"/>
              <a:ext cx="12384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PHASE 03</a:t>
              </a:r>
              <a:endParaRPr/>
            </a:p>
          </p:txBody>
        </p:sp>
        <p:sp>
          <p:nvSpPr>
            <p:cNvPr id="400" name="Google Shape;400;p19"/>
            <p:cNvSpPr txBox="1"/>
            <p:nvPr/>
          </p:nvSpPr>
          <p:spPr>
            <a:xfrm>
              <a:off x="114300" y="361950"/>
              <a:ext cx="1390800" cy="10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MARGIN ASSESSMENT</a:t>
              </a:r>
              <a:endParaRPr b="1" sz="11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Inspect the Predicted RUL (Remaining Useful Life) against Mission Safety Margin.</a:t>
              </a:r>
              <a:endParaRPr b="0" sz="85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DELTA RUL: -14 CYC</a:t>
              </a:r>
              <a:endParaRPr b="0" sz="75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  <p:grpSp>
        <p:nvGrpSpPr>
          <p:cNvPr id="401" name="Google Shape;401;p19"/>
          <p:cNvGrpSpPr/>
          <p:nvPr/>
        </p:nvGrpSpPr>
        <p:grpSpPr>
          <a:xfrm>
            <a:off x="5505450" y="1066800"/>
            <a:ext cx="1619100" cy="1447800"/>
            <a:chOff x="0" y="0"/>
            <a:chExt cx="1619100" cy="1447800"/>
          </a:xfrm>
        </p:grpSpPr>
        <p:sp>
          <p:nvSpPr>
            <p:cNvPr id="402" name="Google Shape;402;p19"/>
            <p:cNvSpPr/>
            <p:nvPr/>
          </p:nvSpPr>
          <p:spPr>
            <a:xfrm>
              <a:off x="0" y="0"/>
              <a:ext cx="1619100" cy="1447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19"/>
            <p:cNvSpPr/>
            <p:nvPr/>
          </p:nvSpPr>
          <p:spPr>
            <a:xfrm>
              <a:off x="0" y="0"/>
              <a:ext cx="1619100" cy="285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19"/>
            <p:cNvSpPr/>
            <p:nvPr/>
          </p:nvSpPr>
          <p:spPr>
            <a:xfrm>
              <a:off x="47625" y="95250"/>
              <a:ext cx="190500" cy="190500"/>
            </a:xfrm>
            <a:prstGeom prst="ellipse">
              <a:avLst/>
            </a:prstGeom>
            <a:solidFill>
              <a:srgbClr val="080C13"/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19"/>
            <p:cNvSpPr txBox="1"/>
            <p:nvPr/>
          </p:nvSpPr>
          <p:spPr>
            <a:xfrm>
              <a:off x="85725" y="104775"/>
              <a:ext cx="1143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4</a:t>
              </a:r>
              <a:endParaRPr/>
            </a:p>
          </p:txBody>
        </p:sp>
        <p:sp>
          <p:nvSpPr>
            <p:cNvPr id="406" name="Google Shape;406;p19"/>
            <p:cNvSpPr txBox="1"/>
            <p:nvPr/>
          </p:nvSpPr>
          <p:spPr>
            <a:xfrm>
              <a:off x="304800" y="104775"/>
              <a:ext cx="12384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PHASE 04</a:t>
              </a:r>
              <a:endParaRPr/>
            </a:p>
          </p:txBody>
        </p:sp>
        <p:sp>
          <p:nvSpPr>
            <p:cNvPr id="407" name="Google Shape;407;p19"/>
            <p:cNvSpPr txBox="1"/>
            <p:nvPr/>
          </p:nvSpPr>
          <p:spPr>
            <a:xfrm>
              <a:off x="114300" y="361950"/>
              <a:ext cx="1390800" cy="10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SENSOR HEALTH</a:t>
              </a:r>
              <a:endParaRPr b="1" sz="11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Open the Sensor Health tab to inspect real-time degradation evidence &amp; telemetry.</a:t>
              </a:r>
              <a:endParaRPr b="0" sz="85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SENSORS: 4 DEGRADED</a:t>
              </a:r>
              <a:endParaRPr b="0" sz="750">
                <a:solidFill>
                  <a:srgbClr val="00E5FF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  <p:grpSp>
        <p:nvGrpSpPr>
          <p:cNvPr id="408" name="Google Shape;408;p19"/>
          <p:cNvGrpSpPr/>
          <p:nvPr/>
        </p:nvGrpSpPr>
        <p:grpSpPr>
          <a:xfrm>
            <a:off x="7277100" y="1066800"/>
            <a:ext cx="1676400" cy="1447800"/>
            <a:chOff x="0" y="0"/>
            <a:chExt cx="1676400" cy="1447800"/>
          </a:xfrm>
        </p:grpSpPr>
        <p:sp>
          <p:nvSpPr>
            <p:cNvPr id="409" name="Google Shape;409;p19"/>
            <p:cNvSpPr/>
            <p:nvPr/>
          </p:nvSpPr>
          <p:spPr>
            <a:xfrm>
              <a:off x="0" y="0"/>
              <a:ext cx="1676400" cy="14478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19"/>
            <p:cNvSpPr/>
            <p:nvPr/>
          </p:nvSpPr>
          <p:spPr>
            <a:xfrm>
              <a:off x="0" y="0"/>
              <a:ext cx="1676400" cy="285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1" name="Google Shape;411;p19"/>
            <p:cNvSpPr/>
            <p:nvPr/>
          </p:nvSpPr>
          <p:spPr>
            <a:xfrm>
              <a:off x="47625" y="95250"/>
              <a:ext cx="190500" cy="190500"/>
            </a:xfrm>
            <a:prstGeom prst="ellipse">
              <a:avLst/>
            </a:prstGeom>
            <a:solidFill>
              <a:srgbClr val="080C13"/>
            </a:solidFill>
            <a:ln cap="flat" cmpd="sng" w="14300">
              <a:solidFill>
                <a:srgbClr val="FFB3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19"/>
            <p:cNvSpPr txBox="1"/>
            <p:nvPr/>
          </p:nvSpPr>
          <p:spPr>
            <a:xfrm>
              <a:off x="85725" y="104775"/>
              <a:ext cx="1143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FFB3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5</a:t>
              </a:r>
              <a:endParaRPr/>
            </a:p>
          </p:txBody>
        </p:sp>
        <p:sp>
          <p:nvSpPr>
            <p:cNvPr id="413" name="Google Shape;413;p19"/>
            <p:cNvSpPr txBox="1"/>
            <p:nvPr/>
          </p:nvSpPr>
          <p:spPr>
            <a:xfrm>
              <a:off x="304800" y="104775"/>
              <a:ext cx="12384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PHASE 05</a:t>
              </a:r>
              <a:endParaRPr/>
            </a:p>
          </p:txBody>
        </p:sp>
        <p:sp>
          <p:nvSpPr>
            <p:cNvPr id="414" name="Google Shape;414;p19"/>
            <p:cNvSpPr txBox="1"/>
            <p:nvPr/>
          </p:nvSpPr>
          <p:spPr>
            <a:xfrm>
              <a:off x="114300" y="361950"/>
              <a:ext cx="1447800" cy="1009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RECOMMENDATION</a:t>
              </a:r>
              <a:endParaRPr b="1" sz="11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Review automated actionable operational and maintenance recommendations.</a:t>
              </a:r>
              <a:endParaRPr b="0" sz="850">
                <a:solidFill>
                  <a:srgbClr val="8A9BB3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FB300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ACTION: HOLD FLIGHT</a:t>
              </a:r>
              <a:endParaRPr b="0" sz="750">
                <a:solidFill>
                  <a:srgbClr val="FFB300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  <p:pic>
        <p:nvPicPr>
          <p:cNvPr id="415" name="Google Shape;415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62475" y="2514600"/>
            <a:ext cx="3562200" cy="257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16" name="Google Shape;416;p19"/>
          <p:cNvGrpSpPr/>
          <p:nvPr/>
        </p:nvGrpSpPr>
        <p:grpSpPr>
          <a:xfrm>
            <a:off x="190500" y="2781300"/>
            <a:ext cx="3429000" cy="2133600"/>
            <a:chOff x="0" y="0"/>
            <a:chExt cx="3429000" cy="2133600"/>
          </a:xfrm>
        </p:grpSpPr>
        <p:sp>
          <p:nvSpPr>
            <p:cNvPr id="417" name="Google Shape;417;p19"/>
            <p:cNvSpPr/>
            <p:nvPr/>
          </p:nvSpPr>
          <p:spPr>
            <a:xfrm>
              <a:off x="0" y="0"/>
              <a:ext cx="3429000" cy="21336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19"/>
            <p:cNvSpPr/>
            <p:nvPr/>
          </p:nvSpPr>
          <p:spPr>
            <a:xfrm>
              <a:off x="0" y="0"/>
              <a:ext cx="3429000" cy="285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19"/>
            <p:cNvSpPr/>
            <p:nvPr/>
          </p:nvSpPr>
          <p:spPr>
            <a:xfrm>
              <a:off x="57150" y="95250"/>
              <a:ext cx="190500" cy="190500"/>
            </a:xfrm>
            <a:prstGeom prst="ellipse">
              <a:avLst/>
            </a:prstGeom>
            <a:solidFill>
              <a:srgbClr val="080C13"/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0" name="Google Shape;420;p19"/>
            <p:cNvSpPr txBox="1"/>
            <p:nvPr/>
          </p:nvSpPr>
          <p:spPr>
            <a:xfrm>
              <a:off x="95250" y="104775"/>
              <a:ext cx="1143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00E5FF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6</a:t>
              </a:r>
              <a:endParaRPr/>
            </a:p>
          </p:txBody>
        </p:sp>
        <p:sp>
          <p:nvSpPr>
            <p:cNvPr id="421" name="Google Shape;421;p19"/>
            <p:cNvSpPr txBox="1"/>
            <p:nvPr/>
          </p:nvSpPr>
          <p:spPr>
            <a:xfrm>
              <a:off x="323850" y="104775"/>
              <a:ext cx="20955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STEP 06 // INTERACTIVE COPILOT</a:t>
              </a:r>
              <a:endParaRPr/>
            </a:p>
          </p:txBody>
        </p:sp>
        <p:sp>
          <p:nvSpPr>
            <p:cNvPr id="422" name="Google Shape;422;p19"/>
            <p:cNvSpPr txBox="1"/>
            <p:nvPr/>
          </p:nvSpPr>
          <p:spPr>
            <a:xfrm>
              <a:off x="152400" y="361950"/>
              <a:ext cx="31242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QUERY COPILOT INTERFACE</a:t>
              </a:r>
              <a:endParaRPr b="1" sz="11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grpSp>
          <p:nvGrpSpPr>
            <p:cNvPr id="423" name="Google Shape;423;p19"/>
            <p:cNvGrpSpPr/>
            <p:nvPr/>
          </p:nvGrpSpPr>
          <p:grpSpPr>
            <a:xfrm>
              <a:off x="152400" y="704850"/>
              <a:ext cx="3124200" cy="571500"/>
              <a:chOff x="0" y="0"/>
              <a:chExt cx="3124200" cy="571500"/>
            </a:xfrm>
          </p:grpSpPr>
          <p:sp>
            <p:nvSpPr>
              <p:cNvPr id="424" name="Google Shape;424;p19"/>
              <p:cNvSpPr/>
              <p:nvPr/>
            </p:nvSpPr>
            <p:spPr>
              <a:xfrm>
                <a:off x="0" y="0"/>
                <a:ext cx="3124200" cy="571500"/>
              </a:xfrm>
              <a:prstGeom prst="roundRect">
                <a:avLst>
                  <a:gd fmla="val 3333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00E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" name="Google Shape;425;p19"/>
              <p:cNvSpPr txBox="1"/>
              <p:nvPr/>
            </p:nvSpPr>
            <p:spPr>
              <a:xfrm>
                <a:off x="114300" y="76200"/>
                <a:ext cx="28956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OPERATOR PROMPT:</a:t>
                </a:r>
                <a:endParaRPr b="0" sz="75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FB30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"Why is this engine not mission ready?"</a:t>
                </a:r>
                <a:endParaRPr b="0" sz="950">
                  <a:solidFill>
                    <a:srgbClr val="FFB300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426" name="Google Shape;426;p19"/>
            <p:cNvGrpSpPr/>
            <p:nvPr/>
          </p:nvGrpSpPr>
          <p:grpSpPr>
            <a:xfrm>
              <a:off x="152400" y="1409700"/>
              <a:ext cx="3124200" cy="228600"/>
              <a:chOff x="0" y="0"/>
              <a:chExt cx="3124200" cy="228600"/>
            </a:xfrm>
          </p:grpSpPr>
          <p:sp>
            <p:nvSpPr>
              <p:cNvPr id="427" name="Google Shape;427;p19"/>
              <p:cNvSpPr/>
              <p:nvPr/>
            </p:nvSpPr>
            <p:spPr>
              <a:xfrm>
                <a:off x="0" y="0"/>
                <a:ext cx="952500" cy="2286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8" name="Google Shape;428;p19"/>
              <p:cNvSpPr txBox="1"/>
              <p:nvPr/>
            </p:nvSpPr>
            <p:spPr>
              <a:xfrm>
                <a:off x="76200" y="28575"/>
                <a:ext cx="8001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ASSET: ENG-2491</a:t>
                </a:r>
                <a:endParaRPr/>
              </a:p>
            </p:txBody>
          </p:sp>
          <p:sp>
            <p:nvSpPr>
              <p:cNvPr id="429" name="Google Shape;429;p19"/>
              <p:cNvSpPr/>
              <p:nvPr/>
            </p:nvSpPr>
            <p:spPr>
              <a:xfrm>
                <a:off x="1028700" y="0"/>
                <a:ext cx="952500" cy="2286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0" name="Google Shape;430;p19"/>
              <p:cNvSpPr txBox="1"/>
              <p:nvPr/>
            </p:nvSpPr>
            <p:spPr>
              <a:xfrm>
                <a:off x="1104900" y="28575"/>
                <a:ext cx="8001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MODEL: RUL-LSTM-V2</a:t>
                </a:r>
                <a:endParaRPr/>
              </a:p>
            </p:txBody>
          </p:sp>
          <p:sp>
            <p:nvSpPr>
              <p:cNvPr id="431" name="Google Shape;431;p19"/>
              <p:cNvSpPr/>
              <p:nvPr/>
            </p:nvSpPr>
            <p:spPr>
              <a:xfrm>
                <a:off x="2057400" y="0"/>
                <a:ext cx="1066800" cy="2286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00E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2" name="Google Shape;432;p19"/>
              <p:cNvSpPr txBox="1"/>
              <p:nvPr/>
            </p:nvSpPr>
            <p:spPr>
              <a:xfrm>
                <a:off x="2095500" y="28575"/>
                <a:ext cx="9906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00E5FF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NL-QUERY ACTIVE</a:t>
                </a:r>
                <a:endParaRPr/>
              </a:p>
            </p:txBody>
          </p:sp>
        </p:grpSp>
        <p:sp>
          <p:nvSpPr>
            <p:cNvPr id="433" name="Google Shape;433;p19"/>
            <p:cNvSpPr txBox="1"/>
            <p:nvPr/>
          </p:nvSpPr>
          <p:spPr>
            <a:xfrm>
              <a:off x="152400" y="1752600"/>
              <a:ext cx="31242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86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rPr>
                <a:t>Natural language interface allows operators to query system diagnostics directly.</a:t>
              </a:r>
              <a:endParaRPr sz="1295"/>
            </a:p>
          </p:txBody>
        </p:sp>
      </p:grpSp>
      <p:grpSp>
        <p:nvGrpSpPr>
          <p:cNvPr id="434" name="Google Shape;434;p19"/>
          <p:cNvGrpSpPr/>
          <p:nvPr/>
        </p:nvGrpSpPr>
        <p:grpSpPr>
          <a:xfrm>
            <a:off x="3886200" y="2781300"/>
            <a:ext cx="5067300" cy="2133600"/>
            <a:chOff x="0" y="0"/>
            <a:chExt cx="5067300" cy="2133600"/>
          </a:xfrm>
        </p:grpSpPr>
        <p:sp>
          <p:nvSpPr>
            <p:cNvPr id="435" name="Google Shape;435;p19"/>
            <p:cNvSpPr/>
            <p:nvPr/>
          </p:nvSpPr>
          <p:spPr>
            <a:xfrm>
              <a:off x="0" y="0"/>
              <a:ext cx="5067300" cy="21336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FFB3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19"/>
            <p:cNvSpPr/>
            <p:nvPr/>
          </p:nvSpPr>
          <p:spPr>
            <a:xfrm>
              <a:off x="0" y="0"/>
              <a:ext cx="5067300" cy="285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7" name="Google Shape;437;p19"/>
            <p:cNvSpPr/>
            <p:nvPr/>
          </p:nvSpPr>
          <p:spPr>
            <a:xfrm>
              <a:off x="76200" y="95250"/>
              <a:ext cx="190500" cy="190500"/>
            </a:xfrm>
            <a:prstGeom prst="ellipse">
              <a:avLst/>
            </a:prstGeom>
            <a:solidFill>
              <a:srgbClr val="080C13"/>
            </a:solidFill>
            <a:ln cap="flat" cmpd="sng" w="14300">
              <a:solidFill>
                <a:srgbClr val="FFB3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19"/>
            <p:cNvSpPr txBox="1"/>
            <p:nvPr/>
          </p:nvSpPr>
          <p:spPr>
            <a:xfrm>
              <a:off x="114300" y="104775"/>
              <a:ext cx="1143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800">
                  <a:solidFill>
                    <a:srgbClr val="FFB300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7</a:t>
              </a:r>
              <a:endParaRPr/>
            </a:p>
          </p:txBody>
        </p:sp>
        <p:sp>
          <p:nvSpPr>
            <p:cNvPr id="439" name="Google Shape;439;p19"/>
            <p:cNvSpPr txBox="1"/>
            <p:nvPr/>
          </p:nvSpPr>
          <p:spPr>
            <a:xfrm>
              <a:off x="342900" y="104775"/>
              <a:ext cx="28575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STEP 07 // EVIDENCE CALLOUT &amp; DECISION</a:t>
              </a:r>
              <a:endParaRPr/>
            </a:p>
          </p:txBody>
        </p:sp>
        <p:sp>
          <p:nvSpPr>
            <p:cNvPr id="440" name="Google Shape;440;p19"/>
            <p:cNvSpPr txBox="1"/>
            <p:nvPr/>
          </p:nvSpPr>
          <p:spPr>
            <a:xfrm>
              <a:off x="171450" y="361950"/>
              <a:ext cx="47244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GROUNDED RESPONSE &amp; BACKEND EVIDENCE CALLOUT</a:t>
              </a:r>
              <a:endParaRPr/>
            </a:p>
          </p:txBody>
        </p:sp>
        <p:grpSp>
          <p:nvGrpSpPr>
            <p:cNvPr id="441" name="Google Shape;441;p19"/>
            <p:cNvGrpSpPr/>
            <p:nvPr/>
          </p:nvGrpSpPr>
          <p:grpSpPr>
            <a:xfrm>
              <a:off x="171450" y="647700"/>
              <a:ext cx="4724400" cy="971700"/>
              <a:chOff x="0" y="0"/>
              <a:chExt cx="4724400" cy="971700"/>
            </a:xfrm>
          </p:grpSpPr>
          <p:sp>
            <p:nvSpPr>
              <p:cNvPr id="442" name="Google Shape;442;p19"/>
              <p:cNvSpPr/>
              <p:nvPr/>
            </p:nvSpPr>
            <p:spPr>
              <a:xfrm>
                <a:off x="0" y="0"/>
                <a:ext cx="4724400" cy="971700"/>
              </a:xfrm>
              <a:prstGeom prst="rect">
                <a:avLst/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" name="Google Shape;443;p19"/>
              <p:cNvSpPr/>
              <p:nvPr/>
            </p:nvSpPr>
            <p:spPr>
              <a:xfrm>
                <a:off x="0" y="0"/>
                <a:ext cx="28500" cy="971700"/>
              </a:xfrm>
              <a:prstGeom prst="rect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4" name="Google Shape;444;p19"/>
              <p:cNvSpPr txBox="1"/>
              <p:nvPr/>
            </p:nvSpPr>
            <p:spPr>
              <a:xfrm>
                <a:off x="133350" y="95250"/>
                <a:ext cx="4457700" cy="781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FFB300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SYSTEM RESPONSE (VERIFIED BACKEND EVIDENCE):</a:t>
                </a:r>
                <a:endParaRPr b="0" sz="75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"Engine ENG-2491 predicted RUL is </a:t>
                </a:r>
                <a:r>
                  <a:rPr b="0" lang="en" sz="900">
                    <a:solidFill>
                      <a:srgbClr val="FFB30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42 cycles</a:t>
                </a:r>
                <a:r>
                  <a:rPr b="0" lang="en" sz="9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, falling short of the required mission threshold of </a:t>
                </a:r>
                <a:r>
                  <a:rPr b="0" lang="en" sz="900">
                    <a:solidFill>
                      <a:srgbClr val="00E5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56 cycles</a:t>
                </a:r>
                <a:r>
                  <a:rPr b="0" lang="en" sz="9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."</a:t>
                </a:r>
                <a:endParaRPr b="0" sz="90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Primary driver: Accelerated HPC outlet temperature sensor degradation (Sensor T50 drift +1.8%) and acoustic vibration anomalies in Turbine Stage 2.</a:t>
                </a:r>
                <a:endParaRPr b="0" sz="85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45" name="Google Shape;445;p19"/>
            <p:cNvGrpSpPr/>
            <p:nvPr/>
          </p:nvGrpSpPr>
          <p:grpSpPr>
            <a:xfrm>
              <a:off x="171450" y="1714500"/>
              <a:ext cx="4705350" cy="304800"/>
              <a:chOff x="0" y="0"/>
              <a:chExt cx="4705350" cy="304800"/>
            </a:xfrm>
          </p:grpSpPr>
          <p:grpSp>
            <p:nvGrpSpPr>
              <p:cNvPr id="446" name="Google Shape;446;p19"/>
              <p:cNvGrpSpPr/>
              <p:nvPr/>
            </p:nvGrpSpPr>
            <p:grpSpPr>
              <a:xfrm>
                <a:off x="0" y="47625"/>
                <a:ext cx="95400" cy="95400"/>
                <a:chOff x="0" y="0"/>
                <a:chExt cx="95400" cy="95400"/>
              </a:xfrm>
            </p:grpSpPr>
            <p:sp>
              <p:nvSpPr>
                <p:cNvPr id="447" name="Google Shape;447;p19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FFB30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448" name="Google Shape;448;p19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FFB300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449" name="Google Shape;449;p19"/>
              <p:cNvSpPr txBox="1"/>
              <p:nvPr/>
            </p:nvSpPr>
            <p:spPr>
              <a:xfrm>
                <a:off x="133350" y="0"/>
                <a:ext cx="4572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F0F4F8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100% GROUNDED IN STORED TELEMETRY &amp; HISTORICAL MAINTENANCE LOGS</a:t>
                </a:r>
                <a:endParaRPr/>
              </a:p>
            </p:txBody>
          </p:sp>
        </p:grpSp>
      </p:grpSp>
      <p:grpSp>
        <p:nvGrpSpPr>
          <p:cNvPr id="450" name="Google Shape;450;p19"/>
          <p:cNvGrpSpPr/>
          <p:nvPr/>
        </p:nvGrpSpPr>
        <p:grpSpPr>
          <a:xfrm>
            <a:off x="66675" y="66675"/>
            <a:ext cx="9010800" cy="5010300"/>
            <a:chOff x="66675" y="66675"/>
            <a:chExt cx="9010800" cy="5010300"/>
          </a:xfrm>
        </p:grpSpPr>
        <p:pic>
          <p:nvPicPr>
            <p:cNvPr id="451" name="Google Shape;451;p19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66675" y="66675"/>
              <a:ext cx="362100" cy="362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2" name="Google Shape;452;p19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8715375" y="66675"/>
              <a:ext cx="362100" cy="362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3" name="Google Shape;453;p19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66675" y="4714875"/>
              <a:ext cx="362100" cy="362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4" name="Google Shape;454;p19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8715375" y="4714875"/>
              <a:ext cx="362100" cy="3621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3"/>
        </a:solidFill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9" name="Google Shape;459;p20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460" name="Google Shape;460;p20"/>
            <p:cNvSpPr/>
            <p:nvPr/>
          </p:nvSpPr>
          <p:spPr>
            <a:xfrm>
              <a:off x="0" y="0"/>
              <a:ext cx="9144000" cy="514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61" name="Google Shape;461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381500" y="2381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62" name="Google Shape;462;p20"/>
          <p:cNvSpPr/>
          <p:nvPr/>
        </p:nvSpPr>
        <p:spPr>
          <a:xfrm>
            <a:off x="0" y="0"/>
            <a:ext cx="9144000" cy="342900"/>
          </a:xfrm>
          <a:prstGeom prst="rect">
            <a:avLst/>
          </a:prstGeom>
          <a:solidFill>
            <a:srgbClr val="111A28"/>
          </a:solidFill>
          <a:ln cap="flat" cmpd="sng" w="9525">
            <a:solidFill>
              <a:srgbClr val="22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63" name="Google Shape;463;p20"/>
          <p:cNvGrpSpPr/>
          <p:nvPr/>
        </p:nvGrpSpPr>
        <p:grpSpPr>
          <a:xfrm>
            <a:off x="190500" y="76200"/>
            <a:ext cx="1467000" cy="190500"/>
            <a:chOff x="0" y="0"/>
            <a:chExt cx="1467000" cy="190500"/>
          </a:xfrm>
        </p:grpSpPr>
        <p:sp>
          <p:nvSpPr>
            <p:cNvPr id="464" name="Google Shape;464;p20"/>
            <p:cNvSpPr/>
            <p:nvPr/>
          </p:nvSpPr>
          <p:spPr>
            <a:xfrm>
              <a:off x="0" y="0"/>
              <a:ext cx="171600" cy="1716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lnTo>
                    <a:pt x="60000" y="9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20"/>
            <p:cNvSpPr/>
            <p:nvPr/>
          </p:nvSpPr>
          <p:spPr>
            <a:xfrm>
              <a:off x="85725" y="0"/>
              <a:ext cx="85800" cy="1716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120000"/>
                  </a:lnTo>
                  <a:lnTo>
                    <a:pt x="0" y="90000"/>
                  </a:lnTo>
                  <a:close/>
                </a:path>
              </a:pathLst>
            </a:custGeom>
            <a:solidFill>
              <a:srgbClr val="CC8F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20"/>
            <p:cNvSpPr txBox="1"/>
            <p:nvPr/>
          </p:nvSpPr>
          <p:spPr>
            <a:xfrm>
              <a:off x="228600" y="0"/>
              <a:ext cx="1238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203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203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 b="1" sz="1203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sp>
        <p:nvSpPr>
          <p:cNvPr id="467" name="Google Shape;467;p20"/>
          <p:cNvSpPr/>
          <p:nvPr/>
        </p:nvSpPr>
        <p:spPr>
          <a:xfrm>
            <a:off x="7905750" y="76200"/>
            <a:ext cx="1047900" cy="190500"/>
          </a:xfrm>
          <a:prstGeom prst="roundRect">
            <a:avLst>
              <a:gd fmla="val 10000" name="adj"/>
            </a:avLst>
          </a:prstGeom>
          <a:solidFill>
            <a:srgbClr val="080C13"/>
          </a:solidFill>
          <a:ln cap="flat" cmpd="sng" w="9525">
            <a:solidFill>
              <a:srgbClr val="223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20"/>
          <p:cNvSpPr/>
          <p:nvPr/>
        </p:nvSpPr>
        <p:spPr>
          <a:xfrm>
            <a:off x="7981950" y="133350"/>
            <a:ext cx="76200" cy="76200"/>
          </a:xfrm>
          <a:prstGeom prst="ellipse">
            <a:avLst/>
          </a:prstGeom>
          <a:solidFill>
            <a:srgbClr val="00E67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9" name="Google Shape;469;p20"/>
          <p:cNvSpPr txBox="1"/>
          <p:nvPr/>
        </p:nvSpPr>
        <p:spPr>
          <a:xfrm>
            <a:off x="8115300" y="7620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0E676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MCP ONLINE</a:t>
            </a:r>
            <a:endParaRPr b="0" sz="900">
              <a:solidFill>
                <a:srgbClr val="00E676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</p:txBody>
      </p:sp>
      <p:sp>
        <p:nvSpPr>
          <p:cNvPr id="470" name="Google Shape;470;p20"/>
          <p:cNvSpPr txBox="1"/>
          <p:nvPr/>
        </p:nvSpPr>
        <p:spPr>
          <a:xfrm>
            <a:off x="285750" y="438150"/>
            <a:ext cx="8572500" cy="5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1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IBM Technology Integration: IBM Bob + MCP</a:t>
            </a:r>
            <a:endParaRPr b="1" sz="2210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105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The IBM Bob integration uses the Model Context Protocol (MCP) to expose AeroReady's read-only data as queryable tools.</a:t>
            </a:r>
            <a:endParaRPr b="0" sz="1105">
              <a:solidFill>
                <a:srgbClr val="FFB300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</p:txBody>
      </p:sp>
      <p:grpSp>
        <p:nvGrpSpPr>
          <p:cNvPr id="471" name="Google Shape;471;p20"/>
          <p:cNvGrpSpPr/>
          <p:nvPr/>
        </p:nvGrpSpPr>
        <p:grpSpPr>
          <a:xfrm>
            <a:off x="285750" y="1047750"/>
            <a:ext cx="8572500" cy="1428900"/>
            <a:chOff x="0" y="0"/>
            <a:chExt cx="8572500" cy="1428900"/>
          </a:xfrm>
        </p:grpSpPr>
        <p:sp>
          <p:nvSpPr>
            <p:cNvPr id="472" name="Google Shape;472;p20"/>
            <p:cNvSpPr/>
            <p:nvPr/>
          </p:nvSpPr>
          <p:spPr>
            <a:xfrm>
              <a:off x="0" y="0"/>
              <a:ext cx="8572500" cy="1428900"/>
            </a:xfrm>
            <a:prstGeom prst="roundRect">
              <a:avLst>
                <a:gd fmla="val 1333" name="adj"/>
              </a:avLst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3" name="Google Shape;473;p20"/>
            <p:cNvSpPr/>
            <p:nvPr/>
          </p:nvSpPr>
          <p:spPr>
            <a:xfrm>
              <a:off x="0" y="0"/>
              <a:ext cx="8572500" cy="285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20"/>
            <p:cNvSpPr txBox="1"/>
            <p:nvPr/>
          </p:nvSpPr>
          <p:spPr>
            <a:xfrm>
              <a:off x="190500" y="114300"/>
              <a:ext cx="8191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WORKFLOW ARCHITECTURE END-TO-END EXECUTION FLOW</a:t>
              </a:r>
              <a:endParaRPr b="0" sz="9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grpSp>
          <p:nvGrpSpPr>
            <p:cNvPr id="475" name="Google Shape;475;p20"/>
            <p:cNvGrpSpPr/>
            <p:nvPr/>
          </p:nvGrpSpPr>
          <p:grpSpPr>
            <a:xfrm>
              <a:off x="190500" y="400050"/>
              <a:ext cx="857400" cy="800100"/>
              <a:chOff x="0" y="0"/>
              <a:chExt cx="857400" cy="800100"/>
            </a:xfrm>
          </p:grpSpPr>
          <p:sp>
            <p:nvSpPr>
              <p:cNvPr id="476" name="Google Shape;476;p20"/>
              <p:cNvSpPr/>
              <p:nvPr/>
            </p:nvSpPr>
            <p:spPr>
              <a:xfrm>
                <a:off x="0" y="0"/>
                <a:ext cx="857400" cy="800100"/>
              </a:xfrm>
              <a:prstGeom prst="roundRect">
                <a:avLst>
                  <a:gd fmla="val 2380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7" name="Google Shape;477;p20"/>
              <p:cNvSpPr txBox="1"/>
              <p:nvPr/>
            </p:nvSpPr>
            <p:spPr>
              <a:xfrm>
                <a:off x="47625" y="76200"/>
                <a:ext cx="7620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ACTOR</a:t>
                </a:r>
                <a:endParaRPr b="0" sz="8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ctr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User</a:t>
                </a:r>
                <a:endParaRPr b="0" sz="11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78" name="Google Shape;478;p20"/>
            <p:cNvSpPr/>
            <p:nvPr/>
          </p:nvSpPr>
          <p:spPr>
            <a:xfrm>
              <a:off x="1104900" y="781050"/>
              <a:ext cx="1428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12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79" name="Google Shape;479;p20"/>
            <p:cNvGrpSpPr/>
            <p:nvPr/>
          </p:nvGrpSpPr>
          <p:grpSpPr>
            <a:xfrm>
              <a:off x="1304925" y="400050"/>
              <a:ext cx="1000200" cy="800100"/>
              <a:chOff x="0" y="0"/>
              <a:chExt cx="1000200" cy="800100"/>
            </a:xfrm>
          </p:grpSpPr>
          <p:sp>
            <p:nvSpPr>
              <p:cNvPr id="480" name="Google Shape;480;p20"/>
              <p:cNvSpPr/>
              <p:nvPr/>
            </p:nvSpPr>
            <p:spPr>
              <a:xfrm>
                <a:off x="0" y="0"/>
                <a:ext cx="1000200" cy="800100"/>
              </a:xfrm>
              <a:prstGeom prst="roundRect">
                <a:avLst>
                  <a:gd fmla="val 2380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FFB3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1" name="Google Shape;481;p20"/>
              <p:cNvSpPr txBox="1"/>
              <p:nvPr/>
            </p:nvSpPr>
            <p:spPr>
              <a:xfrm>
                <a:off x="47625" y="76200"/>
                <a:ext cx="9048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FFB300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AI AGENT</a:t>
                </a:r>
                <a:endParaRPr b="0" sz="8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ctr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FB300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IBM Bob</a:t>
                </a:r>
                <a:endParaRPr b="0" sz="1100">
                  <a:solidFill>
                    <a:srgbClr val="FFB300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82" name="Google Shape;482;p20"/>
            <p:cNvSpPr/>
            <p:nvPr/>
          </p:nvSpPr>
          <p:spPr>
            <a:xfrm>
              <a:off x="2362200" y="781050"/>
              <a:ext cx="1428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12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83" name="Google Shape;483;p20"/>
            <p:cNvGrpSpPr/>
            <p:nvPr/>
          </p:nvGrpSpPr>
          <p:grpSpPr>
            <a:xfrm>
              <a:off x="2562225" y="400050"/>
              <a:ext cx="1190700" cy="800100"/>
              <a:chOff x="0" y="0"/>
              <a:chExt cx="1190700" cy="800100"/>
            </a:xfrm>
          </p:grpSpPr>
          <p:sp>
            <p:nvSpPr>
              <p:cNvPr id="484" name="Google Shape;484;p20"/>
              <p:cNvSpPr/>
              <p:nvPr/>
            </p:nvSpPr>
            <p:spPr>
              <a:xfrm>
                <a:off x="0" y="0"/>
                <a:ext cx="1190700" cy="800100"/>
              </a:xfrm>
              <a:prstGeom prst="roundRect">
                <a:avLst>
                  <a:gd fmla="val 2380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00E5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" name="Google Shape;485;p20"/>
              <p:cNvSpPr txBox="1"/>
              <p:nvPr/>
            </p:nvSpPr>
            <p:spPr>
              <a:xfrm>
                <a:off x="47625" y="76200"/>
                <a:ext cx="10953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00E5FF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PROTOCOL</a:t>
                </a:r>
                <a:endParaRPr b="0" sz="8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ctr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0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Relevant AeroReady MCP Tool</a:t>
                </a:r>
                <a:endParaRPr b="0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86" name="Google Shape;486;p20"/>
            <p:cNvSpPr/>
            <p:nvPr/>
          </p:nvSpPr>
          <p:spPr>
            <a:xfrm>
              <a:off x="3810000" y="781050"/>
              <a:ext cx="1428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12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87" name="Google Shape;487;p20"/>
            <p:cNvGrpSpPr/>
            <p:nvPr/>
          </p:nvGrpSpPr>
          <p:grpSpPr>
            <a:xfrm>
              <a:off x="4010025" y="400050"/>
              <a:ext cx="1095300" cy="800100"/>
              <a:chOff x="0" y="0"/>
              <a:chExt cx="1095300" cy="800100"/>
            </a:xfrm>
          </p:grpSpPr>
          <p:sp>
            <p:nvSpPr>
              <p:cNvPr id="488" name="Google Shape;488;p20"/>
              <p:cNvSpPr/>
              <p:nvPr/>
            </p:nvSpPr>
            <p:spPr>
              <a:xfrm>
                <a:off x="0" y="0"/>
                <a:ext cx="1095300" cy="800100"/>
              </a:xfrm>
              <a:prstGeom prst="roundRect">
                <a:avLst>
                  <a:gd fmla="val 2380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9" name="Google Shape;489;p20"/>
              <p:cNvSpPr txBox="1"/>
              <p:nvPr/>
            </p:nvSpPr>
            <p:spPr>
              <a:xfrm>
                <a:off x="47625" y="76200"/>
                <a:ext cx="10002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SERVICE</a:t>
                </a:r>
                <a:endParaRPr b="0" sz="8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ctr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0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AeroReady Flask API</a:t>
                </a:r>
                <a:endParaRPr b="0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90" name="Google Shape;490;p20"/>
            <p:cNvSpPr/>
            <p:nvPr/>
          </p:nvSpPr>
          <p:spPr>
            <a:xfrm>
              <a:off x="5162550" y="781050"/>
              <a:ext cx="1428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12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91" name="Google Shape;491;p20"/>
            <p:cNvGrpSpPr/>
            <p:nvPr/>
          </p:nvGrpSpPr>
          <p:grpSpPr>
            <a:xfrm>
              <a:off x="5362575" y="400050"/>
              <a:ext cx="1000200" cy="800100"/>
              <a:chOff x="0" y="0"/>
              <a:chExt cx="1000200" cy="800100"/>
            </a:xfrm>
          </p:grpSpPr>
          <p:sp>
            <p:nvSpPr>
              <p:cNvPr id="492" name="Google Shape;492;p20"/>
              <p:cNvSpPr/>
              <p:nvPr/>
            </p:nvSpPr>
            <p:spPr>
              <a:xfrm>
                <a:off x="0" y="0"/>
                <a:ext cx="1000200" cy="800100"/>
              </a:xfrm>
              <a:prstGeom prst="roundRect">
                <a:avLst>
                  <a:gd fmla="val 2380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3" name="Google Shape;493;p20"/>
              <p:cNvSpPr txBox="1"/>
              <p:nvPr/>
            </p:nvSpPr>
            <p:spPr>
              <a:xfrm>
                <a:off x="47625" y="76200"/>
                <a:ext cx="9048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DATA STORE</a:t>
                </a:r>
                <a:endParaRPr b="0" sz="8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ctr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00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Stored ML Results</a:t>
                </a:r>
                <a:endParaRPr b="0" sz="10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94" name="Google Shape;494;p20"/>
            <p:cNvSpPr/>
            <p:nvPr/>
          </p:nvSpPr>
          <p:spPr>
            <a:xfrm>
              <a:off x="6419850" y="781050"/>
              <a:ext cx="1428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12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95" name="Google Shape;495;p20"/>
            <p:cNvGrpSpPr/>
            <p:nvPr/>
          </p:nvGrpSpPr>
          <p:grpSpPr>
            <a:xfrm>
              <a:off x="6619875" y="400050"/>
              <a:ext cx="952500" cy="800100"/>
              <a:chOff x="0" y="0"/>
              <a:chExt cx="952500" cy="800100"/>
            </a:xfrm>
          </p:grpSpPr>
          <p:sp>
            <p:nvSpPr>
              <p:cNvPr id="496" name="Google Shape;496;p20"/>
              <p:cNvSpPr/>
              <p:nvPr/>
            </p:nvSpPr>
            <p:spPr>
              <a:xfrm>
                <a:off x="0" y="0"/>
                <a:ext cx="952500" cy="800100"/>
              </a:xfrm>
              <a:prstGeom prst="roundRect">
                <a:avLst>
                  <a:gd fmla="val 2380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7" name="Google Shape;497;p20"/>
              <p:cNvSpPr txBox="1"/>
              <p:nvPr/>
            </p:nvSpPr>
            <p:spPr>
              <a:xfrm>
                <a:off x="47625" y="76200"/>
                <a:ext cx="8574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OUTPUT</a:t>
                </a:r>
                <a:endParaRPr b="0" sz="8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ctr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Structured Evidence</a:t>
                </a:r>
                <a:endParaRPr b="0" sz="95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498" name="Google Shape;498;p20"/>
            <p:cNvSpPr/>
            <p:nvPr/>
          </p:nvSpPr>
          <p:spPr>
            <a:xfrm>
              <a:off x="7629525" y="781050"/>
              <a:ext cx="142800" cy="95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12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99" name="Google Shape;499;p20"/>
            <p:cNvGrpSpPr/>
            <p:nvPr/>
          </p:nvGrpSpPr>
          <p:grpSpPr>
            <a:xfrm>
              <a:off x="7829550" y="400050"/>
              <a:ext cx="571500" cy="800100"/>
              <a:chOff x="0" y="0"/>
              <a:chExt cx="571500" cy="800100"/>
            </a:xfrm>
          </p:grpSpPr>
          <p:sp>
            <p:nvSpPr>
              <p:cNvPr id="500" name="Google Shape;500;p20"/>
              <p:cNvSpPr/>
              <p:nvPr/>
            </p:nvSpPr>
            <p:spPr>
              <a:xfrm>
                <a:off x="0" y="0"/>
                <a:ext cx="571500" cy="800100"/>
              </a:xfrm>
              <a:prstGeom prst="roundRect">
                <a:avLst>
                  <a:gd fmla="val 3333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00E67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" name="Google Shape;501;p20"/>
              <p:cNvSpPr txBox="1"/>
              <p:nvPr/>
            </p:nvSpPr>
            <p:spPr>
              <a:xfrm>
                <a:off x="19050" y="76200"/>
                <a:ext cx="5334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0E676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EXPLAIN</a:t>
                </a:r>
                <a:endParaRPr b="0" sz="750">
                  <a:solidFill>
                    <a:srgbClr val="00E676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ctr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00E676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Bob Explains</a:t>
                </a:r>
                <a:endParaRPr b="0" sz="850">
                  <a:solidFill>
                    <a:srgbClr val="00E676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502" name="Google Shape;502;p20"/>
          <p:cNvGrpSpPr/>
          <p:nvPr/>
        </p:nvGrpSpPr>
        <p:grpSpPr>
          <a:xfrm>
            <a:off x="285750" y="2619375"/>
            <a:ext cx="3429000" cy="2238300"/>
            <a:chOff x="0" y="0"/>
            <a:chExt cx="3429000" cy="2238300"/>
          </a:xfrm>
        </p:grpSpPr>
        <p:sp>
          <p:nvSpPr>
            <p:cNvPr id="503" name="Google Shape;503;p20"/>
            <p:cNvSpPr/>
            <p:nvPr/>
          </p:nvSpPr>
          <p:spPr>
            <a:xfrm>
              <a:off x="0" y="0"/>
              <a:ext cx="3429000" cy="2238300"/>
            </a:xfrm>
            <a:prstGeom prst="roundRect">
              <a:avLst>
                <a:gd fmla="val 851" name="adj"/>
              </a:avLst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20"/>
            <p:cNvSpPr/>
            <p:nvPr/>
          </p:nvSpPr>
          <p:spPr>
            <a:xfrm>
              <a:off x="0" y="0"/>
              <a:ext cx="3429000" cy="285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20"/>
            <p:cNvSpPr txBox="1"/>
            <p:nvPr/>
          </p:nvSpPr>
          <p:spPr>
            <a:xfrm>
              <a:off x="190500" y="152400"/>
              <a:ext cx="3048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DOCUMENTED MCP TOOLS</a:t>
              </a:r>
              <a:endParaRPr b="0" sz="9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grpSp>
          <p:nvGrpSpPr>
            <p:cNvPr id="506" name="Google Shape;506;p20"/>
            <p:cNvGrpSpPr/>
            <p:nvPr/>
          </p:nvGrpSpPr>
          <p:grpSpPr>
            <a:xfrm>
              <a:off x="190500" y="457200"/>
              <a:ext cx="3048000" cy="1657500"/>
              <a:chOff x="0" y="0"/>
              <a:chExt cx="3048000" cy="1657500"/>
            </a:xfrm>
          </p:grpSpPr>
          <p:grpSp>
            <p:nvGrpSpPr>
              <p:cNvPr id="507" name="Google Shape;507;p20"/>
              <p:cNvGrpSpPr/>
              <p:nvPr/>
            </p:nvGrpSpPr>
            <p:grpSpPr>
              <a:xfrm>
                <a:off x="0" y="0"/>
                <a:ext cx="3048000" cy="285900"/>
                <a:chOff x="0" y="0"/>
                <a:chExt cx="3048000" cy="285900"/>
              </a:xfrm>
            </p:grpSpPr>
            <p:sp>
              <p:nvSpPr>
                <p:cNvPr id="508" name="Google Shape;508;p20"/>
                <p:cNvSpPr/>
                <p:nvPr/>
              </p:nvSpPr>
              <p:spPr>
                <a:xfrm>
                  <a:off x="0" y="0"/>
                  <a:ext cx="3048000" cy="285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080C13"/>
                </a:solidFill>
                <a:ln cap="flat" cmpd="sng" w="9525">
                  <a:solidFill>
                    <a:srgbClr val="223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09" name="Google Shape;509;p20"/>
                <p:cNvSpPr/>
                <p:nvPr/>
              </p:nvSpPr>
              <p:spPr>
                <a:xfrm>
                  <a:off x="114300" y="11430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0" name="Google Shape;510;p20"/>
                <p:cNvSpPr txBox="1"/>
                <p:nvPr/>
              </p:nvSpPr>
              <p:spPr>
                <a:xfrm>
                  <a:off x="285750" y="47625"/>
                  <a:ext cx="2667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050">
                      <a:solidFill>
                        <a:srgbClr val="00E5FF"/>
                      </a:solidFill>
                      <a:latin typeface="Roboto Mono Medium"/>
                      <a:ea typeface="Roboto Mono Medium"/>
                      <a:cs typeface="Roboto Mono Medium"/>
                      <a:sym typeface="Roboto Mono Medium"/>
                    </a:rPr>
                    <a:t>get_fleet_summary</a:t>
                  </a:r>
                  <a:endParaRPr b="0" sz="105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endParaRPr>
                </a:p>
              </p:txBody>
            </p:sp>
          </p:grpSp>
          <p:grpSp>
            <p:nvGrpSpPr>
              <p:cNvPr id="511" name="Google Shape;511;p20"/>
              <p:cNvGrpSpPr/>
              <p:nvPr/>
            </p:nvGrpSpPr>
            <p:grpSpPr>
              <a:xfrm>
                <a:off x="0" y="342900"/>
                <a:ext cx="3048000" cy="285900"/>
                <a:chOff x="0" y="0"/>
                <a:chExt cx="3048000" cy="285900"/>
              </a:xfrm>
            </p:grpSpPr>
            <p:sp>
              <p:nvSpPr>
                <p:cNvPr id="512" name="Google Shape;512;p20"/>
                <p:cNvSpPr/>
                <p:nvPr/>
              </p:nvSpPr>
              <p:spPr>
                <a:xfrm>
                  <a:off x="0" y="0"/>
                  <a:ext cx="3048000" cy="285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080C13"/>
                </a:solidFill>
                <a:ln cap="flat" cmpd="sng" w="9525">
                  <a:solidFill>
                    <a:srgbClr val="223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3" name="Google Shape;513;p20"/>
                <p:cNvSpPr/>
                <p:nvPr/>
              </p:nvSpPr>
              <p:spPr>
                <a:xfrm>
                  <a:off x="114300" y="11430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4" name="Google Shape;514;p20"/>
                <p:cNvSpPr txBox="1"/>
                <p:nvPr/>
              </p:nvSpPr>
              <p:spPr>
                <a:xfrm>
                  <a:off x="285750" y="47625"/>
                  <a:ext cx="2667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050">
                      <a:solidFill>
                        <a:srgbClr val="00E5FF"/>
                      </a:solidFill>
                      <a:latin typeface="Roboto Mono Medium"/>
                      <a:ea typeface="Roboto Mono Medium"/>
                      <a:cs typeface="Roboto Mono Medium"/>
                      <a:sym typeface="Roboto Mono Medium"/>
                    </a:rPr>
                    <a:t>get_engine_readiness</a:t>
                  </a:r>
                  <a:endParaRPr b="0" sz="105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endParaRPr>
                </a:p>
              </p:txBody>
            </p:sp>
          </p:grpSp>
          <p:grpSp>
            <p:nvGrpSpPr>
              <p:cNvPr id="515" name="Google Shape;515;p20"/>
              <p:cNvGrpSpPr/>
              <p:nvPr/>
            </p:nvGrpSpPr>
            <p:grpSpPr>
              <a:xfrm>
                <a:off x="0" y="685800"/>
                <a:ext cx="3048000" cy="285900"/>
                <a:chOff x="0" y="0"/>
                <a:chExt cx="3048000" cy="285900"/>
              </a:xfrm>
            </p:grpSpPr>
            <p:sp>
              <p:nvSpPr>
                <p:cNvPr id="516" name="Google Shape;516;p20"/>
                <p:cNvSpPr/>
                <p:nvPr/>
              </p:nvSpPr>
              <p:spPr>
                <a:xfrm>
                  <a:off x="0" y="0"/>
                  <a:ext cx="3048000" cy="285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080C13"/>
                </a:solidFill>
                <a:ln cap="flat" cmpd="sng" w="9525">
                  <a:solidFill>
                    <a:srgbClr val="223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7" name="Google Shape;517;p20"/>
                <p:cNvSpPr/>
                <p:nvPr/>
              </p:nvSpPr>
              <p:spPr>
                <a:xfrm>
                  <a:off x="114300" y="11430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18" name="Google Shape;518;p20"/>
                <p:cNvSpPr txBox="1"/>
                <p:nvPr/>
              </p:nvSpPr>
              <p:spPr>
                <a:xfrm>
                  <a:off x="285750" y="47625"/>
                  <a:ext cx="2667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050">
                      <a:solidFill>
                        <a:srgbClr val="00E5FF"/>
                      </a:solidFill>
                      <a:latin typeface="Roboto Mono Medium"/>
                      <a:ea typeface="Roboto Mono Medium"/>
                      <a:cs typeface="Roboto Mono Medium"/>
                      <a:sym typeface="Roboto Mono Medium"/>
                    </a:rPr>
                    <a:t>get_sensor_health</a:t>
                  </a:r>
                  <a:endParaRPr b="0" sz="105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endParaRPr>
                </a:p>
              </p:txBody>
            </p:sp>
          </p:grpSp>
          <p:grpSp>
            <p:nvGrpSpPr>
              <p:cNvPr id="519" name="Google Shape;519;p20"/>
              <p:cNvGrpSpPr/>
              <p:nvPr/>
            </p:nvGrpSpPr>
            <p:grpSpPr>
              <a:xfrm>
                <a:off x="0" y="1028700"/>
                <a:ext cx="3048000" cy="285900"/>
                <a:chOff x="0" y="0"/>
                <a:chExt cx="3048000" cy="285900"/>
              </a:xfrm>
            </p:grpSpPr>
            <p:sp>
              <p:nvSpPr>
                <p:cNvPr id="520" name="Google Shape;520;p20"/>
                <p:cNvSpPr/>
                <p:nvPr/>
              </p:nvSpPr>
              <p:spPr>
                <a:xfrm>
                  <a:off x="0" y="0"/>
                  <a:ext cx="3048000" cy="285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080C13"/>
                </a:solidFill>
                <a:ln cap="flat" cmpd="sng" w="9525">
                  <a:solidFill>
                    <a:srgbClr val="223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21" name="Google Shape;521;p20"/>
                <p:cNvSpPr/>
                <p:nvPr/>
              </p:nvSpPr>
              <p:spPr>
                <a:xfrm>
                  <a:off x="114300" y="11430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22" name="Google Shape;522;p20"/>
                <p:cNvSpPr txBox="1"/>
                <p:nvPr/>
              </p:nvSpPr>
              <p:spPr>
                <a:xfrm>
                  <a:off x="285750" y="47625"/>
                  <a:ext cx="2667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050">
                      <a:solidFill>
                        <a:srgbClr val="00E5FF"/>
                      </a:solidFill>
                      <a:latin typeface="Roboto Mono Medium"/>
                      <a:ea typeface="Roboto Mono Medium"/>
                      <a:cs typeface="Roboto Mono Medium"/>
                      <a:sym typeface="Roboto Mono Medium"/>
                    </a:rPr>
                    <a:t>list_high_priority_engines</a:t>
                  </a:r>
                  <a:endParaRPr b="0" sz="105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endParaRPr>
                </a:p>
              </p:txBody>
            </p:sp>
          </p:grpSp>
          <p:grpSp>
            <p:nvGrpSpPr>
              <p:cNvPr id="523" name="Google Shape;523;p20"/>
              <p:cNvGrpSpPr/>
              <p:nvPr/>
            </p:nvGrpSpPr>
            <p:grpSpPr>
              <a:xfrm>
                <a:off x="0" y="1371600"/>
                <a:ext cx="3048000" cy="285900"/>
                <a:chOff x="0" y="0"/>
                <a:chExt cx="3048000" cy="285900"/>
              </a:xfrm>
            </p:grpSpPr>
            <p:sp>
              <p:nvSpPr>
                <p:cNvPr id="524" name="Google Shape;524;p20"/>
                <p:cNvSpPr/>
                <p:nvPr/>
              </p:nvSpPr>
              <p:spPr>
                <a:xfrm>
                  <a:off x="0" y="0"/>
                  <a:ext cx="3048000" cy="285900"/>
                </a:xfrm>
                <a:prstGeom prst="roundRect">
                  <a:avLst>
                    <a:gd fmla="val 6666" name="adj"/>
                  </a:avLst>
                </a:prstGeom>
                <a:solidFill>
                  <a:srgbClr val="080C13"/>
                </a:solidFill>
                <a:ln cap="flat" cmpd="sng" w="9525">
                  <a:solidFill>
                    <a:srgbClr val="223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25" name="Google Shape;525;p20"/>
                <p:cNvSpPr/>
                <p:nvPr/>
              </p:nvSpPr>
              <p:spPr>
                <a:xfrm>
                  <a:off x="114300" y="11430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26" name="Google Shape;526;p20"/>
                <p:cNvSpPr txBox="1"/>
                <p:nvPr/>
              </p:nvSpPr>
              <p:spPr>
                <a:xfrm>
                  <a:off x="285750" y="47625"/>
                  <a:ext cx="2667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1050">
                      <a:solidFill>
                        <a:srgbClr val="00E5FF"/>
                      </a:solidFill>
                      <a:latin typeface="Roboto Mono Medium"/>
                      <a:ea typeface="Roboto Mono Medium"/>
                      <a:cs typeface="Roboto Mono Medium"/>
                      <a:sym typeface="Roboto Mono Medium"/>
                    </a:rPr>
                    <a:t>ask_copilot</a:t>
                  </a:r>
                  <a:endParaRPr b="0" sz="105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endParaRPr>
                </a:p>
              </p:txBody>
            </p:sp>
          </p:grpSp>
        </p:grpSp>
      </p:grpSp>
      <p:grpSp>
        <p:nvGrpSpPr>
          <p:cNvPr id="527" name="Google Shape;527;p20"/>
          <p:cNvGrpSpPr/>
          <p:nvPr/>
        </p:nvGrpSpPr>
        <p:grpSpPr>
          <a:xfrm>
            <a:off x="3905250" y="2619375"/>
            <a:ext cx="4953000" cy="2238300"/>
            <a:chOff x="0" y="0"/>
            <a:chExt cx="4953000" cy="2238300"/>
          </a:xfrm>
        </p:grpSpPr>
        <p:sp>
          <p:nvSpPr>
            <p:cNvPr id="528" name="Google Shape;528;p20"/>
            <p:cNvSpPr/>
            <p:nvPr/>
          </p:nvSpPr>
          <p:spPr>
            <a:xfrm>
              <a:off x="0" y="0"/>
              <a:ext cx="4953000" cy="2238300"/>
            </a:xfrm>
            <a:prstGeom prst="roundRect">
              <a:avLst>
                <a:gd fmla="val 851" name="adj"/>
              </a:avLst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20"/>
            <p:cNvSpPr/>
            <p:nvPr/>
          </p:nvSpPr>
          <p:spPr>
            <a:xfrm>
              <a:off x="0" y="0"/>
              <a:ext cx="4953000" cy="285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20"/>
            <p:cNvSpPr txBox="1"/>
            <p:nvPr/>
          </p:nvSpPr>
          <p:spPr>
            <a:xfrm>
              <a:off x="190500" y="152400"/>
              <a:ext cx="4572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IMPLEMENTATION STATUS METRICS</a:t>
              </a:r>
              <a:endParaRPr b="0" sz="9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grpSp>
          <p:nvGrpSpPr>
            <p:cNvPr id="531" name="Google Shape;531;p20"/>
            <p:cNvGrpSpPr/>
            <p:nvPr/>
          </p:nvGrpSpPr>
          <p:grpSpPr>
            <a:xfrm>
              <a:off x="190500" y="457200"/>
              <a:ext cx="4572000" cy="809700"/>
              <a:chOff x="0" y="0"/>
              <a:chExt cx="4572000" cy="809700"/>
            </a:xfrm>
          </p:grpSpPr>
          <p:sp>
            <p:nvSpPr>
              <p:cNvPr id="532" name="Google Shape;532;p20"/>
              <p:cNvSpPr/>
              <p:nvPr/>
            </p:nvSpPr>
            <p:spPr>
              <a:xfrm>
                <a:off x="0" y="0"/>
                <a:ext cx="4572000" cy="809700"/>
              </a:xfrm>
              <a:prstGeom prst="roundRect">
                <a:avLst>
                  <a:gd fmla="val 2352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00E67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3" name="Google Shape;533;p20"/>
              <p:cNvSpPr/>
              <p:nvPr/>
            </p:nvSpPr>
            <p:spPr>
              <a:xfrm>
                <a:off x="0" y="0"/>
                <a:ext cx="38100" cy="809700"/>
              </a:xfrm>
              <a:prstGeom prst="rect">
                <a:avLst/>
              </a:prstGeom>
              <a:solidFill>
                <a:srgbClr val="00E67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4" name="Google Shape;534;p20"/>
              <p:cNvSpPr txBox="1"/>
              <p:nvPr/>
            </p:nvSpPr>
            <p:spPr>
              <a:xfrm>
                <a:off x="152400" y="95250"/>
                <a:ext cx="42864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00E676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FULLY IMPLEMENTED CAPABILITIES</a:t>
                </a:r>
                <a:endParaRPr/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AeroReady core analytics, ML pipeline, Flask API, and MCP endpoint definitions are fully deployed and validated.</a:t>
                </a:r>
                <a:endParaRPr b="0" sz="105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535" name="Google Shape;535;p20"/>
            <p:cNvGrpSpPr/>
            <p:nvPr/>
          </p:nvGrpSpPr>
          <p:grpSpPr>
            <a:xfrm>
              <a:off x="190500" y="1343025"/>
              <a:ext cx="4572000" cy="714300"/>
              <a:chOff x="0" y="0"/>
              <a:chExt cx="4572000" cy="714300"/>
            </a:xfrm>
          </p:grpSpPr>
          <p:sp>
            <p:nvSpPr>
              <p:cNvPr id="536" name="Google Shape;536;p20"/>
              <p:cNvSpPr/>
              <p:nvPr/>
            </p:nvSpPr>
            <p:spPr>
              <a:xfrm>
                <a:off x="0" y="0"/>
                <a:ext cx="4572000" cy="714300"/>
              </a:xfrm>
              <a:prstGeom prst="roundRect">
                <a:avLst>
                  <a:gd fmla="val 2666" name="adj"/>
                </a:avLst>
              </a:prstGeom>
              <a:solidFill>
                <a:srgbClr val="080C13"/>
              </a:solidFill>
              <a:ln cap="flat" cmpd="sng" w="9525">
                <a:solidFill>
                  <a:srgbClr val="FFB3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7" name="Google Shape;537;p20"/>
              <p:cNvSpPr/>
              <p:nvPr/>
            </p:nvSpPr>
            <p:spPr>
              <a:xfrm>
                <a:off x="0" y="0"/>
                <a:ext cx="38100" cy="714300"/>
              </a:xfrm>
              <a:prstGeom prst="rect">
                <a:avLst/>
              </a:pr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8" name="Google Shape;538;p20"/>
              <p:cNvSpPr txBox="1"/>
              <p:nvPr/>
            </p:nvSpPr>
            <p:spPr>
              <a:xfrm>
                <a:off x="152400" y="95250"/>
                <a:ext cx="42864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FFB300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REMAINING IMPLEMENTATION TARGET</a:t>
                </a:r>
                <a:endParaRPr/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105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The full IBM Bob MCP integration deployment represents the designed remaining implementation phase.</a:t>
                </a:r>
                <a:endParaRPr b="0" sz="105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539" name="Google Shape;539;p20"/>
          <p:cNvGrpSpPr/>
          <p:nvPr/>
        </p:nvGrpSpPr>
        <p:grpSpPr>
          <a:xfrm>
            <a:off x="85725" y="180975"/>
            <a:ext cx="8972625" cy="4781625"/>
            <a:chOff x="85725" y="180975"/>
            <a:chExt cx="8972625" cy="4781625"/>
          </a:xfrm>
        </p:grpSpPr>
        <p:pic>
          <p:nvPicPr>
            <p:cNvPr id="540" name="Google Shape;540;p2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5725" y="18097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1" name="Google Shape;541;p20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8858250" y="18097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2" name="Google Shape;542;p20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5725" y="476250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3" name="Google Shape;543;p20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8858250" y="476250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49" name="Google Shape;549;p21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550" name="Google Shape;55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1" name="Google Shape;551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81500" y="2381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52" name="Google Shape;552;p21"/>
          <p:cNvGrpSpPr/>
          <p:nvPr/>
        </p:nvGrpSpPr>
        <p:grpSpPr>
          <a:xfrm>
            <a:off x="276225" y="180975"/>
            <a:ext cx="8591625" cy="4781625"/>
            <a:chOff x="276225" y="180975"/>
            <a:chExt cx="8591625" cy="4781625"/>
          </a:xfrm>
        </p:grpSpPr>
        <p:pic>
          <p:nvPicPr>
            <p:cNvPr id="553" name="Google Shape;553;p2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76225" y="18097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4" name="Google Shape;554;p2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667750" y="18097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5" name="Google Shape;555;p21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276225" y="476250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6" name="Google Shape;556;p21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8667750" y="476250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57" name="Google Shape;557;p21"/>
          <p:cNvGrpSpPr/>
          <p:nvPr/>
        </p:nvGrpSpPr>
        <p:grpSpPr>
          <a:xfrm>
            <a:off x="381000" y="209550"/>
            <a:ext cx="8382000" cy="723900"/>
            <a:chOff x="0" y="-19050"/>
            <a:chExt cx="8382000" cy="723900"/>
          </a:xfrm>
        </p:grpSpPr>
        <p:grpSp>
          <p:nvGrpSpPr>
            <p:cNvPr id="558" name="Google Shape;558;p21"/>
            <p:cNvGrpSpPr/>
            <p:nvPr/>
          </p:nvGrpSpPr>
          <p:grpSpPr>
            <a:xfrm>
              <a:off x="0" y="-19050"/>
              <a:ext cx="1695600" cy="228600"/>
              <a:chOff x="0" y="-19050"/>
              <a:chExt cx="1695600" cy="228600"/>
            </a:xfrm>
          </p:grpSpPr>
          <p:sp>
            <p:nvSpPr>
              <p:cNvPr id="559" name="Google Shape;559;p21"/>
              <p:cNvSpPr/>
              <p:nvPr/>
            </p:nvSpPr>
            <p:spPr>
              <a:xfrm>
                <a:off x="0" y="0"/>
                <a:ext cx="190500" cy="1905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60000" y="0"/>
                    </a:lnTo>
                    <a:lnTo>
                      <a:pt x="120000" y="120000"/>
                    </a:lnTo>
                    <a:lnTo>
                      <a:pt x="60000" y="90000"/>
                    </a:lnTo>
                    <a:close/>
                  </a:path>
                </a:pathLst>
              </a:cu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0" name="Google Shape;560;p21"/>
              <p:cNvSpPr/>
              <p:nvPr/>
            </p:nvSpPr>
            <p:spPr>
              <a:xfrm>
                <a:off x="95250" y="0"/>
                <a:ext cx="95400" cy="1905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120000"/>
                    </a:lnTo>
                    <a:lnTo>
                      <a:pt x="0" y="90000"/>
                    </a:lnTo>
                    <a:close/>
                  </a:path>
                </a:pathLst>
              </a:custGeom>
              <a:solidFill>
                <a:srgbClr val="CC8F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1" name="Google Shape;561;p21"/>
              <p:cNvSpPr txBox="1"/>
              <p:nvPr/>
            </p:nvSpPr>
            <p:spPr>
              <a:xfrm>
                <a:off x="266700" y="-19050"/>
                <a:ext cx="14289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400">
                    <a:solidFill>
                      <a:srgbClr val="F0F4F8"/>
                    </a:solidFill>
                    <a:latin typeface="Rajdhani"/>
                    <a:ea typeface="Rajdhani"/>
                    <a:cs typeface="Rajdhani"/>
                    <a:sym typeface="Rajdhani"/>
                  </a:rPr>
                  <a:t>AERO</a:t>
                </a:r>
                <a:r>
                  <a:rPr b="1" lang="en" sz="1400">
                    <a:solidFill>
                      <a:srgbClr val="8A9BB3"/>
                    </a:solidFill>
                    <a:latin typeface="Rajdhani"/>
                    <a:ea typeface="Rajdhani"/>
                    <a:cs typeface="Rajdhani"/>
                    <a:sym typeface="Rajdhani"/>
                  </a:rPr>
                  <a:t>READY</a:t>
                </a:r>
                <a:endParaRPr b="1" sz="14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endParaRPr>
              </a:p>
            </p:txBody>
          </p:sp>
        </p:grpSp>
        <p:sp>
          <p:nvSpPr>
            <p:cNvPr id="562" name="Google Shape;562;p21"/>
            <p:cNvSpPr txBox="1"/>
            <p:nvPr/>
          </p:nvSpPr>
          <p:spPr>
            <a:xfrm>
              <a:off x="0" y="266700"/>
              <a:ext cx="5715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259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Technical Evidence &amp; Explainability</a:t>
              </a:r>
              <a:endParaRPr b="1" sz="259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cxnSp>
          <p:nvCxnSpPr>
            <p:cNvPr id="563" name="Google Shape;563;p21"/>
            <p:cNvCxnSpPr/>
            <p:nvPr/>
          </p:nvCxnSpPr>
          <p:spPr>
            <a:xfrm>
              <a:off x="0" y="704850"/>
              <a:ext cx="83820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4" name="Google Shape;564;p21"/>
            <p:cNvCxnSpPr/>
            <p:nvPr/>
          </p:nvCxnSpPr>
          <p:spPr>
            <a:xfrm>
              <a:off x="0" y="704850"/>
              <a:ext cx="1143000" cy="0"/>
            </a:xfrm>
            <a:prstGeom prst="straightConnector1">
              <a:avLst/>
            </a:prstGeom>
            <a:solidFill>
              <a:srgbClr val="FFFFFF"/>
            </a:solidFill>
            <a:ln cap="flat" cmpd="sng" w="1905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565" name="Google Shape;565;p21"/>
          <p:cNvGrpSpPr/>
          <p:nvPr/>
        </p:nvGrpSpPr>
        <p:grpSpPr>
          <a:xfrm>
            <a:off x="381000" y="1095375"/>
            <a:ext cx="4000650" cy="3429000"/>
            <a:chOff x="0" y="0"/>
            <a:chExt cx="4000650" cy="3429000"/>
          </a:xfrm>
        </p:grpSpPr>
        <p:sp>
          <p:nvSpPr>
            <p:cNvPr id="566" name="Google Shape;566;p21"/>
            <p:cNvSpPr txBox="1"/>
            <p:nvPr/>
          </p:nvSpPr>
          <p:spPr>
            <a:xfrm>
              <a:off x="0" y="0"/>
              <a:ext cx="400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b="1" lang="en" sz="1190">
                  <a:solidFill>
                    <a:srgbClr val="00E5FF"/>
                  </a:solidFill>
                  <a:latin typeface="Rajdhani"/>
                  <a:ea typeface="Rajdhani"/>
                  <a:cs typeface="Rajdhani"/>
                  <a:sym typeface="Rajdhani"/>
                </a:rPr>
                <a:t>Audited Model Evaluation Metrics</a:t>
              </a:r>
              <a:endParaRPr b="1" sz="1190">
                <a:solidFill>
                  <a:srgbClr val="00E5FF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  <p:grpSp>
          <p:nvGrpSpPr>
            <p:cNvPr id="567" name="Google Shape;567;p21"/>
            <p:cNvGrpSpPr/>
            <p:nvPr/>
          </p:nvGrpSpPr>
          <p:grpSpPr>
            <a:xfrm>
              <a:off x="0" y="266700"/>
              <a:ext cx="1266900" cy="609600"/>
              <a:chOff x="0" y="0"/>
              <a:chExt cx="1266900" cy="609600"/>
            </a:xfrm>
          </p:grpSpPr>
          <p:sp>
            <p:nvSpPr>
              <p:cNvPr id="568" name="Google Shape;568;p21"/>
              <p:cNvSpPr/>
              <p:nvPr/>
            </p:nvSpPr>
            <p:spPr>
              <a:xfrm>
                <a:off x="0" y="0"/>
                <a:ext cx="1266900" cy="609600"/>
              </a:xfrm>
              <a:prstGeom prst="rect">
                <a:avLst/>
              </a:prstGeom>
              <a:solidFill>
                <a:srgbClr val="111A28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9" name="Google Shape;569;p21"/>
              <p:cNvSpPr/>
              <p:nvPr/>
            </p:nvSpPr>
            <p:spPr>
              <a:xfrm>
                <a:off x="0" y="0"/>
                <a:ext cx="28500" cy="6096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0" name="Google Shape;570;p21"/>
              <p:cNvSpPr txBox="1"/>
              <p:nvPr/>
            </p:nvSpPr>
            <p:spPr>
              <a:xfrm>
                <a:off x="114300" y="76200"/>
                <a:ext cx="10953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MAE</a:t>
                </a:r>
                <a:endParaRPr b="0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80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10.05</a:t>
                </a:r>
                <a:endParaRPr b="0" sz="18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endParaRPr>
              </a:p>
            </p:txBody>
          </p:sp>
        </p:grpSp>
        <p:grpSp>
          <p:nvGrpSpPr>
            <p:cNvPr id="571" name="Google Shape;571;p21"/>
            <p:cNvGrpSpPr/>
            <p:nvPr/>
          </p:nvGrpSpPr>
          <p:grpSpPr>
            <a:xfrm>
              <a:off x="1362075" y="266700"/>
              <a:ext cx="1266900" cy="609600"/>
              <a:chOff x="0" y="0"/>
              <a:chExt cx="1266900" cy="609600"/>
            </a:xfrm>
          </p:grpSpPr>
          <p:sp>
            <p:nvSpPr>
              <p:cNvPr id="572" name="Google Shape;572;p21"/>
              <p:cNvSpPr/>
              <p:nvPr/>
            </p:nvSpPr>
            <p:spPr>
              <a:xfrm>
                <a:off x="0" y="0"/>
                <a:ext cx="1266900" cy="609600"/>
              </a:xfrm>
              <a:prstGeom prst="rect">
                <a:avLst/>
              </a:prstGeom>
              <a:solidFill>
                <a:srgbClr val="111A28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3" name="Google Shape;573;p21"/>
              <p:cNvSpPr/>
              <p:nvPr/>
            </p:nvSpPr>
            <p:spPr>
              <a:xfrm>
                <a:off x="0" y="0"/>
                <a:ext cx="28500" cy="6096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4" name="Google Shape;574;p21"/>
              <p:cNvSpPr txBox="1"/>
              <p:nvPr/>
            </p:nvSpPr>
            <p:spPr>
              <a:xfrm>
                <a:off x="114300" y="76200"/>
                <a:ext cx="10953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RMSE</a:t>
                </a:r>
                <a:endParaRPr b="0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800">
                    <a:solidFill>
                      <a:srgbClr val="00E5FF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13.38</a:t>
                </a:r>
                <a:endParaRPr b="0" sz="1800">
                  <a:solidFill>
                    <a:srgbClr val="00E5FF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endParaRPr>
              </a:p>
            </p:txBody>
          </p:sp>
        </p:grpSp>
        <p:grpSp>
          <p:nvGrpSpPr>
            <p:cNvPr id="575" name="Google Shape;575;p21"/>
            <p:cNvGrpSpPr/>
            <p:nvPr/>
          </p:nvGrpSpPr>
          <p:grpSpPr>
            <a:xfrm>
              <a:off x="2724150" y="266700"/>
              <a:ext cx="1276500" cy="609600"/>
              <a:chOff x="0" y="0"/>
              <a:chExt cx="1276500" cy="609600"/>
            </a:xfrm>
          </p:grpSpPr>
          <p:sp>
            <p:nvSpPr>
              <p:cNvPr id="576" name="Google Shape;576;p21"/>
              <p:cNvSpPr/>
              <p:nvPr/>
            </p:nvSpPr>
            <p:spPr>
              <a:xfrm>
                <a:off x="0" y="0"/>
                <a:ext cx="1276500" cy="609600"/>
              </a:xfrm>
              <a:prstGeom prst="rect">
                <a:avLst/>
              </a:prstGeom>
              <a:solidFill>
                <a:srgbClr val="111A28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7" name="Google Shape;577;p21"/>
              <p:cNvSpPr/>
              <p:nvPr/>
            </p:nvSpPr>
            <p:spPr>
              <a:xfrm>
                <a:off x="0" y="0"/>
                <a:ext cx="28500" cy="609600"/>
              </a:xfrm>
              <a:prstGeom prst="rect">
                <a:avLst/>
              </a:prstGeom>
              <a:solidFill>
                <a:srgbClr val="00E67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8" name="Google Shape;578;p21"/>
              <p:cNvSpPr txBox="1"/>
              <p:nvPr/>
            </p:nvSpPr>
            <p:spPr>
              <a:xfrm>
                <a:off x="114300" y="76200"/>
                <a:ext cx="11049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R² SCORE</a:t>
                </a:r>
                <a:endParaRPr b="0" sz="9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800">
                    <a:solidFill>
                      <a:srgbClr val="00E676"/>
                    </a:solidFill>
                    <a:latin typeface="Roboto Mono Medium"/>
                    <a:ea typeface="Roboto Mono Medium"/>
                    <a:cs typeface="Roboto Mono Medium"/>
                    <a:sym typeface="Roboto Mono Medium"/>
                  </a:rPr>
                  <a:t>0.897</a:t>
                </a:r>
                <a:endParaRPr b="0" sz="1800">
                  <a:solidFill>
                    <a:srgbClr val="00E676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endParaRPr>
              </a:p>
            </p:txBody>
          </p:sp>
        </p:grpSp>
        <p:grpSp>
          <p:nvGrpSpPr>
            <p:cNvPr id="579" name="Google Shape;579;p21"/>
            <p:cNvGrpSpPr/>
            <p:nvPr/>
          </p:nvGrpSpPr>
          <p:grpSpPr>
            <a:xfrm>
              <a:off x="0" y="1047750"/>
              <a:ext cx="4000500" cy="2381250"/>
              <a:chOff x="0" y="0"/>
              <a:chExt cx="4000500" cy="2381250"/>
            </a:xfrm>
          </p:grpSpPr>
          <p:sp>
            <p:nvSpPr>
              <p:cNvPr id="580" name="Google Shape;580;p21"/>
              <p:cNvSpPr txBox="1"/>
              <p:nvPr/>
            </p:nvSpPr>
            <p:spPr>
              <a:xfrm>
                <a:off x="0" y="0"/>
                <a:ext cx="40005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900"/>
                  </a:spcAft>
                  <a:buNone/>
                </a:pPr>
                <a:r>
                  <a:rPr b="1" lang="en" sz="1190">
                    <a:solidFill>
                      <a:srgbClr val="00E5FF"/>
                    </a:solidFill>
                    <a:latin typeface="Rajdhani"/>
                    <a:ea typeface="Rajdhani"/>
                    <a:cs typeface="Rajdhani"/>
                    <a:sym typeface="Rajdhani"/>
                  </a:rPr>
                  <a:t>Engine 1 Analysis Case Study</a:t>
                </a:r>
                <a:endParaRPr b="1" sz="1190">
                  <a:solidFill>
                    <a:srgbClr val="00E5FF"/>
                  </a:solidFill>
                  <a:latin typeface="Rajdhani"/>
                  <a:ea typeface="Rajdhani"/>
                  <a:cs typeface="Rajdhani"/>
                  <a:sym typeface="Rajdhani"/>
                </a:endParaRPr>
              </a:p>
            </p:txBody>
          </p:sp>
          <p:grpSp>
            <p:nvGrpSpPr>
              <p:cNvPr id="581" name="Google Shape;581;p21"/>
              <p:cNvGrpSpPr/>
              <p:nvPr/>
            </p:nvGrpSpPr>
            <p:grpSpPr>
              <a:xfrm>
                <a:off x="0" y="247650"/>
                <a:ext cx="4000500" cy="2133600"/>
                <a:chOff x="0" y="0"/>
                <a:chExt cx="4000500" cy="2133600"/>
              </a:xfrm>
            </p:grpSpPr>
            <p:sp>
              <p:nvSpPr>
                <p:cNvPr id="582" name="Google Shape;582;p21"/>
                <p:cNvSpPr/>
                <p:nvPr/>
              </p:nvSpPr>
              <p:spPr>
                <a:xfrm>
                  <a:off x="0" y="0"/>
                  <a:ext cx="4000500" cy="2133600"/>
                </a:xfrm>
                <a:prstGeom prst="rect">
                  <a:avLst/>
                </a:prstGeom>
                <a:solidFill>
                  <a:srgbClr val="111A28"/>
                </a:solidFill>
                <a:ln cap="flat" cmpd="sng" w="9525">
                  <a:solidFill>
                    <a:srgbClr val="223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3" name="Google Shape;583;p21"/>
                <p:cNvSpPr/>
                <p:nvPr/>
              </p:nvSpPr>
              <p:spPr>
                <a:xfrm>
                  <a:off x="0" y="0"/>
                  <a:ext cx="4000500" cy="266700"/>
                </a:xfrm>
                <a:prstGeom prst="rect">
                  <a:avLst/>
                </a:prstGeom>
                <a:solidFill>
                  <a:srgbClr val="182436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4" name="Google Shape;584;p21"/>
                <p:cNvSpPr txBox="1"/>
                <p:nvPr/>
              </p:nvSpPr>
              <p:spPr>
                <a:xfrm>
                  <a:off x="114300" y="38100"/>
                  <a:ext cx="37719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00">
                      <a:solidFill>
                        <a:srgbClr val="00E5FF"/>
                      </a:solidFill>
                      <a:latin typeface="Rajdhani SemiBold"/>
                      <a:ea typeface="Rajdhani SemiBold"/>
                      <a:cs typeface="Rajdhani SemiBold"/>
                      <a:sym typeface="Rajdhani SemiBold"/>
                    </a:rPr>
                    <a:t>LIVE TELEMETRY &amp; EVALUATION READOUT</a:t>
                  </a:r>
                  <a:endParaRPr b="0" sz="900">
                    <a:solidFill>
                      <a:srgbClr val="00E5FF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endParaRPr>
                </a:p>
              </p:txBody>
            </p:sp>
            <p:sp>
              <p:nvSpPr>
                <p:cNvPr id="585" name="Google Shape;585;p21"/>
                <p:cNvSpPr txBox="1"/>
                <p:nvPr/>
              </p:nvSpPr>
              <p:spPr>
                <a:xfrm>
                  <a:off x="114300" y="361950"/>
                  <a:ext cx="3771900" cy="476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33">
                      <a:solidFill>
                        <a:srgbClr val="8A9BB3"/>
                      </a:solidFill>
                      <a:latin typeface="Rajdhani SemiBold"/>
                      <a:ea typeface="Rajdhani SemiBold"/>
                      <a:cs typeface="Rajdhani SemiBold"/>
                      <a:sym typeface="Rajdhani SemiBold"/>
                    </a:rPr>
                    <a:t>Telemetry Data Inputs</a:t>
                  </a:r>
                  <a:endParaRPr b="0" sz="833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endParaRPr>
                </a:p>
                <a:p>
                  <a:pPr indent="0" lvl="0" marL="0" rtl="0" algn="l">
                    <a:spcBef>
                      <a:spcPts val="300"/>
                    </a:spcBef>
                    <a:spcAft>
                      <a:spcPts val="0"/>
                    </a:spcAft>
                    <a:buNone/>
                  </a:pPr>
                  <a:r>
                    <a:rPr b="0" lang="en" sz="925">
                      <a:solidFill>
                        <a:srgbClr val="F0F4F8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RUL:</a:t>
                  </a:r>
                  <a:r>
                    <a:rPr b="0" lang="en" sz="925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</a:t>
                  </a:r>
                  <a:r>
                    <a:rPr b="0" lang="en" sz="925">
                      <a:solidFill>
                        <a:srgbClr val="00E5FF"/>
                      </a:solidFill>
                      <a:latin typeface="Roboto Mono"/>
                      <a:ea typeface="Roboto Mono"/>
                      <a:cs typeface="Roboto Mono"/>
                      <a:sym typeface="Roboto Mono"/>
                    </a:rPr>
                    <a:t>116.44 cycles</a:t>
                  </a:r>
                  <a:r>
                    <a:rPr b="0" lang="en" sz="925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 |  </a:t>
                  </a:r>
                  <a:r>
                    <a:rPr b="0" lang="en" sz="925">
                      <a:solidFill>
                        <a:srgbClr val="F0F4F8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Sensor Health:</a:t>
                  </a:r>
                  <a:r>
                    <a:rPr b="0" lang="en" sz="925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</a:t>
                  </a:r>
                  <a:r>
                    <a:rPr b="0" lang="en" sz="925">
                      <a:solidFill>
                        <a:srgbClr val="00E676"/>
                      </a:solidFill>
                      <a:latin typeface="Roboto Mono"/>
                      <a:ea typeface="Roboto Mono"/>
                      <a:cs typeface="Roboto Mono"/>
                      <a:sym typeface="Roboto Mono"/>
                    </a:rPr>
                    <a:t>14/14 NORMAL</a:t>
                  </a:r>
                  <a:endParaRPr b="0" sz="925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  <a:p>
                  <a:pPr indent="0" lvl="0" marL="0" rtl="0" algn="l">
                    <a:spcBef>
                      <a:spcPts val="150"/>
                    </a:spcBef>
                    <a:spcAft>
                      <a:spcPts val="0"/>
                    </a:spcAft>
                    <a:buNone/>
                  </a:pPr>
                  <a:r>
                    <a:rPr b="0" lang="en" sz="925">
                      <a:solidFill>
                        <a:srgbClr val="F0F4F8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Mission Plan:</a:t>
                  </a:r>
                  <a:r>
                    <a:rPr b="0" lang="en" sz="925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</a:t>
                  </a:r>
                  <a:r>
                    <a:rPr b="0" lang="en" sz="925">
                      <a:solidFill>
                        <a:srgbClr val="F0F4F8"/>
                      </a:solidFill>
                      <a:latin typeface="Roboto Mono"/>
                      <a:ea typeface="Roboto Mono"/>
                      <a:cs typeface="Roboto Mono"/>
                      <a:sym typeface="Roboto Mono"/>
                    </a:rPr>
                    <a:t>30 cycles</a:t>
                  </a:r>
                  <a:endParaRPr b="0" sz="925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pic>
              <p:nvPicPr>
                <p:cNvPr id="586" name="Google Shape;586;p21"/>
                <p:cNvPicPr preferRelativeResize="0"/>
                <p:nvPr/>
              </p:nvPicPr>
              <p:blipFill rotWithShape="1">
                <a:blip r:embed="rId9">
                  <a:alphaModFix/>
                </a:blip>
                <a:srcRect b="0" l="0" r="0" t="0"/>
                <a:stretch/>
              </p:blipFill>
              <p:spPr>
                <a:xfrm>
                  <a:off x="114300" y="909638"/>
                  <a:ext cx="3753000" cy="96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587" name="Google Shape;587;p21"/>
                <p:cNvSpPr txBox="1"/>
                <p:nvPr/>
              </p:nvSpPr>
              <p:spPr>
                <a:xfrm>
                  <a:off x="114300" y="1009650"/>
                  <a:ext cx="3771900" cy="1009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00">
                      <a:solidFill>
                        <a:srgbClr val="8A9BB3"/>
                      </a:solidFill>
                      <a:latin typeface="Rajdhani SemiBold"/>
                      <a:ea typeface="Rajdhani SemiBold"/>
                      <a:cs typeface="Rajdhani SemiBold"/>
                      <a:sym typeface="Rajdhani SemiBold"/>
                    </a:rPr>
                    <a:t>Automated Assessment</a:t>
                  </a:r>
                  <a:endParaRPr b="0" sz="9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endParaRPr>
                </a:p>
                <a:p>
                  <a:pPr indent="0" lvl="0" marL="0" rtl="0" algn="l">
                    <a:spcBef>
                      <a:spcPts val="450"/>
                    </a:spcBef>
                    <a:spcAft>
                      <a:spcPts val="0"/>
                    </a:spcAft>
                    <a:buNone/>
                  </a:pPr>
                  <a:r>
                    <a:rPr b="0" lang="en" sz="1000">
                      <a:solidFill>
                        <a:srgbClr val="F0F4F8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Status:</a:t>
                  </a:r>
                  <a:r>
                    <a:rPr b="0" lang="en" sz="1000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</a:t>
                  </a:r>
                  <a:r>
                    <a:rPr b="1" lang="en" sz="1000">
                      <a:solidFill>
                        <a:srgbClr val="00E676"/>
                      </a:solidFill>
                      <a:latin typeface="Roboto Mono"/>
                      <a:ea typeface="Roboto Mono"/>
                      <a:cs typeface="Roboto Mono"/>
                      <a:sym typeface="Roboto Mono"/>
                    </a:rPr>
                    <a:t>SAFE</a:t>
                  </a:r>
                  <a:r>
                    <a:rPr b="0" lang="en" sz="1000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  |   </a:t>
                  </a:r>
                  <a:r>
                    <a:rPr b="0" lang="en" sz="1000">
                      <a:solidFill>
                        <a:srgbClr val="F0F4F8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Safety Margin:</a:t>
                  </a:r>
                  <a:r>
                    <a:rPr b="0" lang="en" sz="1000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 </a:t>
                  </a:r>
                  <a:r>
                    <a:rPr b="0" lang="en" sz="1000">
                      <a:solidFill>
                        <a:srgbClr val="00E5FF"/>
                      </a:solidFill>
                      <a:latin typeface="Roboto Mono"/>
                      <a:ea typeface="Roboto Mono"/>
                      <a:cs typeface="Roboto Mono"/>
                      <a:sym typeface="Roboto Mono"/>
                    </a:rPr>
                    <a:t>86.44 cycles</a:t>
                  </a:r>
                  <a:endParaRPr b="0" sz="10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  <a:p>
                  <a:pPr indent="0" lvl="0" marL="0" rtl="0" algn="l">
                    <a:spcBef>
                      <a:spcPts val="600"/>
                    </a:spcBef>
                    <a:spcAft>
                      <a:spcPts val="225"/>
                    </a:spcAft>
                    <a:buNone/>
                  </a:pPr>
                  <a:r>
                    <a:rPr b="0" lang="en" sz="800">
                      <a:solidFill>
                        <a:srgbClr val="8A9BB3"/>
                      </a:solidFill>
                      <a:latin typeface="Rajdhani SemiBold"/>
                      <a:ea typeface="Rajdhani SemiBold"/>
                      <a:cs typeface="Rajdhani SemiBold"/>
                      <a:sym typeface="Rajdhani SemiBold"/>
                    </a:rPr>
                    <a:t>READINESS SCORE: 93.15 / 100</a:t>
                  </a:r>
                  <a:endParaRPr b="0" sz="800">
                    <a:solidFill>
                      <a:srgbClr val="8A9BB3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endParaRPr>
                </a:p>
              </p:txBody>
            </p:sp>
          </p:grpSp>
        </p:grpSp>
      </p:grpSp>
      <p:pic>
        <p:nvPicPr>
          <p:cNvPr id="588" name="Google Shape;588;p2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567238" y="1095375"/>
            <a:ext cx="9600" cy="34671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21"/>
          <p:cNvSpPr/>
          <p:nvPr/>
        </p:nvSpPr>
        <p:spPr>
          <a:xfrm>
            <a:off x="4533900" y="2790825"/>
            <a:ext cx="76200" cy="76200"/>
          </a:xfrm>
          <a:prstGeom prst="ellipse">
            <a:avLst/>
          </a:prstGeom>
          <a:solidFill>
            <a:srgbClr val="080C13"/>
          </a:solidFill>
          <a:ln cap="flat" cmpd="sng" w="9525">
            <a:solidFill>
              <a:srgbClr val="00E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90" name="Google Shape;590;p21"/>
          <p:cNvGrpSpPr/>
          <p:nvPr/>
        </p:nvGrpSpPr>
        <p:grpSpPr>
          <a:xfrm>
            <a:off x="4762500" y="1095375"/>
            <a:ext cx="4000500" cy="3476700"/>
            <a:chOff x="0" y="0"/>
            <a:chExt cx="4000500" cy="3476700"/>
          </a:xfrm>
        </p:grpSpPr>
        <p:sp>
          <p:nvSpPr>
            <p:cNvPr id="591" name="Google Shape;591;p21"/>
            <p:cNvSpPr/>
            <p:nvPr/>
          </p:nvSpPr>
          <p:spPr>
            <a:xfrm>
              <a:off x="0" y="0"/>
              <a:ext cx="4000500" cy="34767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21"/>
            <p:cNvSpPr/>
            <p:nvPr/>
          </p:nvSpPr>
          <p:spPr>
            <a:xfrm>
              <a:off x="0" y="0"/>
              <a:ext cx="4000500" cy="381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21"/>
            <p:cNvSpPr/>
            <p:nvPr/>
          </p:nvSpPr>
          <p:spPr>
            <a:xfrm>
              <a:off x="3790950" y="76200"/>
              <a:ext cx="66600" cy="66600"/>
            </a:xfrm>
            <a:custGeom>
              <a:rect b="b" l="l" r="r" t="t"/>
              <a:pathLst>
                <a:path extrusionOk="0" h="120000" w="120000">
                  <a:moveTo>
                    <a:pt x="120000" y="120000"/>
                  </a:moveTo>
                  <a:lnTo>
                    <a:pt x="120000" y="0"/>
                  </a:lnTo>
                  <a:lnTo>
                    <a:pt x="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flat" cmpd="sng" w="14300">
              <a:solidFill>
                <a:srgbClr val="00E5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94" name="Google Shape;594;p21"/>
            <p:cNvGrpSpPr/>
            <p:nvPr/>
          </p:nvGrpSpPr>
          <p:grpSpPr>
            <a:xfrm>
              <a:off x="228600" y="190500"/>
              <a:ext cx="3543300" cy="2952750"/>
              <a:chOff x="0" y="0"/>
              <a:chExt cx="3543300" cy="2952750"/>
            </a:xfrm>
          </p:grpSpPr>
          <p:sp>
            <p:nvSpPr>
              <p:cNvPr id="595" name="Google Shape;595;p21"/>
              <p:cNvSpPr txBox="1"/>
              <p:nvPr/>
            </p:nvSpPr>
            <p:spPr>
              <a:xfrm>
                <a:off x="0" y="0"/>
                <a:ext cx="35433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360">
                    <a:solidFill>
                      <a:srgbClr val="F0F4F8"/>
                    </a:solidFill>
                    <a:latin typeface="Rajdhani"/>
                    <a:ea typeface="Rajdhani"/>
                    <a:cs typeface="Rajdhani"/>
                    <a:sym typeface="Rajdhani"/>
                  </a:rPr>
                  <a:t>Trust &amp; Governance Safeguards</a:t>
                </a:r>
                <a:endParaRPr b="1" sz="136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765">
                    <a:solidFill>
                      <a:srgbClr val="FFB300"/>
                    </a:solidFill>
                    <a:latin typeface="Rajdhani SemiBold"/>
                    <a:ea typeface="Rajdhani SemiBold"/>
                    <a:cs typeface="Rajdhani SemiBold"/>
                    <a:sym typeface="Rajdhani SemiBold"/>
                  </a:rPr>
                  <a:t>DETERMINISTIC VERIFICATION FRAMEWORK</a:t>
                </a:r>
                <a:endParaRPr b="0" sz="765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endParaRPr>
              </a:p>
            </p:txBody>
          </p:sp>
          <p:cxnSp>
            <p:nvCxnSpPr>
              <p:cNvPr id="596" name="Google Shape;596;p21"/>
              <p:cNvCxnSpPr/>
              <p:nvPr/>
            </p:nvCxnSpPr>
            <p:spPr>
              <a:xfrm>
                <a:off x="0" y="438150"/>
                <a:ext cx="35433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597" name="Google Shape;597;p21"/>
              <p:cNvSpPr txBox="1"/>
              <p:nvPr/>
            </p:nvSpPr>
            <p:spPr>
              <a:xfrm>
                <a:off x="0" y="552450"/>
                <a:ext cx="3543300" cy="64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70">
                    <a:solidFill>
                      <a:srgbClr val="F0F4F8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Every factual statement is derived strictly from stored backend evidence.</a:t>
                </a:r>
                <a:endParaRPr b="0" sz="77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7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The architecture maintains zero-trust execution bounds, ensuring operational telemetry aligns precisely with military-grade safety audit requirements.</a:t>
                </a:r>
                <a:endParaRPr b="0" sz="7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598" name="Google Shape;598;p21"/>
              <p:cNvGrpSpPr/>
              <p:nvPr/>
            </p:nvGrpSpPr>
            <p:grpSpPr>
              <a:xfrm>
                <a:off x="0" y="1314450"/>
                <a:ext cx="3543300" cy="1638300"/>
                <a:chOff x="0" y="0"/>
                <a:chExt cx="3543300" cy="1638300"/>
              </a:xfrm>
            </p:grpSpPr>
            <p:grpSp>
              <p:nvGrpSpPr>
                <p:cNvPr id="599" name="Google Shape;599;p21"/>
                <p:cNvGrpSpPr/>
                <p:nvPr/>
              </p:nvGrpSpPr>
              <p:grpSpPr>
                <a:xfrm>
                  <a:off x="0" y="0"/>
                  <a:ext cx="3543300" cy="495300"/>
                  <a:chOff x="0" y="0"/>
                  <a:chExt cx="3543300" cy="495300"/>
                </a:xfrm>
              </p:grpSpPr>
              <p:grpSp>
                <p:nvGrpSpPr>
                  <p:cNvPr id="600" name="Google Shape;600;p21"/>
                  <p:cNvGrpSpPr/>
                  <p:nvPr/>
                </p:nvGrpSpPr>
                <p:grpSpPr>
                  <a:xfrm>
                    <a:off x="0" y="28575"/>
                    <a:ext cx="114300" cy="114300"/>
                    <a:chOff x="0" y="0"/>
                    <a:chExt cx="114300" cy="114300"/>
                  </a:xfrm>
                </p:grpSpPr>
                <p:sp>
                  <p:nvSpPr>
                    <p:cNvPr id="601" name="Google Shape;601;p21"/>
                    <p:cNvSpPr/>
                    <p:nvPr/>
                  </p:nvSpPr>
                  <p:spPr>
                    <a:xfrm>
                      <a:off x="19050" y="19050"/>
                      <a:ext cx="76200" cy="76200"/>
                    </a:xfrm>
                    <a:prstGeom prst="ellipse">
                      <a:avLst/>
                    </a:prstGeom>
                    <a:solidFill>
                      <a:srgbClr val="00E5FF"/>
                    </a:solidFill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02" name="Google Shape;602;p21"/>
                    <p:cNvSpPr/>
                    <p:nvPr/>
                  </p:nvSpPr>
                  <p:spPr>
                    <a:xfrm>
                      <a:off x="0" y="0"/>
                      <a:ext cx="114300" cy="114300"/>
                    </a:xfrm>
                    <a:prstGeom prst="ellipse">
                      <a:avLst/>
                    </a:prstGeom>
                    <a:solidFill>
                      <a:srgbClr val="00E5FF">
                        <a:alpha val="30000"/>
                      </a:srgbClr>
                    </a:solidFill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sp>
                <p:nvSpPr>
                  <p:cNvPr id="603" name="Google Shape;603;p21"/>
                  <p:cNvSpPr txBox="1"/>
                  <p:nvPr/>
                </p:nvSpPr>
                <p:spPr>
                  <a:xfrm>
                    <a:off x="190500" y="0"/>
                    <a:ext cx="3352800" cy="4953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50">
                        <a:solidFill>
                          <a:srgbClr val="00E5FF"/>
                        </a:solidFill>
                        <a:latin typeface="Inter SemiBold"/>
                        <a:ea typeface="Inter SemiBold"/>
                        <a:cs typeface="Inter SemiBold"/>
                        <a:sym typeface="Inter SemiBold"/>
                      </a:rPr>
                      <a:t>Zero Hallucination Guarantee</a:t>
                    </a:r>
                    <a:endParaRPr b="0" sz="1050">
                      <a:solidFill>
                        <a:srgbClr val="00E5FF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endParaRPr>
                  </a:p>
                  <a:p>
                    <a:pPr indent="0" lvl="0" marL="0" rtl="0" algn="l">
                      <a:spcBef>
                        <a:spcPts val="15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00">
                        <a:solidFill>
                          <a:srgbClr val="8A9BB3"/>
                        </a:solidFill>
                        <a:latin typeface="Inter"/>
                        <a:ea typeface="Inter"/>
                        <a:cs typeface="Inter"/>
                        <a:sym typeface="Inter"/>
                      </a:rPr>
                      <a:t>The system strictly prohibits invented failure probabilities or fabricated maintenance history.</a:t>
                    </a:r>
                    <a:endParaRPr b="0" sz="1000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grpSp>
              <p:nvGrpSpPr>
                <p:cNvPr id="604" name="Google Shape;604;p21"/>
                <p:cNvGrpSpPr/>
                <p:nvPr/>
              </p:nvGrpSpPr>
              <p:grpSpPr>
                <a:xfrm>
                  <a:off x="0" y="552450"/>
                  <a:ext cx="3543300" cy="495300"/>
                  <a:chOff x="0" y="0"/>
                  <a:chExt cx="3543300" cy="495300"/>
                </a:xfrm>
              </p:grpSpPr>
              <p:grpSp>
                <p:nvGrpSpPr>
                  <p:cNvPr id="605" name="Google Shape;605;p21"/>
                  <p:cNvGrpSpPr/>
                  <p:nvPr/>
                </p:nvGrpSpPr>
                <p:grpSpPr>
                  <a:xfrm>
                    <a:off x="0" y="28575"/>
                    <a:ext cx="114300" cy="114300"/>
                    <a:chOff x="0" y="0"/>
                    <a:chExt cx="114300" cy="114300"/>
                  </a:xfrm>
                </p:grpSpPr>
                <p:sp>
                  <p:nvSpPr>
                    <p:cNvPr id="606" name="Google Shape;606;p21"/>
                    <p:cNvSpPr/>
                    <p:nvPr/>
                  </p:nvSpPr>
                  <p:spPr>
                    <a:xfrm>
                      <a:off x="19050" y="19050"/>
                      <a:ext cx="76200" cy="76200"/>
                    </a:xfrm>
                    <a:prstGeom prst="ellipse">
                      <a:avLst/>
                    </a:prstGeom>
                    <a:solidFill>
                      <a:srgbClr val="00E5FF"/>
                    </a:solidFill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07" name="Google Shape;607;p21"/>
                    <p:cNvSpPr/>
                    <p:nvPr/>
                  </p:nvSpPr>
                  <p:spPr>
                    <a:xfrm>
                      <a:off x="0" y="0"/>
                      <a:ext cx="114300" cy="114300"/>
                    </a:xfrm>
                    <a:prstGeom prst="ellipse">
                      <a:avLst/>
                    </a:prstGeom>
                    <a:solidFill>
                      <a:srgbClr val="00E5FF">
                        <a:alpha val="30000"/>
                      </a:srgbClr>
                    </a:solidFill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sp>
                <p:nvSpPr>
                  <p:cNvPr id="608" name="Google Shape;608;p21"/>
                  <p:cNvSpPr txBox="1"/>
                  <p:nvPr/>
                </p:nvSpPr>
                <p:spPr>
                  <a:xfrm>
                    <a:off x="190500" y="0"/>
                    <a:ext cx="3352800" cy="4953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50">
                        <a:solidFill>
                          <a:srgbClr val="00E5FF"/>
                        </a:solidFill>
                        <a:latin typeface="Inter SemiBold"/>
                        <a:ea typeface="Inter SemiBold"/>
                        <a:cs typeface="Inter SemiBold"/>
                        <a:sym typeface="Inter SemiBold"/>
                      </a:rPr>
                      <a:t>No Component Fabrication</a:t>
                    </a:r>
                    <a:endParaRPr b="0" sz="1050">
                      <a:solidFill>
                        <a:srgbClr val="00E5FF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endParaRPr>
                  </a:p>
                  <a:p>
                    <a:pPr indent="0" lvl="0" marL="0" rtl="0" algn="l">
                      <a:spcBef>
                        <a:spcPts val="15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00">
                        <a:solidFill>
                          <a:srgbClr val="8A9BB3"/>
                        </a:solidFill>
                        <a:latin typeface="Inter"/>
                        <a:ea typeface="Inter"/>
                        <a:cs typeface="Inter"/>
                        <a:sym typeface="Inter"/>
                      </a:rPr>
                      <a:t>Prevents hallucinated component failures by binding reasoning directly to sensor ground truth.</a:t>
                    </a:r>
                    <a:endParaRPr b="0" sz="1000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grpSp>
              <p:nvGrpSpPr>
                <p:cNvPr id="609" name="Google Shape;609;p21"/>
                <p:cNvGrpSpPr/>
                <p:nvPr/>
              </p:nvGrpSpPr>
              <p:grpSpPr>
                <a:xfrm>
                  <a:off x="0" y="1104900"/>
                  <a:ext cx="3543300" cy="533400"/>
                  <a:chOff x="0" y="0"/>
                  <a:chExt cx="3543300" cy="533400"/>
                </a:xfrm>
              </p:grpSpPr>
              <p:grpSp>
                <p:nvGrpSpPr>
                  <p:cNvPr id="610" name="Google Shape;610;p21"/>
                  <p:cNvGrpSpPr/>
                  <p:nvPr/>
                </p:nvGrpSpPr>
                <p:grpSpPr>
                  <a:xfrm>
                    <a:off x="0" y="28575"/>
                    <a:ext cx="114300" cy="114300"/>
                    <a:chOff x="0" y="0"/>
                    <a:chExt cx="114300" cy="114300"/>
                  </a:xfrm>
                </p:grpSpPr>
                <p:sp>
                  <p:nvSpPr>
                    <p:cNvPr id="611" name="Google Shape;611;p21"/>
                    <p:cNvSpPr/>
                    <p:nvPr/>
                  </p:nvSpPr>
                  <p:spPr>
                    <a:xfrm>
                      <a:off x="19050" y="19050"/>
                      <a:ext cx="76200" cy="76200"/>
                    </a:xfrm>
                    <a:prstGeom prst="ellipse">
                      <a:avLst/>
                    </a:prstGeom>
                    <a:solidFill>
                      <a:srgbClr val="00E5FF"/>
                    </a:solidFill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  <p:sp>
                  <p:nvSpPr>
                    <p:cNvPr id="612" name="Google Shape;612;p21"/>
                    <p:cNvSpPr/>
                    <p:nvPr/>
                  </p:nvSpPr>
                  <p:spPr>
                    <a:xfrm>
                      <a:off x="0" y="0"/>
                      <a:ext cx="114300" cy="114300"/>
                    </a:xfrm>
                    <a:prstGeom prst="ellipse">
                      <a:avLst/>
                    </a:prstGeom>
                    <a:solidFill>
                      <a:srgbClr val="00E5FF">
                        <a:alpha val="30000"/>
                      </a:srgbClr>
                    </a:solidFill>
                    <a:ln>
                      <a:noFill/>
                    </a:ln>
                  </p:spPr>
                  <p:txBody>
                    <a:bodyPr anchorCtr="0" anchor="ctr" bIns="0" lIns="0" spcFirstLastPara="1" rIns="0" wrap="square" tIns="0"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p:txBody>
                </p:sp>
              </p:grpSp>
              <p:sp>
                <p:nvSpPr>
                  <p:cNvPr id="613" name="Google Shape;613;p21"/>
                  <p:cNvSpPr txBox="1"/>
                  <p:nvPr/>
                </p:nvSpPr>
                <p:spPr>
                  <a:xfrm>
                    <a:off x="190500" y="0"/>
                    <a:ext cx="3352800" cy="53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50">
                        <a:solidFill>
                          <a:srgbClr val="00E5FF"/>
                        </a:solidFill>
                        <a:latin typeface="Inter SemiBold"/>
                        <a:ea typeface="Inter SemiBold"/>
                        <a:cs typeface="Inter SemiBold"/>
                        <a:sym typeface="Inter SemiBold"/>
                      </a:rPr>
                      <a:t>Immutable Engine Overrides</a:t>
                    </a:r>
                    <a:endParaRPr b="0" sz="1050">
                      <a:solidFill>
                        <a:srgbClr val="00E5FF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endParaRPr>
                  </a:p>
                  <a:p>
                    <a:pPr indent="0" lvl="0" marL="0" rtl="0" algn="l">
                      <a:spcBef>
                        <a:spcPts val="15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00">
                        <a:solidFill>
                          <a:srgbClr val="8A9BB3"/>
                        </a:solidFill>
                        <a:latin typeface="Inter"/>
                        <a:ea typeface="Inter"/>
                        <a:cs typeface="Inter"/>
                        <a:sym typeface="Inter"/>
                      </a:rPr>
                      <a:t>The Copilot cannot override the readiness engine and explicitly reports when evidence is insufficient.</a:t>
                    </a:r>
                    <a:endParaRPr b="0" sz="1000">
                      <a:solidFill>
                        <a:srgbClr val="8A9BB3"/>
                      </a:solidFill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</p:grpSp>
        </p:grpSp>
      </p:grpSp>
      <p:grpSp>
        <p:nvGrpSpPr>
          <p:cNvPr id="614" name="Google Shape;614;p21"/>
          <p:cNvGrpSpPr/>
          <p:nvPr/>
        </p:nvGrpSpPr>
        <p:grpSpPr>
          <a:xfrm>
            <a:off x="381000" y="4714875"/>
            <a:ext cx="8382000" cy="209550"/>
            <a:chOff x="0" y="0"/>
            <a:chExt cx="8382000" cy="209550"/>
          </a:xfrm>
        </p:grpSpPr>
        <p:cxnSp>
          <p:nvCxnSpPr>
            <p:cNvPr id="615" name="Google Shape;615;p21"/>
            <p:cNvCxnSpPr/>
            <p:nvPr/>
          </p:nvCxnSpPr>
          <p:spPr>
            <a:xfrm>
              <a:off x="0" y="0"/>
              <a:ext cx="83820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616" name="Google Shape;616;p21"/>
            <p:cNvSpPr txBox="1"/>
            <p:nvPr/>
          </p:nvSpPr>
          <p:spPr>
            <a:xfrm>
              <a:off x="0" y="57150"/>
              <a:ext cx="38100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8A9BB3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SECURE TELEMETRY PIPELINE // VERIFIED BACKEND EVIDENCE</a:t>
              </a:r>
              <a:endParaRPr b="0" sz="800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sp>
          <p:nvSpPr>
            <p:cNvPr id="617" name="Google Shape;617;p21"/>
            <p:cNvSpPr txBox="1"/>
            <p:nvPr/>
          </p:nvSpPr>
          <p:spPr>
            <a:xfrm>
              <a:off x="6477000" y="57150"/>
              <a:ext cx="1905000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0E676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SYSTEM STATUS: ENFORCED</a:t>
              </a:r>
              <a:endParaRPr b="0" sz="800">
                <a:solidFill>
                  <a:srgbClr val="00E676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C13"/>
        </a:solidFill>
      </p:bgPr>
    </p:bg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2" name="Google Shape;622;p22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623" name="Google Shape;623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0"/>
              <a:ext cx="91440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4" name="Google Shape;624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81500" y="2190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25" name="Google Shape;625;p22"/>
          <p:cNvGrpSpPr/>
          <p:nvPr/>
        </p:nvGrpSpPr>
        <p:grpSpPr>
          <a:xfrm>
            <a:off x="371475" y="276225"/>
            <a:ext cx="8401125" cy="4591125"/>
            <a:chOff x="371475" y="276225"/>
            <a:chExt cx="8401125" cy="4591125"/>
          </a:xfrm>
        </p:grpSpPr>
        <p:pic>
          <p:nvPicPr>
            <p:cNvPr id="626" name="Google Shape;626;p2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71475" y="27622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7" name="Google Shape;627;p2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8572500" y="27622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8" name="Google Shape;628;p22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71475" y="466725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9" name="Google Shape;629;p22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8572500" y="466725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630" name="Google Shape;630;p22"/>
          <p:cNvGrpSpPr/>
          <p:nvPr/>
        </p:nvGrpSpPr>
        <p:grpSpPr>
          <a:xfrm>
            <a:off x="381000" y="304800"/>
            <a:ext cx="1790700" cy="247800"/>
            <a:chOff x="0" y="0"/>
            <a:chExt cx="1790700" cy="247800"/>
          </a:xfrm>
        </p:grpSpPr>
        <p:grpSp>
          <p:nvGrpSpPr>
            <p:cNvPr id="631" name="Google Shape;631;p22"/>
            <p:cNvGrpSpPr/>
            <p:nvPr/>
          </p:nvGrpSpPr>
          <p:grpSpPr>
            <a:xfrm>
              <a:off x="0" y="19050"/>
              <a:ext cx="190650" cy="190500"/>
              <a:chOff x="0" y="0"/>
              <a:chExt cx="190650" cy="190500"/>
            </a:xfrm>
          </p:grpSpPr>
          <p:sp>
            <p:nvSpPr>
              <p:cNvPr id="632" name="Google Shape;632;p22"/>
              <p:cNvSpPr/>
              <p:nvPr/>
            </p:nvSpPr>
            <p:spPr>
              <a:xfrm>
                <a:off x="0" y="0"/>
                <a:ext cx="190500" cy="1905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60000" y="0"/>
                    </a:lnTo>
                    <a:lnTo>
                      <a:pt x="120000" y="120000"/>
                    </a:lnTo>
                    <a:lnTo>
                      <a:pt x="60000" y="90000"/>
                    </a:lnTo>
                    <a:close/>
                  </a:path>
                </a:pathLst>
              </a:custGeom>
              <a:solidFill>
                <a:srgbClr val="FFB3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3" name="Google Shape;633;p22"/>
              <p:cNvSpPr/>
              <p:nvPr/>
            </p:nvSpPr>
            <p:spPr>
              <a:xfrm>
                <a:off x="95250" y="0"/>
                <a:ext cx="95400" cy="1905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120000"/>
                    </a:lnTo>
                    <a:lnTo>
                      <a:pt x="0" y="90000"/>
                    </a:lnTo>
                    <a:close/>
                  </a:path>
                </a:pathLst>
              </a:custGeom>
              <a:solidFill>
                <a:srgbClr val="CC8F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34" name="Google Shape;634;p22"/>
            <p:cNvSpPr txBox="1"/>
            <p:nvPr/>
          </p:nvSpPr>
          <p:spPr>
            <a:xfrm>
              <a:off x="266700" y="0"/>
              <a:ext cx="15240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500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 b="1" sz="15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sp>
        <p:nvSpPr>
          <p:cNvPr id="635" name="Google Shape;635;p22"/>
          <p:cNvSpPr txBox="1"/>
          <p:nvPr/>
        </p:nvSpPr>
        <p:spPr>
          <a:xfrm>
            <a:off x="6858000" y="323850"/>
            <a:ext cx="19050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●</a:t>
            </a:r>
            <a:r>
              <a:rPr b="0" lang="en" sz="900">
                <a:solidFill>
                  <a:srgbClr val="8A9BB3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 MISSION SYSTEM / EVAL_MODE</a:t>
            </a:r>
            <a:endParaRPr b="0" sz="900">
              <a:solidFill>
                <a:srgbClr val="8A9BB3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</p:txBody>
      </p:sp>
      <p:sp>
        <p:nvSpPr>
          <p:cNvPr id="636" name="Google Shape;636;p22"/>
          <p:cNvSpPr txBox="1"/>
          <p:nvPr/>
        </p:nvSpPr>
        <p:spPr>
          <a:xfrm>
            <a:off x="381000" y="647700"/>
            <a:ext cx="838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From One Engine to Fleet-Level Mission Readiness</a:t>
            </a:r>
            <a:endParaRPr b="1" sz="2600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637" name="Google Shape;637;p22"/>
          <p:cNvSpPr/>
          <p:nvPr/>
        </p:nvSpPr>
        <p:spPr>
          <a:xfrm>
            <a:off x="381000" y="1085850"/>
            <a:ext cx="8382000" cy="9600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22"/>
          <p:cNvSpPr/>
          <p:nvPr/>
        </p:nvSpPr>
        <p:spPr>
          <a:xfrm>
            <a:off x="381000" y="1085850"/>
            <a:ext cx="1143000" cy="19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9" name="Google Shape;639;p22"/>
          <p:cNvGrpSpPr/>
          <p:nvPr/>
        </p:nvGrpSpPr>
        <p:grpSpPr>
          <a:xfrm>
            <a:off x="381000" y="1238250"/>
            <a:ext cx="4076700" cy="2610000"/>
            <a:chOff x="0" y="0"/>
            <a:chExt cx="4076700" cy="2610000"/>
          </a:xfrm>
        </p:grpSpPr>
        <p:sp>
          <p:nvSpPr>
            <p:cNvPr id="640" name="Google Shape;640;p22"/>
            <p:cNvSpPr/>
            <p:nvPr/>
          </p:nvSpPr>
          <p:spPr>
            <a:xfrm>
              <a:off x="0" y="0"/>
              <a:ext cx="4076700" cy="26100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1" name="Google Shape;641;p22"/>
            <p:cNvSpPr/>
            <p:nvPr/>
          </p:nvSpPr>
          <p:spPr>
            <a:xfrm>
              <a:off x="0" y="0"/>
              <a:ext cx="4076700" cy="28500"/>
            </a:xfrm>
            <a:prstGeom prst="rect">
              <a:avLst/>
            </a:prstGeom>
            <a:solidFill>
              <a:srgbClr val="00E5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22"/>
            <p:cNvSpPr txBox="1"/>
            <p:nvPr/>
          </p:nvSpPr>
          <p:spPr>
            <a:xfrm>
              <a:off x="228600" y="171450"/>
              <a:ext cx="3619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b="0" lang="en" sz="16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Capabilities Today</a:t>
              </a:r>
              <a:endParaRPr b="0" sz="16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sp>
          <p:nvSpPr>
            <p:cNvPr id="643" name="Google Shape;643;p22"/>
            <p:cNvSpPr txBox="1"/>
            <p:nvPr/>
          </p:nvSpPr>
          <p:spPr>
            <a:xfrm>
              <a:off x="228600" y="457200"/>
              <a:ext cx="36195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CURRENT CORE ENGINE ANALYTICS</a:t>
              </a:r>
              <a:endParaRPr b="0" sz="9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grpSp>
          <p:nvGrpSpPr>
            <p:cNvPr id="644" name="Google Shape;644;p22"/>
            <p:cNvGrpSpPr/>
            <p:nvPr/>
          </p:nvGrpSpPr>
          <p:grpSpPr>
            <a:xfrm>
              <a:off x="228600" y="742950"/>
              <a:ext cx="3600450" cy="209700"/>
              <a:chOff x="0" y="0"/>
              <a:chExt cx="3600450" cy="209700"/>
            </a:xfrm>
          </p:grpSpPr>
          <p:grpSp>
            <p:nvGrpSpPr>
              <p:cNvPr id="645" name="Google Shape;645;p22"/>
              <p:cNvGrpSpPr/>
              <p:nvPr/>
            </p:nvGrpSpPr>
            <p:grpSpPr>
              <a:xfrm>
                <a:off x="0" y="38100"/>
                <a:ext cx="95400" cy="95400"/>
                <a:chOff x="0" y="0"/>
                <a:chExt cx="95400" cy="95400"/>
              </a:xfrm>
            </p:grpSpPr>
            <p:sp>
              <p:nvSpPr>
                <p:cNvPr id="646" name="Google Shape;646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7" name="Google Shape;647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00E5FF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48" name="Google Shape;648;p22"/>
              <p:cNvSpPr txBox="1"/>
              <p:nvPr/>
            </p:nvSpPr>
            <p:spPr>
              <a:xfrm>
                <a:off x="171450" y="0"/>
                <a:ext cx="34290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Predict Remaining Useful Life</a:t>
                </a:r>
                <a:endParaRPr b="0" sz="110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49" name="Google Shape;649;p22"/>
            <p:cNvGrpSpPr/>
            <p:nvPr/>
          </p:nvGrpSpPr>
          <p:grpSpPr>
            <a:xfrm>
              <a:off x="228600" y="1085850"/>
              <a:ext cx="3600450" cy="209700"/>
              <a:chOff x="0" y="0"/>
              <a:chExt cx="3600450" cy="209700"/>
            </a:xfrm>
          </p:grpSpPr>
          <p:grpSp>
            <p:nvGrpSpPr>
              <p:cNvPr id="650" name="Google Shape;650;p22"/>
              <p:cNvGrpSpPr/>
              <p:nvPr/>
            </p:nvGrpSpPr>
            <p:grpSpPr>
              <a:xfrm>
                <a:off x="0" y="38100"/>
                <a:ext cx="95400" cy="95400"/>
                <a:chOff x="0" y="0"/>
                <a:chExt cx="95400" cy="95400"/>
              </a:xfrm>
            </p:grpSpPr>
            <p:sp>
              <p:nvSpPr>
                <p:cNvPr id="651" name="Google Shape;651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52" name="Google Shape;652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00E5FF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53" name="Google Shape;653;p22"/>
              <p:cNvSpPr txBox="1"/>
              <p:nvPr/>
            </p:nvSpPr>
            <p:spPr>
              <a:xfrm>
                <a:off x="171450" y="0"/>
                <a:ext cx="34290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Detect multivariate sensor degradation</a:t>
                </a:r>
                <a:endParaRPr b="0" sz="110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54" name="Google Shape;654;p22"/>
            <p:cNvGrpSpPr/>
            <p:nvPr/>
          </p:nvGrpSpPr>
          <p:grpSpPr>
            <a:xfrm>
              <a:off x="228600" y="1428750"/>
              <a:ext cx="3600450" cy="209700"/>
              <a:chOff x="0" y="0"/>
              <a:chExt cx="3600450" cy="209700"/>
            </a:xfrm>
          </p:grpSpPr>
          <p:grpSp>
            <p:nvGrpSpPr>
              <p:cNvPr id="655" name="Google Shape;655;p22"/>
              <p:cNvGrpSpPr/>
              <p:nvPr/>
            </p:nvGrpSpPr>
            <p:grpSpPr>
              <a:xfrm>
                <a:off x="0" y="38100"/>
                <a:ext cx="95400" cy="95400"/>
                <a:chOff x="0" y="0"/>
                <a:chExt cx="95400" cy="95400"/>
              </a:xfrm>
            </p:grpSpPr>
            <p:sp>
              <p:nvSpPr>
                <p:cNvPr id="656" name="Google Shape;656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57" name="Google Shape;657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00E5FF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58" name="Google Shape;658;p22"/>
              <p:cNvSpPr txBox="1"/>
              <p:nvPr/>
            </p:nvSpPr>
            <p:spPr>
              <a:xfrm>
                <a:off x="171450" y="0"/>
                <a:ext cx="34290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Evaluate mission readiness</a:t>
                </a:r>
                <a:endParaRPr b="0" sz="110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59" name="Google Shape;659;p22"/>
            <p:cNvGrpSpPr/>
            <p:nvPr/>
          </p:nvGrpSpPr>
          <p:grpSpPr>
            <a:xfrm>
              <a:off x="228600" y="1771650"/>
              <a:ext cx="3600450" cy="209700"/>
              <a:chOff x="0" y="0"/>
              <a:chExt cx="3600450" cy="209700"/>
            </a:xfrm>
          </p:grpSpPr>
          <p:grpSp>
            <p:nvGrpSpPr>
              <p:cNvPr id="660" name="Google Shape;660;p22"/>
              <p:cNvGrpSpPr/>
              <p:nvPr/>
            </p:nvGrpSpPr>
            <p:grpSpPr>
              <a:xfrm>
                <a:off x="0" y="38100"/>
                <a:ext cx="95400" cy="95400"/>
                <a:chOff x="0" y="0"/>
                <a:chExt cx="95400" cy="95400"/>
              </a:xfrm>
            </p:grpSpPr>
            <p:sp>
              <p:nvSpPr>
                <p:cNvPr id="661" name="Google Shape;661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62" name="Google Shape;662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00E5FF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63" name="Google Shape;663;p22"/>
              <p:cNvSpPr txBox="1"/>
              <p:nvPr/>
            </p:nvSpPr>
            <p:spPr>
              <a:xfrm>
                <a:off x="171450" y="0"/>
                <a:ext cx="34290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Prioritize maintenance</a:t>
                </a:r>
                <a:endParaRPr b="0" sz="110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64" name="Google Shape;664;p22"/>
            <p:cNvGrpSpPr/>
            <p:nvPr/>
          </p:nvGrpSpPr>
          <p:grpSpPr>
            <a:xfrm>
              <a:off x="228600" y="2114550"/>
              <a:ext cx="3600450" cy="209700"/>
              <a:chOff x="0" y="0"/>
              <a:chExt cx="3600450" cy="209700"/>
            </a:xfrm>
          </p:grpSpPr>
          <p:grpSp>
            <p:nvGrpSpPr>
              <p:cNvPr id="665" name="Google Shape;665;p22"/>
              <p:cNvGrpSpPr/>
              <p:nvPr/>
            </p:nvGrpSpPr>
            <p:grpSpPr>
              <a:xfrm>
                <a:off x="0" y="38100"/>
                <a:ext cx="95400" cy="95400"/>
                <a:chOff x="0" y="0"/>
                <a:chExt cx="95400" cy="95400"/>
              </a:xfrm>
            </p:grpSpPr>
            <p:sp>
              <p:nvSpPr>
                <p:cNvPr id="666" name="Google Shape;666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00E5FF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67" name="Google Shape;667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00E5FF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68" name="Google Shape;668;p22"/>
              <p:cNvSpPr txBox="1"/>
              <p:nvPr/>
            </p:nvSpPr>
            <p:spPr>
              <a:xfrm>
                <a:off x="171450" y="0"/>
                <a:ext cx="34290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0F4F8"/>
                    </a:solidFill>
                    <a:latin typeface="Inter"/>
                    <a:ea typeface="Inter"/>
                    <a:cs typeface="Inter"/>
                    <a:sym typeface="Inter"/>
                  </a:rPr>
                  <a:t>Explain the evidence</a:t>
                </a:r>
                <a:endParaRPr b="0" sz="1100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669" name="Google Shape;669;p22"/>
          <p:cNvGrpSpPr/>
          <p:nvPr/>
        </p:nvGrpSpPr>
        <p:grpSpPr>
          <a:xfrm>
            <a:off x="4686300" y="1238250"/>
            <a:ext cx="4076700" cy="2610000"/>
            <a:chOff x="0" y="0"/>
            <a:chExt cx="4076700" cy="2610000"/>
          </a:xfrm>
        </p:grpSpPr>
        <p:sp>
          <p:nvSpPr>
            <p:cNvPr id="670" name="Google Shape;670;p22"/>
            <p:cNvSpPr/>
            <p:nvPr/>
          </p:nvSpPr>
          <p:spPr>
            <a:xfrm>
              <a:off x="0" y="0"/>
              <a:ext cx="4076700" cy="2610000"/>
            </a:xfrm>
            <a:prstGeom prst="rect">
              <a:avLst/>
            </a:prstGeom>
            <a:solidFill>
              <a:srgbClr val="111A28"/>
            </a:solidFill>
            <a:ln cap="flat" cmpd="sng" w="9525">
              <a:solidFill>
                <a:srgbClr val="223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22"/>
            <p:cNvSpPr/>
            <p:nvPr/>
          </p:nvSpPr>
          <p:spPr>
            <a:xfrm>
              <a:off x="0" y="0"/>
              <a:ext cx="4076700" cy="285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2" name="Google Shape;672;p22"/>
            <p:cNvSpPr txBox="1"/>
            <p:nvPr/>
          </p:nvSpPr>
          <p:spPr>
            <a:xfrm>
              <a:off x="228600" y="171450"/>
              <a:ext cx="3619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900"/>
                </a:spcAft>
                <a:buNone/>
              </a:pPr>
              <a:r>
                <a:rPr b="0" lang="en" sz="16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Vision Beyond the Hackathon</a:t>
              </a:r>
              <a:endParaRPr b="0" sz="16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sp>
          <p:nvSpPr>
            <p:cNvPr id="673" name="Google Shape;673;p22"/>
            <p:cNvSpPr txBox="1"/>
            <p:nvPr/>
          </p:nvSpPr>
          <p:spPr>
            <a:xfrm>
              <a:off x="228600" y="457200"/>
              <a:ext cx="3619500" cy="171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FFB300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SCALING &amp; PRODUCTION ROADMAP</a:t>
              </a:r>
              <a:endParaRPr b="0" sz="900">
                <a:solidFill>
                  <a:srgbClr val="FFB300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  <p:grpSp>
          <p:nvGrpSpPr>
            <p:cNvPr id="674" name="Google Shape;674;p22"/>
            <p:cNvGrpSpPr/>
            <p:nvPr/>
          </p:nvGrpSpPr>
          <p:grpSpPr>
            <a:xfrm>
              <a:off x="228600" y="723900"/>
              <a:ext cx="3600450" cy="457200"/>
              <a:chOff x="0" y="0"/>
              <a:chExt cx="3600450" cy="457200"/>
            </a:xfrm>
          </p:grpSpPr>
          <p:grpSp>
            <p:nvGrpSpPr>
              <p:cNvPr id="675" name="Google Shape;675;p22"/>
              <p:cNvGrpSpPr/>
              <p:nvPr/>
            </p:nvGrpSpPr>
            <p:grpSpPr>
              <a:xfrm>
                <a:off x="0" y="47625"/>
                <a:ext cx="95400" cy="95400"/>
                <a:chOff x="0" y="0"/>
                <a:chExt cx="95400" cy="95400"/>
              </a:xfrm>
            </p:grpSpPr>
            <p:sp>
              <p:nvSpPr>
                <p:cNvPr id="676" name="Google Shape;676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FFB30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77" name="Google Shape;677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FFB300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78" name="Google Shape;678;p22"/>
              <p:cNvSpPr txBox="1"/>
              <p:nvPr/>
            </p:nvSpPr>
            <p:spPr>
              <a:xfrm>
                <a:off x="171450" y="0"/>
                <a:ext cx="3429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Integration of aircraft-specific validated data and maintenance records.</a:t>
                </a:r>
                <a:endParaRPr b="0" sz="11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79" name="Google Shape;679;p22"/>
            <p:cNvGrpSpPr/>
            <p:nvPr/>
          </p:nvGrpSpPr>
          <p:grpSpPr>
            <a:xfrm>
              <a:off x="228600" y="1276350"/>
              <a:ext cx="3600450" cy="457200"/>
              <a:chOff x="0" y="0"/>
              <a:chExt cx="3600450" cy="457200"/>
            </a:xfrm>
          </p:grpSpPr>
          <p:grpSp>
            <p:nvGrpSpPr>
              <p:cNvPr id="680" name="Google Shape;680;p22"/>
              <p:cNvGrpSpPr/>
              <p:nvPr/>
            </p:nvGrpSpPr>
            <p:grpSpPr>
              <a:xfrm>
                <a:off x="0" y="47625"/>
                <a:ext cx="95400" cy="95400"/>
                <a:chOff x="0" y="0"/>
                <a:chExt cx="95400" cy="95400"/>
              </a:xfrm>
            </p:grpSpPr>
            <p:sp>
              <p:nvSpPr>
                <p:cNvPr id="681" name="Google Shape;681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FFB30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2" name="Google Shape;682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FFB300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83" name="Google Shape;683;p22"/>
              <p:cNvSpPr txBox="1"/>
              <p:nvPr/>
            </p:nvSpPr>
            <p:spPr>
              <a:xfrm>
                <a:off x="171450" y="0"/>
                <a:ext cx="3429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Implementation of calibration procedures and domain safety approval.</a:t>
                </a:r>
                <a:endParaRPr b="0" sz="11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84" name="Google Shape;684;p22"/>
            <p:cNvGrpSpPr/>
            <p:nvPr/>
          </p:nvGrpSpPr>
          <p:grpSpPr>
            <a:xfrm>
              <a:off x="228600" y="1828800"/>
              <a:ext cx="3600450" cy="552600"/>
              <a:chOff x="0" y="0"/>
              <a:chExt cx="3600450" cy="552600"/>
            </a:xfrm>
          </p:grpSpPr>
          <p:grpSp>
            <p:nvGrpSpPr>
              <p:cNvPr id="685" name="Google Shape;685;p22"/>
              <p:cNvGrpSpPr/>
              <p:nvPr/>
            </p:nvGrpSpPr>
            <p:grpSpPr>
              <a:xfrm>
                <a:off x="0" y="47625"/>
                <a:ext cx="95400" cy="95400"/>
                <a:chOff x="0" y="0"/>
                <a:chExt cx="95400" cy="95400"/>
              </a:xfrm>
            </p:grpSpPr>
            <p:sp>
              <p:nvSpPr>
                <p:cNvPr id="686" name="Google Shape;686;p22"/>
                <p:cNvSpPr/>
                <p:nvPr/>
              </p:nvSpPr>
              <p:spPr>
                <a:xfrm>
                  <a:off x="19050" y="19050"/>
                  <a:ext cx="57300" cy="57300"/>
                </a:xfrm>
                <a:prstGeom prst="ellipse">
                  <a:avLst/>
                </a:prstGeom>
                <a:solidFill>
                  <a:srgbClr val="FFB300"/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87" name="Google Shape;687;p22"/>
                <p:cNvSpPr/>
                <p:nvPr/>
              </p:nvSpPr>
              <p:spPr>
                <a:xfrm>
                  <a:off x="0" y="0"/>
                  <a:ext cx="95400" cy="95400"/>
                </a:xfrm>
                <a:prstGeom prst="ellipse">
                  <a:avLst/>
                </a:prstGeom>
                <a:solidFill>
                  <a:srgbClr val="FFB300">
                    <a:alpha val="30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688" name="Google Shape;688;p22"/>
              <p:cNvSpPr txBox="1"/>
              <p:nvPr/>
            </p:nvSpPr>
            <p:spPr>
              <a:xfrm>
                <a:off x="171450" y="0"/>
                <a:ext cx="3429000" cy="55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8A9BB3"/>
                    </a:solidFill>
                    <a:latin typeface="Inter"/>
                    <a:ea typeface="Inter"/>
                    <a:cs typeface="Inter"/>
                    <a:sym typeface="Inter"/>
                  </a:rPr>
                  <a:t>Deployment of fleet-scale predictive maintenance and production database infrastructure.</a:t>
                </a:r>
                <a:endParaRPr b="0" sz="1100">
                  <a:solidFill>
                    <a:srgbClr val="8A9BB3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689" name="Google Shape;689;p22"/>
          <p:cNvGrpSpPr/>
          <p:nvPr/>
        </p:nvGrpSpPr>
        <p:grpSpPr>
          <a:xfrm>
            <a:off x="376238" y="3976688"/>
            <a:ext cx="8391600" cy="714300"/>
            <a:chOff x="-4762" y="-4762"/>
            <a:chExt cx="8391600" cy="714300"/>
          </a:xfrm>
        </p:grpSpPr>
        <p:pic>
          <p:nvPicPr>
            <p:cNvPr id="690" name="Google Shape;690;p22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-4762" y="-4762"/>
              <a:ext cx="8391600" cy="714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91" name="Google Shape;691;p22"/>
            <p:cNvSpPr/>
            <p:nvPr/>
          </p:nvSpPr>
          <p:spPr>
            <a:xfrm>
              <a:off x="0" y="0"/>
              <a:ext cx="15240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22"/>
            <p:cNvSpPr txBox="1"/>
            <p:nvPr/>
          </p:nvSpPr>
          <p:spPr>
            <a:xfrm>
              <a:off x="228600" y="95250"/>
              <a:ext cx="7924800" cy="5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18">
                  <a:solidFill>
                    <a:srgbClr val="FFB300"/>
                  </a:solidFill>
                  <a:latin typeface="Rajdhani"/>
                  <a:ea typeface="Rajdhani"/>
                  <a:cs typeface="Rajdhani"/>
                  <a:sym typeface="Rajdhani"/>
                </a:rPr>
                <a:t>[ SAFETY BOUNDARY DIRECTIVE ]</a:t>
              </a:r>
              <a:endParaRPr b="1" sz="1018">
                <a:solidFill>
                  <a:srgbClr val="FFB300"/>
                </a:solidFill>
                <a:latin typeface="Rajdhani"/>
                <a:ea typeface="Rajdhani"/>
                <a:cs typeface="Rajdhani"/>
                <a:sym typeface="Rajdhan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71">
                  <a:solidFill>
                    <a:srgbClr val="F0F4F8"/>
                  </a:solidFill>
                  <a:latin typeface="Inter"/>
                  <a:ea typeface="Inter"/>
                  <a:cs typeface="Inter"/>
                  <a:sym typeface="Inter"/>
                </a:rPr>
                <a:t>AeroReady predictions are designed to serve strictly as decision support for maintenance and operations teams, not as autonomous flight-safety commands.</a:t>
              </a:r>
              <a:endParaRPr b="0" sz="971">
                <a:solidFill>
                  <a:srgbClr val="F0F4F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2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C1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98" name="Google Shape;69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99" name="Google Shape;699;p23"/>
          <p:cNvGrpSpPr/>
          <p:nvPr/>
        </p:nvGrpSpPr>
        <p:grpSpPr>
          <a:xfrm>
            <a:off x="276225" y="180975"/>
            <a:ext cx="8591625" cy="4781625"/>
            <a:chOff x="276225" y="180975"/>
            <a:chExt cx="8591625" cy="4781625"/>
          </a:xfrm>
        </p:grpSpPr>
        <p:pic>
          <p:nvPicPr>
            <p:cNvPr id="700" name="Google Shape;700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76225" y="18097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1" name="Google Shape;701;p2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8667750" y="180975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2" name="Google Shape;702;p2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276225" y="476250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3" name="Google Shape;703;p23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8667750" y="4762500"/>
              <a:ext cx="200100" cy="2001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704" name="Google Shape;704;p23"/>
          <p:cNvGrpSpPr/>
          <p:nvPr/>
        </p:nvGrpSpPr>
        <p:grpSpPr>
          <a:xfrm>
            <a:off x="381000" y="238125"/>
            <a:ext cx="1676550" cy="228600"/>
            <a:chOff x="0" y="0"/>
            <a:chExt cx="1676550" cy="228600"/>
          </a:xfrm>
        </p:grpSpPr>
        <p:sp>
          <p:nvSpPr>
            <p:cNvPr id="705" name="Google Shape;705;p23"/>
            <p:cNvSpPr/>
            <p:nvPr/>
          </p:nvSpPr>
          <p:spPr>
            <a:xfrm>
              <a:off x="0" y="0"/>
              <a:ext cx="190500" cy="1905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60000" y="0"/>
                  </a:lnTo>
                  <a:lnTo>
                    <a:pt x="120000" y="120000"/>
                  </a:lnTo>
                  <a:lnTo>
                    <a:pt x="60000" y="9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23"/>
            <p:cNvSpPr/>
            <p:nvPr/>
          </p:nvSpPr>
          <p:spPr>
            <a:xfrm>
              <a:off x="95250" y="0"/>
              <a:ext cx="95400" cy="1905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120000"/>
                  </a:lnTo>
                  <a:lnTo>
                    <a:pt x="0" y="90000"/>
                  </a:lnTo>
                  <a:close/>
                </a:path>
              </a:pathLst>
            </a:custGeom>
            <a:solidFill>
              <a:srgbClr val="CC8F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7" name="Google Shape;707;p23"/>
            <p:cNvSpPr txBox="1"/>
            <p:nvPr/>
          </p:nvSpPr>
          <p:spPr>
            <a:xfrm>
              <a:off x="247650" y="0"/>
              <a:ext cx="1428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0F4F8"/>
                  </a:solidFill>
                  <a:latin typeface="Rajdhani"/>
                  <a:ea typeface="Rajdhani"/>
                  <a:cs typeface="Rajdhani"/>
                  <a:sym typeface="Rajdhani"/>
                </a:rPr>
                <a:t>AERO</a:t>
              </a:r>
              <a:r>
                <a:rPr b="1" lang="en" sz="1500">
                  <a:solidFill>
                    <a:srgbClr val="8A9BB3"/>
                  </a:solidFill>
                  <a:latin typeface="Rajdhani"/>
                  <a:ea typeface="Rajdhani"/>
                  <a:cs typeface="Rajdhani"/>
                  <a:sym typeface="Rajdhani"/>
                </a:rPr>
                <a:t>READY</a:t>
              </a:r>
              <a:endParaRPr b="1" sz="150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endParaRPr>
            </a:p>
          </p:txBody>
        </p:sp>
      </p:grpSp>
      <p:sp>
        <p:nvSpPr>
          <p:cNvPr id="708" name="Google Shape;708;p23"/>
          <p:cNvSpPr txBox="1"/>
          <p:nvPr/>
        </p:nvSpPr>
        <p:spPr>
          <a:xfrm>
            <a:off x="381000" y="495300"/>
            <a:ext cx="8382000" cy="5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85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rPr>
              <a:t>PROJECT CLOSING &amp; TEAM OVERVIEW</a:t>
            </a:r>
            <a:endParaRPr b="0" sz="1085">
              <a:solidFill>
                <a:srgbClr val="00E5FF"/>
              </a:solidFill>
              <a:latin typeface="Rajdhani SemiBold"/>
              <a:ea typeface="Rajdhani SemiBold"/>
              <a:cs typeface="Rajdhani SemiBold"/>
              <a:sym typeface="Rajdhani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70">
                <a:solidFill>
                  <a:srgbClr val="F0F4F8"/>
                </a:solidFill>
                <a:latin typeface="Rajdhani"/>
                <a:ea typeface="Rajdhani"/>
                <a:cs typeface="Rajdhani"/>
                <a:sym typeface="Rajdhani"/>
              </a:rPr>
              <a:t>Team Astraea &amp; Closing</a:t>
            </a:r>
            <a:endParaRPr b="1" sz="2170">
              <a:solidFill>
                <a:srgbClr val="F0F4F8"/>
              </a:solidFill>
              <a:latin typeface="Rajdhani"/>
              <a:ea typeface="Rajdhani"/>
              <a:cs typeface="Rajdhani"/>
              <a:sym typeface="Rajdhani"/>
            </a:endParaRPr>
          </a:p>
        </p:txBody>
      </p:sp>
      <p:sp>
        <p:nvSpPr>
          <p:cNvPr id="709" name="Google Shape;709;p23"/>
          <p:cNvSpPr/>
          <p:nvPr/>
        </p:nvSpPr>
        <p:spPr>
          <a:xfrm>
            <a:off x="381000" y="1066800"/>
            <a:ext cx="8382000" cy="9600"/>
          </a:xfrm>
          <a:prstGeom prst="rect">
            <a:avLst/>
          </a:prstGeom>
          <a:solidFill>
            <a:srgbClr val="22334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" name="Google Shape;710;p23"/>
          <p:cNvSpPr/>
          <p:nvPr/>
        </p:nvSpPr>
        <p:spPr>
          <a:xfrm>
            <a:off x="381000" y="1066800"/>
            <a:ext cx="1143000" cy="19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11" name="Google Shape;711;p23"/>
          <p:cNvGrpSpPr/>
          <p:nvPr/>
        </p:nvGrpSpPr>
        <p:grpSpPr>
          <a:xfrm>
            <a:off x="381000" y="1219200"/>
            <a:ext cx="4000500" cy="571500"/>
            <a:chOff x="0" y="0"/>
            <a:chExt cx="4000500" cy="571500"/>
          </a:xfrm>
        </p:grpSpPr>
        <p:grpSp>
          <p:nvGrpSpPr>
            <p:cNvPr id="712" name="Google Shape;712;p23"/>
            <p:cNvGrpSpPr/>
            <p:nvPr/>
          </p:nvGrpSpPr>
          <p:grpSpPr>
            <a:xfrm>
              <a:off x="0" y="0"/>
              <a:ext cx="4000500" cy="571500"/>
              <a:chOff x="0" y="0"/>
              <a:chExt cx="4000500" cy="571500"/>
            </a:xfrm>
          </p:grpSpPr>
          <p:sp>
            <p:nvSpPr>
              <p:cNvPr id="713" name="Google Shape;713;p23"/>
              <p:cNvSpPr/>
              <p:nvPr/>
            </p:nvSpPr>
            <p:spPr>
              <a:xfrm>
                <a:off x="0" y="0"/>
                <a:ext cx="4000500" cy="571500"/>
              </a:xfrm>
              <a:prstGeom prst="rect">
                <a:avLst/>
              </a:prstGeom>
              <a:solidFill>
                <a:srgbClr val="111A28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4" name="Google Shape;714;p23"/>
              <p:cNvSpPr/>
              <p:nvPr/>
            </p:nvSpPr>
            <p:spPr>
              <a:xfrm>
                <a:off x="0" y="0"/>
                <a:ext cx="38100" cy="5715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15" name="Google Shape;715;p23"/>
            <p:cNvSpPr txBox="1"/>
            <p:nvPr/>
          </p:nvSpPr>
          <p:spPr>
            <a:xfrm>
              <a:off x="152400" y="76200"/>
              <a:ext cx="3695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Krish Parmar</a:t>
              </a:r>
              <a:endParaRPr b="0" sz="1300">
                <a:solidFill>
                  <a:srgbClr val="F0F4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EDA / DATA ANALYSIS + BACKEND</a:t>
              </a:r>
              <a:endParaRPr b="0" sz="10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716" name="Google Shape;716;p23"/>
          <p:cNvGrpSpPr/>
          <p:nvPr/>
        </p:nvGrpSpPr>
        <p:grpSpPr>
          <a:xfrm>
            <a:off x="4762500" y="1219200"/>
            <a:ext cx="4000500" cy="571500"/>
            <a:chOff x="0" y="0"/>
            <a:chExt cx="4000500" cy="571500"/>
          </a:xfrm>
        </p:grpSpPr>
        <p:grpSp>
          <p:nvGrpSpPr>
            <p:cNvPr id="717" name="Google Shape;717;p23"/>
            <p:cNvGrpSpPr/>
            <p:nvPr/>
          </p:nvGrpSpPr>
          <p:grpSpPr>
            <a:xfrm>
              <a:off x="0" y="0"/>
              <a:ext cx="4000500" cy="571500"/>
              <a:chOff x="0" y="0"/>
              <a:chExt cx="4000500" cy="571500"/>
            </a:xfrm>
          </p:grpSpPr>
          <p:sp>
            <p:nvSpPr>
              <p:cNvPr id="718" name="Google Shape;718;p23"/>
              <p:cNvSpPr/>
              <p:nvPr/>
            </p:nvSpPr>
            <p:spPr>
              <a:xfrm>
                <a:off x="0" y="0"/>
                <a:ext cx="4000500" cy="571500"/>
              </a:xfrm>
              <a:prstGeom prst="rect">
                <a:avLst/>
              </a:prstGeom>
              <a:solidFill>
                <a:srgbClr val="111A28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19" name="Google Shape;719;p23"/>
              <p:cNvSpPr/>
              <p:nvPr/>
            </p:nvSpPr>
            <p:spPr>
              <a:xfrm>
                <a:off x="0" y="0"/>
                <a:ext cx="38100" cy="5715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20" name="Google Shape;720;p23"/>
            <p:cNvSpPr txBox="1"/>
            <p:nvPr/>
          </p:nvSpPr>
          <p:spPr>
            <a:xfrm>
              <a:off x="152400" y="76200"/>
              <a:ext cx="3695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Mayur Maghrola</a:t>
              </a:r>
              <a:endParaRPr b="0" sz="1300">
                <a:solidFill>
                  <a:srgbClr val="F0F4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FRONTEND + INTEGRATION</a:t>
              </a:r>
              <a:endParaRPr b="0" sz="10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721" name="Google Shape;721;p23"/>
          <p:cNvGrpSpPr/>
          <p:nvPr/>
        </p:nvGrpSpPr>
        <p:grpSpPr>
          <a:xfrm>
            <a:off x="381000" y="1905000"/>
            <a:ext cx="4000500" cy="571500"/>
            <a:chOff x="0" y="0"/>
            <a:chExt cx="4000500" cy="571500"/>
          </a:xfrm>
        </p:grpSpPr>
        <p:grpSp>
          <p:nvGrpSpPr>
            <p:cNvPr id="722" name="Google Shape;722;p23"/>
            <p:cNvGrpSpPr/>
            <p:nvPr/>
          </p:nvGrpSpPr>
          <p:grpSpPr>
            <a:xfrm>
              <a:off x="0" y="0"/>
              <a:ext cx="4000500" cy="571500"/>
              <a:chOff x="0" y="0"/>
              <a:chExt cx="4000500" cy="571500"/>
            </a:xfrm>
          </p:grpSpPr>
          <p:sp>
            <p:nvSpPr>
              <p:cNvPr id="723" name="Google Shape;723;p23"/>
              <p:cNvSpPr/>
              <p:nvPr/>
            </p:nvSpPr>
            <p:spPr>
              <a:xfrm>
                <a:off x="0" y="0"/>
                <a:ext cx="4000500" cy="571500"/>
              </a:xfrm>
              <a:prstGeom prst="rect">
                <a:avLst/>
              </a:prstGeom>
              <a:solidFill>
                <a:srgbClr val="111A28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4" name="Google Shape;724;p23"/>
              <p:cNvSpPr/>
              <p:nvPr/>
            </p:nvSpPr>
            <p:spPr>
              <a:xfrm>
                <a:off x="0" y="0"/>
                <a:ext cx="38100" cy="5715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25" name="Google Shape;725;p23"/>
            <p:cNvSpPr txBox="1"/>
            <p:nvPr/>
          </p:nvSpPr>
          <p:spPr>
            <a:xfrm>
              <a:off x="152400" y="76200"/>
              <a:ext cx="3695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Deep Kayastha</a:t>
              </a:r>
              <a:endParaRPr b="0" sz="1300">
                <a:solidFill>
                  <a:srgbClr val="F0F4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BACKEND + AI / ML</a:t>
              </a:r>
              <a:endParaRPr b="0" sz="10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726" name="Google Shape;726;p23"/>
          <p:cNvGrpSpPr/>
          <p:nvPr/>
        </p:nvGrpSpPr>
        <p:grpSpPr>
          <a:xfrm>
            <a:off x="4762500" y="1905000"/>
            <a:ext cx="4000500" cy="571500"/>
            <a:chOff x="0" y="0"/>
            <a:chExt cx="4000500" cy="571500"/>
          </a:xfrm>
        </p:grpSpPr>
        <p:grpSp>
          <p:nvGrpSpPr>
            <p:cNvPr id="727" name="Google Shape;727;p23"/>
            <p:cNvGrpSpPr/>
            <p:nvPr/>
          </p:nvGrpSpPr>
          <p:grpSpPr>
            <a:xfrm>
              <a:off x="0" y="0"/>
              <a:ext cx="4000500" cy="571500"/>
              <a:chOff x="0" y="0"/>
              <a:chExt cx="4000500" cy="571500"/>
            </a:xfrm>
          </p:grpSpPr>
          <p:sp>
            <p:nvSpPr>
              <p:cNvPr id="728" name="Google Shape;728;p23"/>
              <p:cNvSpPr/>
              <p:nvPr/>
            </p:nvSpPr>
            <p:spPr>
              <a:xfrm>
                <a:off x="0" y="0"/>
                <a:ext cx="4000500" cy="571500"/>
              </a:xfrm>
              <a:prstGeom prst="rect">
                <a:avLst/>
              </a:prstGeom>
              <a:solidFill>
                <a:srgbClr val="111A28"/>
              </a:solidFill>
              <a:ln cap="flat" cmpd="sng" w="9525">
                <a:solidFill>
                  <a:srgbClr val="22334A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29" name="Google Shape;729;p23"/>
              <p:cNvSpPr/>
              <p:nvPr/>
            </p:nvSpPr>
            <p:spPr>
              <a:xfrm>
                <a:off x="0" y="0"/>
                <a:ext cx="38100" cy="571500"/>
              </a:xfrm>
              <a:prstGeom prst="rect">
                <a:avLst/>
              </a:prstGeom>
              <a:solidFill>
                <a:srgbClr val="00E5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730" name="Google Shape;730;p23"/>
            <p:cNvSpPr txBox="1"/>
            <p:nvPr/>
          </p:nvSpPr>
          <p:spPr>
            <a:xfrm>
              <a:off x="152400" y="76200"/>
              <a:ext cx="36957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F0F4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Dhairya Patel</a:t>
              </a:r>
              <a:endParaRPr b="0" sz="1300">
                <a:solidFill>
                  <a:srgbClr val="F0F4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BACKEND + DATABASE</a:t>
              </a:r>
              <a:endParaRPr b="0" sz="10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  <p:grpSp>
        <p:nvGrpSpPr>
          <p:cNvPr id="731" name="Google Shape;731;p23"/>
          <p:cNvGrpSpPr/>
          <p:nvPr/>
        </p:nvGrpSpPr>
        <p:grpSpPr>
          <a:xfrm>
            <a:off x="376238" y="2662238"/>
            <a:ext cx="8391600" cy="2009700"/>
            <a:chOff x="-4762" y="-4762"/>
            <a:chExt cx="8391600" cy="2009700"/>
          </a:xfrm>
        </p:grpSpPr>
        <p:pic>
          <p:nvPicPr>
            <p:cNvPr id="732" name="Google Shape;732;p23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-4762" y="-4762"/>
              <a:ext cx="8391600" cy="2009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33" name="Google Shape;733;p23"/>
            <p:cNvSpPr/>
            <p:nvPr/>
          </p:nvSpPr>
          <p:spPr>
            <a:xfrm>
              <a:off x="0" y="0"/>
              <a:ext cx="8382000" cy="28500"/>
            </a:xfrm>
            <a:prstGeom prst="rect">
              <a:avLst/>
            </a:pr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23"/>
            <p:cNvSpPr/>
            <p:nvPr/>
          </p:nvSpPr>
          <p:spPr>
            <a:xfrm>
              <a:off x="0" y="0"/>
              <a:ext cx="152400" cy="1524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5" name="Google Shape;735;p23"/>
            <p:cNvSpPr/>
            <p:nvPr/>
          </p:nvSpPr>
          <p:spPr>
            <a:xfrm>
              <a:off x="8229600" y="0"/>
              <a:ext cx="152400" cy="152400"/>
            </a:xfrm>
            <a:custGeom>
              <a:rect b="b" l="l" r="r" t="t"/>
              <a:pathLst>
                <a:path extrusionOk="0" h="120000" w="120000">
                  <a:moveTo>
                    <a:pt x="120000" y="0"/>
                  </a:moveTo>
                  <a:lnTo>
                    <a:pt x="0" y="0"/>
                  </a:lnTo>
                  <a:lnTo>
                    <a:pt x="120000" y="120000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23"/>
            <p:cNvSpPr txBox="1"/>
            <p:nvPr/>
          </p:nvSpPr>
          <p:spPr>
            <a:xfrm>
              <a:off x="285750" y="17145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FB300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CORE MISSION STATEMENT</a:t>
              </a:r>
              <a:endParaRPr/>
            </a:p>
          </p:txBody>
        </p:sp>
        <p:sp>
          <p:nvSpPr>
            <p:cNvPr id="737" name="Google Shape;737;p23"/>
            <p:cNvSpPr txBox="1"/>
            <p:nvPr/>
          </p:nvSpPr>
          <p:spPr>
            <a:xfrm>
              <a:off x="285750" y="400050"/>
              <a:ext cx="7810500" cy="9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350">
                  <a:solidFill>
                    <a:srgbClr val="F0F4F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"AeroReady does not just predict failure; it determines whether an asset has enough remaining life for the mission, identifies the evidence behind the risk, and helps the operator decide what needs attention first."</a:t>
              </a:r>
              <a:endParaRPr b="0" i="1" sz="1350">
                <a:solidFill>
                  <a:srgbClr val="F0F4F8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738" name="Google Shape;738;p23"/>
            <p:cNvSpPr/>
            <p:nvPr/>
          </p:nvSpPr>
          <p:spPr>
            <a:xfrm>
              <a:off x="285750" y="1381125"/>
              <a:ext cx="7810500" cy="9600"/>
            </a:xfrm>
            <a:prstGeom prst="rect">
              <a:avLst/>
            </a:prstGeom>
            <a:solidFill>
              <a:srgbClr val="223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9" name="Google Shape;739;p23"/>
            <p:cNvSpPr txBox="1"/>
            <p:nvPr/>
          </p:nvSpPr>
          <p:spPr>
            <a:xfrm>
              <a:off x="285750" y="1485900"/>
              <a:ext cx="78105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00E5FF"/>
                  </a:solidFill>
                  <a:latin typeface="Rajdhani SemiBold"/>
                  <a:ea typeface="Rajdhani SemiBold"/>
                  <a:cs typeface="Rajdhani SemiBold"/>
                  <a:sym typeface="Rajdhani SemiBold"/>
                </a:rPr>
                <a:t>AeroReady turns raw aerospace sensor evidence into a traceable mission-readiness decision.</a:t>
              </a:r>
              <a:endParaRPr b="0" sz="1300">
                <a:solidFill>
                  <a:srgbClr val="00E5FF"/>
                </a:solidFill>
                <a:latin typeface="Rajdhani SemiBold"/>
                <a:ea typeface="Rajdhani SemiBold"/>
                <a:cs typeface="Rajdhani SemiBold"/>
                <a:sym typeface="Rajdhani SemiBol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